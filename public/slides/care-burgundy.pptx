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3" roundtripDataSignature="AMtx7mgUeWShpAn2PiLH+3rZOxbDMVzGc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22" Type="http://schemas.openxmlformats.org/officeDocument/2006/relationships/slide" Target="slides/slide18.xml"/><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12" Type="http://schemas.openxmlformats.org/officeDocument/2006/relationships/slide" Target="slides/slide8.xml"/><Relationship Id="rId23" Type="http://customschemas.google.com/relationships/presentationmetadata" Target="meta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 name="Google Shape;53;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Welcome.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If you are here, you are either stepping into a Floor Leader role for the first time or you want to lead the sales floor with more purpose and consistency.</a:t>
            </a:r>
            <a:endParaRPr>
              <a:solidFill>
                <a:schemeClr val="dk1"/>
              </a:solidFill>
            </a:endParaRPr>
          </a:p>
          <a:p>
            <a:pPr indent="0" lvl="0" marL="0" rtl="0" algn="l">
              <a:spcBef>
                <a:spcPts val="1200"/>
              </a:spcBef>
              <a:spcAft>
                <a:spcPts val="0"/>
              </a:spcAft>
              <a:buClr>
                <a:schemeClr val="dk1"/>
              </a:buClr>
              <a:buSzPts val="1100"/>
              <a:buFont typeface="Arial"/>
              <a:buNone/>
            </a:pPr>
            <a:r>
              <a:rPr lang="en-US">
                <a:solidFill>
                  <a:schemeClr val="dk1"/>
                </a:solidFill>
              </a:rPr>
              <a:t>This is not a theory course.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It is a practical system that helps you create a Remarkable experience for every Client — every time.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That system is called CARE.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By the end of this course you will know exactly what to do on the floor, why it matters, and how to do it without taking over the sale or leaving your team unsupported.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Let’s begin.</a:t>
            </a:r>
            <a:endParaRPr>
              <a:solidFill>
                <a:schemeClr val="dk1"/>
              </a:solidFill>
            </a:endParaRPr>
          </a:p>
          <a:p>
            <a:pPr indent="0" lvl="0" marL="0" marR="0" rtl="0" algn="l">
              <a:lnSpc>
                <a:spcPct val="100000"/>
              </a:lnSpc>
              <a:spcBef>
                <a:spcPts val="1200"/>
              </a:spcBef>
              <a:spcAft>
                <a:spcPts val="0"/>
              </a:spcAft>
              <a:buSzPts val="1100"/>
              <a:buNone/>
            </a:pPr>
            <a:r>
              <a:t/>
            </a:r>
            <a:endParaRPr sz="1200">
              <a:solidFill>
                <a:schemeClr val="dk1"/>
              </a:solidFill>
              <a:latin typeface="Calibri"/>
              <a:ea typeface="Calibri"/>
              <a:cs typeface="Calibri"/>
              <a:sym typeface="Calibri"/>
            </a:endParaRPr>
          </a:p>
        </p:txBody>
      </p:sp>
      <p:sp>
        <p:nvSpPr>
          <p:cNvPr id="54" name="Google Shape;54;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 name="Google Shape;68;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Start with the real question most stores avoid: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Does every Client currently get a Remarkable experience… or is it still a lottery based on who they drew and how the day was going?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Our mission is clear: provide an amazingly fun, educational, Remarkable experience that improves our Clients’ lives so completely they become our biggest advocates.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CARE is how we make that mission consistent instead of accidental.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CARE is one continuous loop:</a:t>
            </a:r>
            <a:endParaRPr>
              <a:solidFill>
                <a:schemeClr val="dk1"/>
              </a:solidFill>
            </a:endParaRPr>
          </a:p>
          <a:p>
            <a:pPr indent="0" lvl="0" marL="0" marR="0" rtl="0" algn="l">
              <a:lnSpc>
                <a:spcPct val="100000"/>
              </a:lnSpc>
              <a:spcBef>
                <a:spcPts val="1200"/>
              </a:spcBef>
              <a:spcAft>
                <a:spcPts val="0"/>
              </a:spcAft>
              <a:buSzPts val="1100"/>
              <a:buNone/>
            </a:pPr>
            <a:r>
              <a:rPr b="1" lang="en-US">
                <a:solidFill>
                  <a:schemeClr val="dk1"/>
                </a:solidFill>
              </a:rPr>
              <a:t>C – Connect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Make the Client feel chosen and get them seated with confidence.</a:t>
            </a:r>
            <a:endParaRPr>
              <a:solidFill>
                <a:schemeClr val="dk1"/>
              </a:solidFill>
            </a:endParaRPr>
          </a:p>
          <a:p>
            <a:pPr indent="0" lvl="0" marL="0" marR="0" rtl="0" algn="l">
              <a:lnSpc>
                <a:spcPct val="100000"/>
              </a:lnSpc>
              <a:spcBef>
                <a:spcPts val="1200"/>
              </a:spcBef>
              <a:spcAft>
                <a:spcPts val="0"/>
              </a:spcAft>
              <a:buSzPts val="1100"/>
              <a:buNone/>
            </a:pPr>
            <a:r>
              <a:rPr b="1" lang="en-US">
                <a:solidFill>
                  <a:schemeClr val="dk1"/>
                </a:solidFill>
              </a:rPr>
              <a:t>A – Assess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Never stop watching the demos. Protect what is working. Answer what is not.</a:t>
            </a:r>
            <a:endParaRPr>
              <a:solidFill>
                <a:schemeClr val="dk1"/>
              </a:solidFill>
            </a:endParaRPr>
          </a:p>
          <a:p>
            <a:pPr indent="0" lvl="0" marL="0" marR="0" rtl="0" algn="l">
              <a:lnSpc>
                <a:spcPct val="100000"/>
              </a:lnSpc>
              <a:spcBef>
                <a:spcPts val="1200"/>
              </a:spcBef>
              <a:spcAft>
                <a:spcPts val="0"/>
              </a:spcAft>
              <a:buSzPts val="1100"/>
              <a:buNone/>
            </a:pPr>
            <a:r>
              <a:rPr b="1" lang="en-US">
                <a:solidFill>
                  <a:schemeClr val="dk1"/>
                </a:solidFill>
              </a:rPr>
              <a:t>R – Respond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Step in only when it helps, then get out of the way. Never take over.</a:t>
            </a:r>
            <a:endParaRPr>
              <a:solidFill>
                <a:schemeClr val="dk1"/>
              </a:solidFill>
            </a:endParaRPr>
          </a:p>
          <a:p>
            <a:pPr indent="0" lvl="0" marL="0" marR="0" rtl="0" algn="l">
              <a:lnSpc>
                <a:spcPct val="100000"/>
              </a:lnSpc>
              <a:spcBef>
                <a:spcPts val="1200"/>
              </a:spcBef>
              <a:spcAft>
                <a:spcPts val="0"/>
              </a:spcAft>
              <a:buSzPts val="1100"/>
              <a:buNone/>
            </a:pPr>
            <a:r>
              <a:rPr b="1" lang="en-US">
                <a:solidFill>
                  <a:schemeClr val="dk1"/>
                </a:solidFill>
              </a:rPr>
              <a:t>E – Elevate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Turn every observation into coaching — in the moment, in the backroom, and in the weekly 1:1.</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These four moves work together. You do not pick one and ignore the others. You run the full loop with every Client.</a:t>
            </a:r>
            <a:endParaRPr>
              <a:solidFill>
                <a:schemeClr val="dk1"/>
              </a:solidFill>
            </a:endParaRPr>
          </a:p>
          <a:p>
            <a:pPr indent="0" lvl="0" marL="0" marR="0" rtl="0" algn="l">
              <a:lnSpc>
                <a:spcPct val="100000"/>
              </a:lnSpc>
              <a:spcBef>
                <a:spcPts val="1200"/>
              </a:spcBef>
              <a:spcAft>
                <a:spcPts val="0"/>
              </a:spcAft>
              <a:buSzPts val="1100"/>
              <a:buNone/>
            </a:pPr>
            <a:r>
              <a:t/>
            </a:r>
            <a:endParaRPr/>
          </a:p>
        </p:txBody>
      </p:sp>
      <p:sp>
        <p:nvSpPr>
          <p:cNvPr id="69" name="Google Shape;69;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 name="Google Shape;100;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rPr lang="en-US"/>
              <a:t>The first non-negotiable truth of this entire system:</a:t>
            </a:r>
            <a:endParaRPr/>
          </a:p>
          <a:p>
            <a:pPr indent="0" lvl="0" marL="0" rtl="0" algn="l">
              <a:lnSpc>
                <a:spcPct val="115000"/>
              </a:lnSpc>
              <a:spcBef>
                <a:spcPts val="1200"/>
              </a:spcBef>
              <a:spcAft>
                <a:spcPts val="0"/>
              </a:spcAft>
              <a:buSzPts val="1100"/>
              <a:buNone/>
            </a:pPr>
            <a:r>
              <a:rPr lang="en-US"/>
              <a:t>The floor is never unowned.</a:t>
            </a:r>
            <a:endParaRPr/>
          </a:p>
          <a:p>
            <a:pPr indent="0" lvl="0" marL="0" rtl="0" algn="l">
              <a:lnSpc>
                <a:spcPct val="115000"/>
              </a:lnSpc>
              <a:spcBef>
                <a:spcPts val="1200"/>
              </a:spcBef>
              <a:spcAft>
                <a:spcPts val="0"/>
              </a:spcAft>
              <a:buSzPts val="1100"/>
              <a:buNone/>
            </a:pPr>
            <a:r>
              <a:rPr lang="en-US"/>
              <a:t>At all times there must be one clear Sales Floor Leader. Ideally the Store Manager. When they are unavailable, an experienced Assistant Manager or senior Specialist steps in.</a:t>
            </a:r>
            <a:endParaRPr/>
          </a:p>
          <a:p>
            <a:pPr indent="0" lvl="0" marL="0" rtl="0" algn="l">
              <a:lnSpc>
                <a:spcPct val="115000"/>
              </a:lnSpc>
              <a:spcBef>
                <a:spcPts val="1200"/>
              </a:spcBef>
              <a:spcAft>
                <a:spcPts val="0"/>
              </a:spcAft>
              <a:buSzPts val="1100"/>
              <a:buNone/>
            </a:pPr>
            <a:r>
              <a:rPr lang="en-US"/>
              <a:t>Here is how you make ownership real and visible:</a:t>
            </a:r>
            <a:endParaRPr/>
          </a:p>
          <a:p>
            <a:pPr indent="-298450" lvl="0" marL="457200" rtl="0" algn="l">
              <a:lnSpc>
                <a:spcPct val="115000"/>
              </a:lnSpc>
              <a:spcBef>
                <a:spcPts val="1200"/>
              </a:spcBef>
              <a:spcAft>
                <a:spcPts val="0"/>
              </a:spcAft>
              <a:buClr>
                <a:schemeClr val="dk1"/>
              </a:buClr>
              <a:buSzPts val="1100"/>
              <a:buAutoNum type="arabicPeriod"/>
            </a:pPr>
            <a:r>
              <a:rPr lang="en-US"/>
              <a:t>Assign out loud in the daily opening huddle so the whole team hears the name.</a:t>
            </a:r>
            <a:endParaRPr/>
          </a:p>
          <a:p>
            <a:pPr indent="-298450" lvl="0" marL="457200" rtl="0" algn="l">
              <a:lnSpc>
                <a:spcPct val="115000"/>
              </a:lnSpc>
              <a:spcBef>
                <a:spcPts val="0"/>
              </a:spcBef>
              <a:spcAft>
                <a:spcPts val="0"/>
              </a:spcAft>
              <a:buClr>
                <a:schemeClr val="dk1"/>
              </a:buClr>
              <a:buSzPts val="1100"/>
              <a:buAutoNum type="arabicPeriod"/>
            </a:pPr>
            <a:r>
              <a:rPr lang="en-US"/>
              <a:t>Write the name on the whiteboard or posting so everyone can see who owns the floor.</a:t>
            </a:r>
            <a:endParaRPr/>
          </a:p>
          <a:p>
            <a:pPr indent="-298450" lvl="0" marL="457200" rtl="0" algn="l">
              <a:lnSpc>
                <a:spcPct val="115000"/>
              </a:lnSpc>
              <a:spcBef>
                <a:spcPts val="0"/>
              </a:spcBef>
              <a:spcAft>
                <a:spcPts val="0"/>
              </a:spcAft>
              <a:buClr>
                <a:schemeClr val="dk1"/>
              </a:buClr>
              <a:buSzPts val="1100"/>
              <a:buAutoNum type="arabicPeriod"/>
            </a:pPr>
            <a:r>
              <a:rPr lang="en-US"/>
              <a:t>Hand off cleanly. If the leader leaves the floor — even for a few minutes — transfer the role out loud so it never goes dark.</a:t>
            </a:r>
            <a:endParaRPr/>
          </a:p>
          <a:p>
            <a:pPr indent="0" lvl="0" marL="0" rtl="0" algn="l">
              <a:lnSpc>
                <a:spcPct val="115000"/>
              </a:lnSpc>
              <a:spcBef>
                <a:spcPts val="1200"/>
              </a:spcBef>
              <a:spcAft>
                <a:spcPts val="0"/>
              </a:spcAft>
              <a:buSzPts val="1100"/>
              <a:buNone/>
            </a:pPr>
            <a:r>
              <a:rPr lang="en-US"/>
              <a:t>A clean hand-off sounds like this:</a:t>
            </a:r>
            <a:endParaRPr/>
          </a:p>
          <a:p>
            <a:pPr indent="0" lvl="0" marL="0" rtl="0" algn="l">
              <a:lnSpc>
                <a:spcPct val="115000"/>
              </a:lnSpc>
              <a:spcBef>
                <a:spcPts val="1200"/>
              </a:spcBef>
              <a:spcAft>
                <a:spcPts val="0"/>
              </a:spcAft>
              <a:buSzPts val="1100"/>
              <a:buNone/>
            </a:pPr>
            <a:r>
              <a:rPr lang="en-US"/>
              <a:t>“I’m stepping off the floor. John has the floor.”</a:t>
            </a:r>
            <a:endParaRPr/>
          </a:p>
          <a:p>
            <a:pPr indent="0" lvl="0" marL="0" rtl="0" algn="l">
              <a:lnSpc>
                <a:spcPct val="115000"/>
              </a:lnSpc>
              <a:spcBef>
                <a:spcPts val="1200"/>
              </a:spcBef>
              <a:spcAft>
                <a:spcPts val="0"/>
              </a:spcAft>
              <a:buSzPts val="1100"/>
              <a:buNone/>
            </a:pPr>
            <a:r>
              <a:rPr lang="en-US"/>
              <a:t>When no one knows who owns the floor, the floor is effectively unowned. Clients feel the difference. Specialists feel the difference. Results show the difference.</a:t>
            </a:r>
            <a:endParaRPr/>
          </a:p>
          <a:p>
            <a:pPr indent="0" lvl="0" marL="0" rtl="0" algn="l">
              <a:lnSpc>
                <a:spcPct val="115000"/>
              </a:lnSpc>
              <a:spcBef>
                <a:spcPts val="1200"/>
              </a:spcBef>
              <a:spcAft>
                <a:spcPts val="0"/>
              </a:spcAft>
              <a:buSzPts val="1100"/>
              <a:buNone/>
            </a:pPr>
            <a:r>
              <a:rPr lang="en-US"/>
              <a:t>Your first job is to make ownership continuous and obvious.</a:t>
            </a:r>
            <a:endParaRPr/>
          </a:p>
          <a:p>
            <a:pPr indent="0" lvl="0" marL="0" rtl="0" algn="l">
              <a:lnSpc>
                <a:spcPct val="115000"/>
              </a:lnSpc>
              <a:spcBef>
                <a:spcPts val="1200"/>
              </a:spcBef>
              <a:spcAft>
                <a:spcPts val="0"/>
              </a:spcAft>
              <a:buClr>
                <a:schemeClr val="dk1"/>
              </a:buClr>
              <a:buSzPts val="1100"/>
              <a:buFont typeface="Arial"/>
              <a:buNone/>
            </a:pPr>
            <a:r>
              <a:t/>
            </a:r>
            <a:endParaRPr/>
          </a:p>
          <a:p>
            <a:pPr indent="0" lvl="0" marL="0" marR="0" rtl="0" algn="l">
              <a:lnSpc>
                <a:spcPct val="100000"/>
              </a:lnSpc>
              <a:spcBef>
                <a:spcPts val="1200"/>
              </a:spcBef>
              <a:spcAft>
                <a:spcPts val="0"/>
              </a:spcAft>
              <a:buSzPts val="1100"/>
              <a:buNone/>
            </a:pPr>
            <a:r>
              <a:t/>
            </a:r>
            <a:endParaRPr/>
          </a:p>
        </p:txBody>
      </p:sp>
      <p:sp>
        <p:nvSpPr>
          <p:cNvPr id="101" name="Google Shape;101;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9" name="Google Shape;129;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When you are the Floor Leader, you wear four hats at the same time.</a:t>
            </a:r>
            <a:endParaRPr>
              <a:solidFill>
                <a:schemeClr val="dk1"/>
              </a:solidFill>
            </a:endParaRPr>
          </a:p>
          <a:p>
            <a:pPr indent="0" lvl="0" marL="0" marR="0" rtl="0" algn="l">
              <a:lnSpc>
                <a:spcPct val="100000"/>
              </a:lnSpc>
              <a:spcBef>
                <a:spcPts val="1200"/>
              </a:spcBef>
              <a:spcAft>
                <a:spcPts val="0"/>
              </a:spcAft>
              <a:buSzPts val="1100"/>
              <a:buNone/>
            </a:pPr>
            <a:r>
              <a:rPr b="1" lang="en-US">
                <a:solidFill>
                  <a:schemeClr val="dk1"/>
                </a:solidFill>
              </a:rPr>
              <a:t>Visible Presence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You are out on the floor. You cannot lead from the backroom or the office. Clients and Specialists both take their cue from the person who is actually present.</a:t>
            </a:r>
            <a:endParaRPr>
              <a:solidFill>
                <a:schemeClr val="dk1"/>
              </a:solidFill>
            </a:endParaRPr>
          </a:p>
          <a:p>
            <a:pPr indent="0" lvl="0" marL="0" marR="0" rtl="0" algn="l">
              <a:lnSpc>
                <a:spcPct val="100000"/>
              </a:lnSpc>
              <a:spcBef>
                <a:spcPts val="1200"/>
              </a:spcBef>
              <a:spcAft>
                <a:spcPts val="0"/>
              </a:spcAft>
              <a:buSzPts val="1100"/>
              <a:buNone/>
            </a:pPr>
            <a:r>
              <a:rPr b="1" lang="en-US">
                <a:solidFill>
                  <a:schemeClr val="dk1"/>
                </a:solidFill>
              </a:rPr>
              <a:t>Connector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You act like the mayor of the store. You build bridges between Clients, Specialists, and solutions. You make people feel chosen and supported.</a:t>
            </a:r>
            <a:endParaRPr>
              <a:solidFill>
                <a:schemeClr val="dk1"/>
              </a:solidFill>
            </a:endParaRPr>
          </a:p>
          <a:p>
            <a:pPr indent="0" lvl="0" marL="0" marR="0" rtl="0" algn="l">
              <a:lnSpc>
                <a:spcPct val="100000"/>
              </a:lnSpc>
              <a:spcBef>
                <a:spcPts val="1200"/>
              </a:spcBef>
              <a:spcAft>
                <a:spcPts val="0"/>
              </a:spcAft>
              <a:buSzPts val="1100"/>
              <a:buNone/>
            </a:pPr>
            <a:r>
              <a:rPr b="1" lang="en-US">
                <a:solidFill>
                  <a:schemeClr val="dk1"/>
                </a:solidFill>
              </a:rPr>
              <a:t>Tone Setter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Your energy becomes the climate of the store. A calm, confident leader creates safety and momentum. A distracted or tense leader creates the opposite.</a:t>
            </a:r>
            <a:endParaRPr>
              <a:solidFill>
                <a:schemeClr val="dk1"/>
              </a:solidFill>
            </a:endParaRPr>
          </a:p>
          <a:p>
            <a:pPr indent="0" lvl="0" marL="0" marR="0" rtl="0" algn="l">
              <a:lnSpc>
                <a:spcPct val="100000"/>
              </a:lnSpc>
              <a:spcBef>
                <a:spcPts val="1200"/>
              </a:spcBef>
              <a:spcAft>
                <a:spcPts val="0"/>
              </a:spcAft>
              <a:buSzPts val="1100"/>
              <a:buNone/>
            </a:pPr>
            <a:r>
              <a:rPr b="1" lang="en-US">
                <a:solidFill>
                  <a:schemeClr val="dk1"/>
                </a:solidFill>
              </a:rPr>
              <a:t>Problem Solver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When something starts to go sideways, you step in diplomatically. You protect the process and the people without making the Specialist look weak.</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These four roles happen simultaneously. You carry all four while you own the floor.</a:t>
            </a:r>
            <a:endParaRPr>
              <a:solidFill>
                <a:schemeClr val="dk1"/>
              </a:solidFill>
            </a:endParaRPr>
          </a:p>
          <a:p>
            <a:pPr indent="0" lvl="0" marL="0" marR="0" rtl="0" algn="l">
              <a:lnSpc>
                <a:spcPct val="100000"/>
              </a:lnSpc>
              <a:spcBef>
                <a:spcPts val="1200"/>
              </a:spcBef>
              <a:spcAft>
                <a:spcPts val="0"/>
              </a:spcAft>
              <a:buSzPts val="1100"/>
              <a:buNone/>
            </a:pPr>
            <a:r>
              <a:t/>
            </a:r>
            <a:endParaRPr sz="1200">
              <a:solidFill>
                <a:schemeClr val="dk1"/>
              </a:solidFill>
              <a:latin typeface="Calibri"/>
              <a:ea typeface="Calibri"/>
              <a:cs typeface="Calibri"/>
              <a:sym typeface="Calibri"/>
            </a:endParaRPr>
          </a:p>
        </p:txBody>
      </p:sp>
      <p:sp>
        <p:nvSpPr>
          <p:cNvPr id="130" name="Google Shape;130;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1" name="Google Shape;161;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Why does this matter beyond “it’s the right thing to do”?</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Because active floor leadership produces four clear results:</a:t>
            </a:r>
            <a:endParaRPr sz="1200">
              <a:solidFill>
                <a:schemeClr val="dk1"/>
              </a:solidFill>
              <a:latin typeface="Calibri"/>
              <a:ea typeface="Calibri"/>
              <a:cs typeface="Calibri"/>
              <a:sym typeface="Calibri"/>
            </a:endParaRPr>
          </a:p>
          <a:p>
            <a:pPr indent="-298450" lvl="0" marL="457200" rtl="0" algn="l">
              <a:lnSpc>
                <a:spcPct val="115000"/>
              </a:lnSpc>
              <a:spcBef>
                <a:spcPts val="1200"/>
              </a:spcBef>
              <a:spcAft>
                <a:spcPts val="0"/>
              </a:spcAft>
              <a:buClr>
                <a:schemeClr val="dk1"/>
              </a:buClr>
              <a:buSzPts val="1100"/>
              <a:buAutoNum type="arabicPeriod"/>
            </a:pPr>
            <a:r>
              <a:rPr lang="en-US" sz="1200">
                <a:solidFill>
                  <a:schemeClr val="dk1"/>
                </a:solidFill>
                <a:latin typeface="Calibri"/>
                <a:ea typeface="Calibri"/>
                <a:cs typeface="Calibri"/>
                <a:sym typeface="Calibri"/>
              </a:rPr>
              <a:t>Stronger Client Service Every Client gets a consistent, Remarkable experience instead of a lottery based on who they drew.</a:t>
            </a:r>
            <a:endParaRPr sz="12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AutoNum type="arabicPeriod"/>
            </a:pPr>
            <a:r>
              <a:rPr lang="en-US" sz="1200">
                <a:solidFill>
                  <a:schemeClr val="dk1"/>
                </a:solidFill>
                <a:latin typeface="Calibri"/>
                <a:ea typeface="Calibri"/>
                <a:cs typeface="Calibri"/>
                <a:sym typeface="Calibri"/>
              </a:rPr>
              <a:t>Effective Coaching You observe demos in real time, so feedback is fresh and specific instead of vague and delayed.</a:t>
            </a:r>
            <a:endParaRPr sz="12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AutoNum type="arabicPeriod"/>
            </a:pPr>
            <a:r>
              <a:rPr lang="en-US" sz="1200">
                <a:solidFill>
                  <a:schemeClr val="dk1"/>
                </a:solidFill>
                <a:latin typeface="Calibri"/>
                <a:ea typeface="Calibri"/>
                <a:cs typeface="Calibri"/>
                <a:sym typeface="Calibri"/>
              </a:rPr>
              <a:t>Targeted Development Patterns only become visible when you watch multiple demos. Those patterns become the real coaching themes.</a:t>
            </a:r>
            <a:endParaRPr sz="12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AutoNum type="arabicPeriod"/>
            </a:pPr>
            <a:r>
              <a:rPr lang="en-US" sz="1200">
                <a:solidFill>
                  <a:schemeClr val="dk1"/>
                </a:solidFill>
                <a:latin typeface="Calibri"/>
                <a:ea typeface="Calibri"/>
                <a:cs typeface="Calibri"/>
                <a:sym typeface="Calibri"/>
              </a:rPr>
              <a:t>Team Support Specialists who feel guided and protected sell with more confidence. Confidence compounds into results.</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This is the business case. Consistency, coaching, development, and support are not soft ideas. They are the difference between a good store and a great one.</a:t>
            </a:r>
            <a:endParaRPr sz="1200">
              <a:solidFill>
                <a:schemeClr val="dk1"/>
              </a:solidFill>
              <a:latin typeface="Calibri"/>
              <a:ea typeface="Calibri"/>
              <a:cs typeface="Calibri"/>
              <a:sym typeface="Calibri"/>
            </a:endParaRPr>
          </a:p>
          <a:p>
            <a:pPr indent="0" lvl="0" marL="0" marR="0" rtl="0" algn="l">
              <a:lnSpc>
                <a:spcPct val="100000"/>
              </a:lnSpc>
              <a:spcBef>
                <a:spcPts val="1200"/>
              </a:spcBef>
              <a:spcAft>
                <a:spcPts val="0"/>
              </a:spcAft>
              <a:buSzPts val="1100"/>
              <a:buNone/>
            </a:pPr>
            <a:r>
              <a:t/>
            </a:r>
            <a:endParaRPr sz="1200">
              <a:solidFill>
                <a:schemeClr val="dk1"/>
              </a:solidFill>
              <a:latin typeface="Calibri"/>
              <a:ea typeface="Calibri"/>
              <a:cs typeface="Calibri"/>
              <a:sym typeface="Calibri"/>
            </a:endParaRPr>
          </a:p>
        </p:txBody>
      </p:sp>
      <p:sp>
        <p:nvSpPr>
          <p:cNvPr id="162" name="Google Shape;162;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2" name="Google Shape;192;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Connect is where the Remarkable experience begins.</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The Client takes their emotional cue from the first people who interact with them. Your job is to make them feel chosen and cared for from the first moment — and then carry that feeling all the way to their Specialist.</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Here is what strong Connect looks like:</a:t>
            </a:r>
            <a:endParaRPr sz="1200">
              <a:solidFill>
                <a:schemeClr val="dk1"/>
              </a:solidFill>
              <a:latin typeface="Calibri"/>
              <a:ea typeface="Calibri"/>
              <a:cs typeface="Calibri"/>
              <a:sym typeface="Calibri"/>
            </a:endParaRPr>
          </a:p>
          <a:p>
            <a:pPr indent="-298450" lvl="0" marL="457200" rtl="0" algn="l">
              <a:lnSpc>
                <a:spcPct val="115000"/>
              </a:lnSpc>
              <a:spcBef>
                <a:spcPts val="1200"/>
              </a:spcBef>
              <a:spcAft>
                <a:spcPts val="0"/>
              </a:spcAft>
              <a:buClr>
                <a:schemeClr val="dk1"/>
              </a:buClr>
              <a:buSzPts val="1100"/>
              <a:buChar char="●"/>
            </a:pPr>
            <a:r>
              <a:rPr lang="en-US" sz="1200">
                <a:solidFill>
                  <a:schemeClr val="dk1"/>
                </a:solidFill>
                <a:latin typeface="Calibri"/>
                <a:ea typeface="Calibri"/>
                <a:cs typeface="Calibri"/>
                <a:sym typeface="Calibri"/>
              </a:rPr>
              <a:t>Greet every Client at least twice. The second greeting from the Floor Leader is especially powerful. It tells them the entire store is glad they came.</a:t>
            </a:r>
            <a:endParaRPr sz="12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lang="en-US" sz="1200">
                <a:solidFill>
                  <a:schemeClr val="dk1"/>
                </a:solidFill>
                <a:latin typeface="Calibri"/>
                <a:ea typeface="Calibri"/>
                <a:cs typeface="Calibri"/>
                <a:sym typeface="Calibri"/>
              </a:rPr>
              <a:t>In the in-between moments, stay warm. Smile. Offer water. Validate their excitement.</a:t>
            </a:r>
            <a:endParaRPr sz="12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lang="en-US" sz="1200">
                <a:solidFill>
                  <a:schemeClr val="dk1"/>
                </a:solidFill>
                <a:latin typeface="Calibri"/>
                <a:ea typeface="Calibri"/>
                <a:cs typeface="Calibri"/>
                <a:sym typeface="Calibri"/>
              </a:rPr>
              <a:t>Confirm the next Specialist is prepared and available before you hand off.</a:t>
            </a:r>
            <a:endParaRPr sz="12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lang="en-US" sz="1200">
                <a:solidFill>
                  <a:schemeClr val="dk1"/>
                </a:solidFill>
                <a:latin typeface="Calibri"/>
                <a:ea typeface="Calibri"/>
                <a:cs typeface="Calibri"/>
                <a:sym typeface="Calibri"/>
              </a:rPr>
              <a:t>Sit Clients down quickly with a clear, confident introduction.</a:t>
            </a:r>
            <a:endParaRPr sz="12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lang="en-US" sz="1200">
                <a:solidFill>
                  <a:schemeClr val="dk1"/>
                </a:solidFill>
                <a:latin typeface="Calibri"/>
                <a:ea typeface="Calibri"/>
                <a:cs typeface="Calibri"/>
                <a:sym typeface="Calibri"/>
              </a:rPr>
              <a:t>Watch your body language: upright, open, lean in, smile.</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Use language that transfers trust. A strong hand-off sounds like this:</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“Hey, my name is Jane, I’m the manager here. John is an excellent Specialist and they are going to take great care of you. Thank you for coming in.”</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Make it warm and specific. Name the Specialist as someone worth trusting.</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Weak hand-offs sound transactional. Strong hand-offs transfer confidence. The difference is felt immediately by both the Client and the Specialist.</a:t>
            </a:r>
            <a:endParaRPr sz="1200">
              <a:solidFill>
                <a:schemeClr val="dk1"/>
              </a:solidFill>
              <a:latin typeface="Calibri"/>
              <a:ea typeface="Calibri"/>
              <a:cs typeface="Calibri"/>
              <a:sym typeface="Calibri"/>
            </a:endParaRPr>
          </a:p>
          <a:p>
            <a:pPr indent="0" lvl="0" marL="0" marR="0" rtl="0" algn="l">
              <a:lnSpc>
                <a:spcPct val="100000"/>
              </a:lnSpc>
              <a:spcBef>
                <a:spcPts val="1200"/>
              </a:spcBef>
              <a:spcAft>
                <a:spcPts val="0"/>
              </a:spcAft>
              <a:buSzPts val="1100"/>
              <a:buNone/>
            </a:pPr>
            <a:r>
              <a:t/>
            </a:r>
            <a:endParaRPr sz="1200">
              <a:solidFill>
                <a:schemeClr val="dk1"/>
              </a:solidFill>
              <a:latin typeface="Calibri"/>
              <a:ea typeface="Calibri"/>
              <a:cs typeface="Calibri"/>
              <a:sym typeface="Calibri"/>
            </a:endParaRPr>
          </a:p>
        </p:txBody>
      </p:sp>
      <p:sp>
        <p:nvSpPr>
          <p:cNvPr id="193" name="Google Shape;193;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9" name="Google Shape;219;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Assess is the core skill of floor leadership.</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Reading the floor is diagnosis. Acting without diagnosis is guessing — and guessing is expensive.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Your job is to watch every demo without stopping. You are looking for two things only: green flags and red flags.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Green flags</a:t>
            </a:r>
            <a:r>
              <a:rPr lang="en-US">
                <a:solidFill>
                  <a:schemeClr val="dk1"/>
                </a:solidFill>
              </a:rPr>
              <a:t> — protect them. Let the demo breathe.</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a:solidFill>
                  <a:schemeClr val="dk1"/>
                </a:solidFill>
              </a:rPr>
              <a:t>Smiles, surprise, or clear enthusiasm</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Leaning forward, walking confidently, trying multiple steps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Referencing the reason they came in (pain, comfort, performance)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Balance technique landing as an “aha” moment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Walking the supports 5+ laps and re-testing the Strengthener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Silence is respected on test walks and at the register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The Client puts the supports into their own shoes (ownership beginning)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Red flags</a:t>
            </a:r>
            <a:r>
              <a:rPr lang="en-US">
                <a:solidFill>
                  <a:schemeClr val="dk1"/>
                </a:solidFill>
              </a:rPr>
              <a:t> — these are the only times you step in.</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a:solidFill>
                  <a:schemeClr val="dk1"/>
                </a:solidFill>
              </a:rPr>
              <a:t>Too much talking during test walks or at the register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Neutral language: “fine,” “maybe,” “hard to tell if it helps”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Putting shoes back on early or avoiding the supports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Repeatedly sitting before completing full test walks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One-word answers, awkward giggles, or clear disengagement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Specialist oversharing personal history instead of focusing on the Client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Distraction — phone use, no eye contact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Clients usually tell you the truth with their body language and word choice long before they say it directly. When you learn to read these signals accurately, you stop guessing and start leading.</a:t>
            </a:r>
            <a:endParaRPr>
              <a:solidFill>
                <a:schemeClr val="dk1"/>
              </a:solidFill>
            </a:endParaRPr>
          </a:p>
          <a:p>
            <a:pPr indent="0" lvl="0" marL="0" marR="0" rtl="0" algn="l">
              <a:lnSpc>
                <a:spcPct val="100000"/>
              </a:lnSpc>
              <a:spcBef>
                <a:spcPts val="1200"/>
              </a:spcBef>
              <a:spcAft>
                <a:spcPts val="0"/>
              </a:spcAft>
              <a:buSzPts val="1100"/>
              <a:buNone/>
            </a:pPr>
            <a:r>
              <a:t/>
            </a:r>
            <a:endParaRPr sz="1200">
              <a:solidFill>
                <a:schemeClr val="dk1"/>
              </a:solidFill>
              <a:latin typeface="Calibri"/>
              <a:ea typeface="Calibri"/>
              <a:cs typeface="Calibri"/>
              <a:sym typeface="Calibri"/>
            </a:endParaRPr>
          </a:p>
        </p:txBody>
      </p:sp>
      <p:sp>
        <p:nvSpPr>
          <p:cNvPr id="220" name="Google Shape;220;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1" name="Google Shape;251;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Respond is the moment you choose to act.</a:t>
            </a:r>
            <a:endParaRPr sz="1200">
              <a:solidFill>
                <a:schemeClr val="dk1"/>
              </a:solidFill>
              <a:latin typeface="Calibri"/>
              <a:ea typeface="Calibri"/>
              <a:cs typeface="Calibri"/>
              <a:sym typeface="Calibri"/>
            </a:endParaRPr>
          </a:p>
          <a:p>
            <a:pPr indent="0" lvl="0" marL="0" marR="0" rtl="0" algn="l">
              <a:lnSpc>
                <a:spcPct val="100000"/>
              </a:lnSpc>
              <a:spcBef>
                <a:spcPts val="1200"/>
              </a:spcBef>
              <a:spcAft>
                <a:spcPts val="0"/>
              </a:spcAft>
              <a:buSzPts val="1100"/>
              <a:buNone/>
            </a:pPr>
            <a:r>
              <a:rPr lang="en-US" sz="1200">
                <a:solidFill>
                  <a:schemeClr val="dk1"/>
                </a:solidFill>
                <a:latin typeface="Calibri"/>
                <a:ea typeface="Calibri"/>
                <a:cs typeface="Calibri"/>
                <a:sym typeface="Calibri"/>
              </a:rPr>
              <a:t>The golden rule is simple and non-negotiable:</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You elevate the demo. You never take it over.</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Think of yourself as an assistant coach on the sideline. You only enter the field for three clear reasons:</a:t>
            </a:r>
            <a:endParaRPr sz="1200">
              <a:solidFill>
                <a:schemeClr val="dk1"/>
              </a:solidFill>
              <a:latin typeface="Calibri"/>
              <a:ea typeface="Calibri"/>
              <a:cs typeface="Calibri"/>
              <a:sym typeface="Calibri"/>
            </a:endParaRPr>
          </a:p>
          <a:p>
            <a:pPr indent="-298450" lvl="0" marL="457200" rtl="0" algn="l">
              <a:lnSpc>
                <a:spcPct val="115000"/>
              </a:lnSpc>
              <a:spcBef>
                <a:spcPts val="1200"/>
              </a:spcBef>
              <a:spcAft>
                <a:spcPts val="0"/>
              </a:spcAft>
              <a:buClr>
                <a:schemeClr val="dk1"/>
              </a:buClr>
              <a:buSzPts val="1100"/>
              <a:buAutoNum type="arabicPeriod"/>
            </a:pPr>
            <a:r>
              <a:rPr lang="en-US" sz="1200">
                <a:solidFill>
                  <a:schemeClr val="dk1"/>
                </a:solidFill>
                <a:latin typeface="Calibri"/>
                <a:ea typeface="Calibri"/>
                <a:cs typeface="Calibri"/>
                <a:sym typeface="Calibri"/>
              </a:rPr>
              <a:t>A red flag appears — the Client is disengaging, the Specialist is struggling, or the demo is off track.</a:t>
            </a:r>
            <a:endParaRPr sz="12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AutoNum type="arabicPeriod"/>
            </a:pPr>
            <a:r>
              <a:rPr lang="en-US" sz="1200">
                <a:solidFill>
                  <a:schemeClr val="dk1"/>
                </a:solidFill>
                <a:latin typeface="Calibri"/>
                <a:ea typeface="Calibri"/>
                <a:cs typeface="Calibri"/>
                <a:sym typeface="Calibri"/>
              </a:rPr>
              <a:t>A WOW is building — a balance-technique moment, visible excitement, or strong body language worth amplifying.</a:t>
            </a:r>
            <a:endParaRPr sz="12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AutoNum type="arabicPeriod"/>
            </a:pPr>
            <a:r>
              <a:rPr lang="en-US" sz="1200">
                <a:solidFill>
                  <a:schemeClr val="dk1"/>
                </a:solidFill>
                <a:latin typeface="Calibri"/>
                <a:ea typeface="Calibri"/>
                <a:cs typeface="Calibri"/>
                <a:sym typeface="Calibri"/>
              </a:rPr>
              <a:t>The Client is closing — connect why they came in to how the supports just helped, right at the register.</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If none of those three is present, stay out. Unnecessary interruptions quietly teach the Client that the Specialist was not enough, and they teach the Specialist that you will always finish for them.</a:t>
            </a:r>
            <a:endParaRPr sz="1200">
              <a:solidFill>
                <a:schemeClr val="dk1"/>
              </a:solidFill>
              <a:latin typeface="Calibri"/>
              <a:ea typeface="Calibri"/>
              <a:cs typeface="Calibri"/>
              <a:sym typeface="Calibri"/>
            </a:endParaRPr>
          </a:p>
          <a:p>
            <a:pPr indent="0" lvl="0" marL="0" marR="0" rtl="0" algn="l">
              <a:lnSpc>
                <a:spcPct val="100000"/>
              </a:lnSpc>
              <a:spcBef>
                <a:spcPts val="1200"/>
              </a:spcBef>
              <a:spcAft>
                <a:spcPts val="0"/>
              </a:spcAft>
              <a:buSzPts val="1100"/>
              <a:buNone/>
            </a:pPr>
            <a:r>
              <a:t/>
            </a:r>
            <a:endParaRPr sz="1200">
              <a:solidFill>
                <a:schemeClr val="dk1"/>
              </a:solidFill>
              <a:latin typeface="Calibri"/>
              <a:ea typeface="Calibri"/>
              <a:cs typeface="Calibri"/>
              <a:sym typeface="Calibri"/>
            </a:endParaRPr>
          </a:p>
        </p:txBody>
      </p:sp>
      <p:sp>
        <p:nvSpPr>
          <p:cNvPr id="252" name="Google Shape;252;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2" name="Google Shape;282;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rPr lang="en-US">
                <a:solidFill>
                  <a:schemeClr val="dk1"/>
                </a:solidFill>
              </a:rPr>
              <a:t>Respond is the moment you choose to act.</a:t>
            </a:r>
            <a:endParaRPr>
              <a:solidFill>
                <a:schemeClr val="dk1"/>
              </a:solidFill>
            </a:endParaRPr>
          </a:p>
          <a:p>
            <a:pPr indent="0" lvl="0" marL="0" rtl="0" algn="l">
              <a:lnSpc>
                <a:spcPct val="115000"/>
              </a:lnSpc>
              <a:spcBef>
                <a:spcPts val="1200"/>
              </a:spcBef>
              <a:spcAft>
                <a:spcPts val="0"/>
              </a:spcAft>
              <a:buSzPts val="1100"/>
              <a:buNone/>
            </a:pPr>
            <a:r>
              <a:rPr lang="en-US">
                <a:solidFill>
                  <a:schemeClr val="dk1"/>
                </a:solidFill>
              </a:rPr>
              <a:t>The golden rule is simple and non-negotiable:</a:t>
            </a:r>
            <a:endParaRPr>
              <a:solidFill>
                <a:schemeClr val="dk1"/>
              </a:solidFill>
            </a:endParaRPr>
          </a:p>
          <a:p>
            <a:pPr indent="0" lvl="0" marL="0" rtl="0" algn="l">
              <a:lnSpc>
                <a:spcPct val="115000"/>
              </a:lnSpc>
              <a:spcBef>
                <a:spcPts val="1200"/>
              </a:spcBef>
              <a:spcAft>
                <a:spcPts val="0"/>
              </a:spcAft>
              <a:buSzPts val="1100"/>
              <a:buNone/>
            </a:pPr>
            <a:r>
              <a:rPr lang="en-US">
                <a:solidFill>
                  <a:schemeClr val="dk1"/>
                </a:solidFill>
              </a:rPr>
              <a:t>You elevate the demo. You never take it over.</a:t>
            </a:r>
            <a:endParaRPr>
              <a:solidFill>
                <a:schemeClr val="dk1"/>
              </a:solidFill>
            </a:endParaRPr>
          </a:p>
          <a:p>
            <a:pPr indent="0" lvl="0" marL="0" rtl="0" algn="l">
              <a:lnSpc>
                <a:spcPct val="115000"/>
              </a:lnSpc>
              <a:spcBef>
                <a:spcPts val="1200"/>
              </a:spcBef>
              <a:spcAft>
                <a:spcPts val="0"/>
              </a:spcAft>
              <a:buSzPts val="1100"/>
              <a:buNone/>
            </a:pPr>
            <a:r>
              <a:rPr lang="en-US">
                <a:solidFill>
                  <a:schemeClr val="dk1"/>
                </a:solidFill>
              </a:rPr>
              <a:t>Think of yourself as an assistant coach on the sideline. You only enter the field for three clear reasons:</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lang="en-US">
                <a:solidFill>
                  <a:schemeClr val="dk1"/>
                </a:solidFill>
              </a:rPr>
              <a:t>A red flag appears — the Client is disengaging, the Specialist is struggling, or the demo is off track.</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US">
                <a:solidFill>
                  <a:schemeClr val="dk1"/>
                </a:solidFill>
              </a:rPr>
              <a:t>A WOW is building — a balance-technique moment, visible excitement, or strong body language worth amplifying.</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US">
                <a:solidFill>
                  <a:schemeClr val="dk1"/>
                </a:solidFill>
              </a:rPr>
              <a:t>The Client is closing — connect why they came in to how the supports just helped, right at the register.</a:t>
            </a:r>
            <a:endParaRPr>
              <a:solidFill>
                <a:schemeClr val="dk1"/>
              </a:solidFill>
            </a:endParaRPr>
          </a:p>
          <a:p>
            <a:pPr indent="0" lvl="0" marL="0" rtl="0" algn="l">
              <a:lnSpc>
                <a:spcPct val="115000"/>
              </a:lnSpc>
              <a:spcBef>
                <a:spcPts val="1200"/>
              </a:spcBef>
              <a:spcAft>
                <a:spcPts val="0"/>
              </a:spcAft>
              <a:buSzPts val="1100"/>
              <a:buNone/>
            </a:pPr>
            <a:r>
              <a:rPr lang="en-US">
                <a:solidFill>
                  <a:schemeClr val="dk1"/>
                </a:solidFill>
              </a:rPr>
              <a:t>If none of those three is present, stay out. Unnecessary interruptions quietly teach the Client that the Specialist was not enough, and they teach the Specialist that you will always finish for them.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marR="0" rtl="0" algn="l">
              <a:lnSpc>
                <a:spcPct val="100000"/>
              </a:lnSpc>
              <a:spcBef>
                <a:spcPts val="1200"/>
              </a:spcBef>
              <a:spcAft>
                <a:spcPts val="0"/>
              </a:spcAft>
              <a:buSzPts val="1100"/>
              <a:buNone/>
            </a:pPr>
            <a:r>
              <a:t/>
            </a:r>
            <a:endParaRPr sz="1200">
              <a:solidFill>
                <a:schemeClr val="dk1"/>
              </a:solidFill>
              <a:latin typeface="Calibri"/>
              <a:ea typeface="Calibri"/>
              <a:cs typeface="Calibri"/>
              <a:sym typeface="Calibri"/>
            </a:endParaRPr>
          </a:p>
        </p:txBody>
      </p:sp>
      <p:sp>
        <p:nvSpPr>
          <p:cNvPr id="283" name="Google Shape;283;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4" name="Google Shape;314;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rPr lang="en-US">
                <a:solidFill>
                  <a:schemeClr val="dk1"/>
                </a:solidFill>
              </a:rPr>
              <a:t>Elevate is what turns today’s demos into better performance tomorrow.</a:t>
            </a:r>
            <a:endParaRPr>
              <a:solidFill>
                <a:schemeClr val="dk1"/>
              </a:solidFill>
            </a:endParaRPr>
          </a:p>
          <a:p>
            <a:pPr indent="0" lvl="0" marL="0" rtl="0" algn="l">
              <a:lnSpc>
                <a:spcPct val="115000"/>
              </a:lnSpc>
              <a:spcBef>
                <a:spcPts val="1200"/>
              </a:spcBef>
              <a:spcAft>
                <a:spcPts val="0"/>
              </a:spcAft>
              <a:buSzPts val="1100"/>
              <a:buNone/>
            </a:pPr>
            <a:r>
              <a:rPr lang="en-US">
                <a:solidFill>
                  <a:schemeClr val="dk1"/>
                </a:solidFill>
              </a:rPr>
              <a:t>Every demo you watch is coaching material — but only if you do something with it.</a:t>
            </a:r>
            <a:endParaRPr>
              <a:solidFill>
                <a:schemeClr val="dk1"/>
              </a:solidFill>
            </a:endParaRPr>
          </a:p>
          <a:p>
            <a:pPr indent="0" lvl="0" marL="0" rtl="0" algn="l">
              <a:lnSpc>
                <a:spcPct val="115000"/>
              </a:lnSpc>
              <a:spcBef>
                <a:spcPts val="1200"/>
              </a:spcBef>
              <a:spcAft>
                <a:spcPts val="0"/>
              </a:spcAft>
              <a:buSzPts val="1100"/>
              <a:buNone/>
            </a:pPr>
            <a:r>
              <a:rPr lang="en-US">
                <a:solidFill>
                  <a:schemeClr val="dk1"/>
                </a:solidFill>
              </a:rPr>
              <a:t>There are three places to elevate, in order of immediacy:</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US">
                <a:solidFill>
                  <a:schemeClr val="dk1"/>
                </a:solidFill>
              </a:rPr>
              <a:t>In the moment</a:t>
            </a:r>
            <a:r>
              <a:rPr lang="en-US">
                <a:solidFill>
                  <a:schemeClr val="dk1"/>
                </a:solidFill>
              </a:rPr>
              <a:t> Your AAH step-in is live coaching. When you model a clean close or a strong test walk in front of the Client, the Specialist learns by watching with no risk to the sale.</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US">
                <a:solidFill>
                  <a:schemeClr val="dk1"/>
                </a:solidFill>
              </a:rPr>
              <a:t>In the backroom</a:t>
            </a:r>
            <a:r>
              <a:rPr lang="en-US">
                <a:solidFill>
                  <a:schemeClr val="dk1"/>
                </a:solidFill>
              </a:rPr>
              <a:t> Right after the demo, while the memory is still fresh. Lead with what went well, then name one opportunity. Just one. Overloading kills the coaching. This is often the richest window of the day.</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US">
                <a:solidFill>
                  <a:schemeClr val="dk1"/>
                </a:solidFill>
              </a:rPr>
              <a:t>In the weekly 1:1</a:t>
            </a:r>
            <a:r>
              <a:rPr lang="en-US">
                <a:solidFill>
                  <a:schemeClr val="dk1"/>
                </a:solidFill>
              </a:rPr>
              <a:t> Patterns across multiple demos become coaching themes. A single short walk is a moment. A Specialist who rushes every test walk is a theme worth a real conversation.</a:t>
            </a:r>
            <a:endParaRPr>
              <a:solidFill>
                <a:schemeClr val="dk1"/>
              </a:solidFill>
            </a:endParaRPr>
          </a:p>
          <a:p>
            <a:pPr indent="0" lvl="0" marL="0" rtl="0" algn="l">
              <a:lnSpc>
                <a:spcPct val="115000"/>
              </a:lnSpc>
              <a:spcBef>
                <a:spcPts val="1200"/>
              </a:spcBef>
              <a:spcAft>
                <a:spcPts val="0"/>
              </a:spcAft>
              <a:buSzPts val="1100"/>
              <a:buNone/>
            </a:pPr>
            <a:r>
              <a:rPr lang="en-US">
                <a:solidFill>
                  <a:schemeClr val="dk1"/>
                </a:solidFill>
              </a:rPr>
              <a:t>The standard is simple: if you watched it, you own the coaching on it.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marR="0" rtl="0" algn="l">
              <a:lnSpc>
                <a:spcPct val="100000"/>
              </a:lnSpc>
              <a:spcBef>
                <a:spcPts val="1200"/>
              </a:spcBef>
              <a:spcAft>
                <a:spcPts val="0"/>
              </a:spcAft>
              <a:buSzPts val="1100"/>
              <a:buNone/>
            </a:pPr>
            <a:r>
              <a:t/>
            </a:r>
            <a:endParaRPr sz="1200">
              <a:solidFill>
                <a:schemeClr val="dk1"/>
              </a:solidFill>
              <a:latin typeface="Calibri"/>
              <a:ea typeface="Calibri"/>
              <a:cs typeface="Calibri"/>
              <a:sym typeface="Calibri"/>
            </a:endParaRPr>
          </a:p>
        </p:txBody>
      </p:sp>
      <p:sp>
        <p:nvSpPr>
          <p:cNvPr id="315" name="Google Shape;315;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1" name="Google Shape;341;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Here are five of the most common red-flag situations and the practical responses that save the moment without taking over.</a:t>
            </a:r>
            <a:endParaRPr>
              <a:solidFill>
                <a:schemeClr val="dk1"/>
              </a:solidFill>
            </a:endParaRPr>
          </a:p>
          <a:p>
            <a:pPr indent="0" lvl="0" marL="0" rtl="0" algn="l">
              <a:spcBef>
                <a:spcPts val="1200"/>
              </a:spcBef>
              <a:spcAft>
                <a:spcPts val="0"/>
              </a:spcAft>
              <a:buClr>
                <a:schemeClr val="dk1"/>
              </a:buClr>
              <a:buSzPts val="1100"/>
              <a:buFont typeface="Arial"/>
              <a:buNone/>
            </a:pPr>
            <a:r>
              <a:rPr b="1" lang="en-US">
                <a:solidFill>
                  <a:schemeClr val="dk1"/>
                </a:solidFill>
              </a:rPr>
              <a:t>Client puts shoes back on early</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Invite one more short walk.</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“Let’s try one more short walk… I want you to really feel the difference.”</a:t>
            </a:r>
            <a:endParaRPr>
              <a:solidFill>
                <a:schemeClr val="dk1"/>
              </a:solidFill>
            </a:endParaRPr>
          </a:p>
          <a:p>
            <a:pPr indent="0" lvl="0" marL="0" rtl="0" algn="l">
              <a:spcBef>
                <a:spcPts val="1200"/>
              </a:spcBef>
              <a:spcAft>
                <a:spcPts val="0"/>
              </a:spcAft>
              <a:buClr>
                <a:schemeClr val="dk1"/>
              </a:buClr>
              <a:buSzPts val="1100"/>
              <a:buFont typeface="Arial"/>
              <a:buNone/>
            </a:pPr>
            <a:r>
              <a:rPr b="1" lang="en-US">
                <a:solidFill>
                  <a:schemeClr val="dk1"/>
                </a:solidFill>
              </a:rPr>
              <a:t>Specialist struggling to close</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Reinforce the result the Client already experienced, then go silent.</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“You are in your Strengthener now. This took you from a pain level of 8 to a 3.”</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Then stop talking. Silence is often the strongest closer.</a:t>
            </a:r>
            <a:endParaRPr>
              <a:solidFill>
                <a:schemeClr val="dk1"/>
              </a:solidFill>
            </a:endParaRPr>
          </a:p>
          <a:p>
            <a:pPr indent="0" lvl="0" marL="0" rtl="0" algn="l">
              <a:spcBef>
                <a:spcPts val="1200"/>
              </a:spcBef>
              <a:spcAft>
                <a:spcPts val="0"/>
              </a:spcAft>
              <a:buClr>
                <a:schemeClr val="dk1"/>
              </a:buClr>
              <a:buSzPts val="1100"/>
              <a:buFont typeface="Arial"/>
              <a:buNone/>
            </a:pPr>
            <a:r>
              <a:rPr b="1" lang="en-US">
                <a:solidFill>
                  <a:schemeClr val="dk1"/>
                </a:solidFill>
              </a:rPr>
              <a:t>Client distracted on their phone</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Re-engage with movement.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“Take a quick walk with me while [Name] gets your next pair ready.”</a:t>
            </a:r>
            <a:endParaRPr>
              <a:solidFill>
                <a:schemeClr val="dk1"/>
              </a:solidFill>
            </a:endParaRPr>
          </a:p>
          <a:p>
            <a:pPr indent="0" lvl="0" marL="0" rtl="0" algn="l">
              <a:spcBef>
                <a:spcPts val="1200"/>
              </a:spcBef>
              <a:spcAft>
                <a:spcPts val="0"/>
              </a:spcAft>
              <a:buClr>
                <a:schemeClr val="dk1"/>
              </a:buClr>
              <a:buSzPts val="1100"/>
              <a:buFont typeface="Arial"/>
              <a:buNone/>
            </a:pPr>
            <a:r>
              <a:rPr b="1" lang="en-US">
                <a:solidFill>
                  <a:schemeClr val="dk1"/>
                </a:solidFill>
              </a:rPr>
              <a:t>Client uses neutral language</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Add energy, normalize the process, and earn one more lap.</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 remember my first time… Let’s give it one more lap.”</a:t>
            </a:r>
            <a:endParaRPr>
              <a:solidFill>
                <a:schemeClr val="dk1"/>
              </a:solidFill>
            </a:endParaRPr>
          </a:p>
          <a:p>
            <a:pPr indent="0" lvl="0" marL="0" rtl="0" algn="l">
              <a:spcBef>
                <a:spcPts val="1200"/>
              </a:spcBef>
              <a:spcAft>
                <a:spcPts val="0"/>
              </a:spcAft>
              <a:buClr>
                <a:schemeClr val="dk1"/>
              </a:buClr>
              <a:buSzPts val="1100"/>
              <a:buFont typeface="Arial"/>
              <a:buNone/>
            </a:pPr>
            <a:r>
              <a:rPr b="1" lang="en-US">
                <a:solidFill>
                  <a:schemeClr val="dk1"/>
                </a:solidFill>
              </a:rPr>
              <a:t>Specialist oversharing personal stories</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Gently redirect to the Client’s goals.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“What do you aspire to do once you are fully broken in with your system?”</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US">
                <a:solidFill>
                  <a:schemeClr val="dk1"/>
                </a:solidFill>
              </a:rPr>
              <a:t>Notice the pattern across all of these: a small physical action plus honest language that refocuses the Client on results. Then step back.</a:t>
            </a:r>
            <a:endParaRPr sz="1200">
              <a:solidFill>
                <a:schemeClr val="dk1"/>
              </a:solidFill>
              <a:latin typeface="Calibri"/>
              <a:ea typeface="Calibri"/>
              <a:cs typeface="Calibri"/>
              <a:sym typeface="Calibri"/>
            </a:endParaRPr>
          </a:p>
        </p:txBody>
      </p:sp>
      <p:sp>
        <p:nvSpPr>
          <p:cNvPr id="342" name="Google Shape;342;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8" name="Google Shape;388;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WOW moments are rare and powerful.</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When the balance technique lands and you see a clear posture change, a genuine smile, or an obvious “aha,” join the moment briefly. Name what you see. Then stop talking and let the Client feel it.</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Ownership begins the moment the supports leave the demonstration area and go into the Client’s own shoes. Help make that transition real.</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This is still part of Respond. You step in to amplify, then you step back.</a:t>
            </a:r>
            <a:endParaRPr sz="1200">
              <a:solidFill>
                <a:schemeClr val="dk1"/>
              </a:solidFill>
              <a:latin typeface="Calibri"/>
              <a:ea typeface="Calibri"/>
              <a:cs typeface="Calibri"/>
              <a:sym typeface="Calibri"/>
            </a:endParaRPr>
          </a:p>
          <a:p>
            <a:pPr indent="0" lvl="0" marL="0" marR="0" rtl="0" algn="l">
              <a:lnSpc>
                <a:spcPct val="100000"/>
              </a:lnSpc>
              <a:spcBef>
                <a:spcPts val="1200"/>
              </a:spcBef>
              <a:spcAft>
                <a:spcPts val="0"/>
              </a:spcAft>
              <a:buSzPts val="1100"/>
              <a:buNone/>
            </a:pPr>
            <a:r>
              <a:t/>
            </a:r>
            <a:endParaRPr sz="1200">
              <a:solidFill>
                <a:schemeClr val="dk1"/>
              </a:solidFill>
              <a:latin typeface="Calibri"/>
              <a:ea typeface="Calibri"/>
              <a:cs typeface="Calibri"/>
              <a:sym typeface="Calibri"/>
            </a:endParaRPr>
          </a:p>
        </p:txBody>
      </p:sp>
      <p:sp>
        <p:nvSpPr>
          <p:cNvPr id="389" name="Google Shape;389;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8" name="Google Shape;408;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backroom is one of the richest coaching windows of the day. Protect the culture that makes people willing to come to you.</a:t>
            </a:r>
            <a:endParaRPr>
              <a:solidFill>
                <a:schemeClr val="dk1"/>
              </a:solidFill>
            </a:endParaRPr>
          </a:p>
          <a:p>
            <a:pPr indent="0" lvl="0" marL="0" marR="0" rtl="0" algn="l">
              <a:lnSpc>
                <a:spcPct val="100000"/>
              </a:lnSpc>
              <a:spcBef>
                <a:spcPts val="1200"/>
              </a:spcBef>
              <a:spcAft>
                <a:spcPts val="0"/>
              </a:spcAft>
              <a:buSzPts val="1100"/>
              <a:buNone/>
            </a:pPr>
            <a:r>
              <a:rPr b="1" lang="en-US">
                <a:solidFill>
                  <a:schemeClr val="dk1"/>
                </a:solidFill>
              </a:rPr>
              <a:t>Before they go back out</a:t>
            </a:r>
            <a:endParaRPr>
              <a:solidFill>
                <a:schemeClr val="dk1"/>
              </a:solidFill>
            </a:endParaRPr>
          </a:p>
          <a:p>
            <a:pPr indent="0" lvl="0" marL="0" marR="0" rtl="0" algn="l">
              <a:lnSpc>
                <a:spcPct val="100000"/>
              </a:lnSpc>
              <a:spcBef>
                <a:spcPts val="0"/>
              </a:spcBef>
              <a:spcAft>
                <a:spcPts val="0"/>
              </a:spcAft>
              <a:buSzPts val="1100"/>
              <a:buNone/>
            </a:pPr>
            <a:r>
              <a:rPr lang="en-US">
                <a:solidFill>
                  <a:schemeClr val="dk1"/>
                </a:solidFill>
              </a:rPr>
              <a:t>Coach the plan with sharp questions matched to the Client type.</a:t>
            </a:r>
            <a:endParaRPr>
              <a:solidFill>
                <a:schemeClr val="dk1"/>
              </a:solidFill>
            </a:endParaRPr>
          </a:p>
          <a:p>
            <a:pPr indent="0" lvl="0" marL="0" marR="0" rtl="0" algn="l">
              <a:lnSpc>
                <a:spcPct val="100000"/>
              </a:lnSpc>
              <a:spcBef>
                <a:spcPts val="0"/>
              </a:spcBef>
              <a:spcAft>
                <a:spcPts val="0"/>
              </a:spcAft>
              <a:buSzPts val="1100"/>
              <a:buNone/>
            </a:pPr>
            <a:r>
              <a:rPr lang="en-US">
                <a:solidFill>
                  <a:schemeClr val="dk1"/>
                </a:solidFill>
              </a:rPr>
              <a:t>Read the Specialist’s energy first — too nervous, too hyper, or too low?</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Steady them with simple language: “Breathe. Relax. Have fun. Talk to them like a human.”</a:t>
            </a:r>
            <a:endParaRPr>
              <a:solidFill>
                <a:schemeClr val="dk1"/>
              </a:solidFill>
            </a:endParaRPr>
          </a:p>
          <a:p>
            <a:pPr indent="0" lvl="0" marL="0" marR="0" rtl="0" algn="l">
              <a:lnSpc>
                <a:spcPct val="100000"/>
              </a:lnSpc>
              <a:spcBef>
                <a:spcPts val="1200"/>
              </a:spcBef>
              <a:spcAft>
                <a:spcPts val="0"/>
              </a:spcAft>
              <a:buSzPts val="1100"/>
              <a:buNone/>
            </a:pPr>
            <a:r>
              <a:rPr b="1" lang="en-US">
                <a:solidFill>
                  <a:schemeClr val="dk1"/>
                </a:solidFill>
              </a:rPr>
              <a:t>While they are out</a:t>
            </a:r>
            <a:endParaRPr>
              <a:solidFill>
                <a:schemeClr val="dk1"/>
              </a:solidFill>
            </a:endParaRPr>
          </a:p>
          <a:p>
            <a:pPr indent="0" lvl="0" marL="0" marR="0" rtl="0" algn="l">
              <a:lnSpc>
                <a:spcPct val="100000"/>
              </a:lnSpc>
              <a:spcBef>
                <a:spcPts val="0"/>
              </a:spcBef>
              <a:spcAft>
                <a:spcPts val="0"/>
              </a:spcAft>
              <a:buSzPts val="1100"/>
              <a:buNone/>
            </a:pPr>
            <a:r>
              <a:rPr lang="en-US">
                <a:solidFill>
                  <a:schemeClr val="dk1"/>
                </a:solidFill>
              </a:rPr>
              <a:t>Assist with pulling product so the demo keeps flowing.</a:t>
            </a:r>
            <a:endParaRPr>
              <a:solidFill>
                <a:schemeClr val="dk1"/>
              </a:solidFill>
            </a:endParaRPr>
          </a:p>
          <a:p>
            <a:pPr indent="0" lvl="0" marL="0" marR="0" rtl="0" algn="l">
              <a:lnSpc>
                <a:spcPct val="100000"/>
              </a:lnSpc>
              <a:spcBef>
                <a:spcPts val="0"/>
              </a:spcBef>
              <a:spcAft>
                <a:spcPts val="0"/>
              </a:spcAft>
              <a:buSzPts val="1100"/>
              <a:buNone/>
            </a:pPr>
            <a:r>
              <a:rPr lang="en-US">
                <a:solidFill>
                  <a:schemeClr val="dk1"/>
                </a:solidFill>
              </a:rPr>
              <a:t>Cover small personal needs when the store is busy.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Stay available — encourage them to come to you, but never demand it.</a:t>
            </a:r>
            <a:endParaRPr>
              <a:solidFill>
                <a:schemeClr val="dk1"/>
              </a:solidFill>
            </a:endParaRPr>
          </a:p>
          <a:p>
            <a:pPr indent="0" lvl="0" marL="0" marR="0" rtl="0" algn="l">
              <a:lnSpc>
                <a:spcPct val="100000"/>
              </a:lnSpc>
              <a:spcBef>
                <a:spcPts val="1200"/>
              </a:spcBef>
              <a:spcAft>
                <a:spcPts val="0"/>
              </a:spcAft>
              <a:buSzPts val="1100"/>
              <a:buNone/>
            </a:pPr>
            <a:r>
              <a:rPr b="1" lang="en-US">
                <a:solidFill>
                  <a:schemeClr val="dk1"/>
                </a:solidFill>
              </a:rPr>
              <a:t>After the demo</a:t>
            </a:r>
            <a:endParaRPr>
              <a:solidFill>
                <a:schemeClr val="dk1"/>
              </a:solidFill>
            </a:endParaRPr>
          </a:p>
          <a:p>
            <a:pPr indent="0" lvl="0" marL="0" marR="0" rtl="0" algn="l">
              <a:lnSpc>
                <a:spcPct val="100000"/>
              </a:lnSpc>
              <a:spcBef>
                <a:spcPts val="0"/>
              </a:spcBef>
              <a:spcAft>
                <a:spcPts val="0"/>
              </a:spcAft>
              <a:buSzPts val="1100"/>
              <a:buNone/>
            </a:pPr>
            <a:r>
              <a:rPr lang="en-US">
                <a:solidFill>
                  <a:schemeClr val="dk1"/>
                </a:solidFill>
              </a:rPr>
              <a:t>Debrief while it is still fresh.</a:t>
            </a:r>
            <a:endParaRPr>
              <a:solidFill>
                <a:schemeClr val="dk1"/>
              </a:solidFill>
            </a:endParaRPr>
          </a:p>
          <a:p>
            <a:pPr indent="0" lvl="0" marL="0" marR="0" rtl="0" algn="l">
              <a:lnSpc>
                <a:spcPct val="100000"/>
              </a:lnSpc>
              <a:spcBef>
                <a:spcPts val="0"/>
              </a:spcBef>
              <a:spcAft>
                <a:spcPts val="0"/>
              </a:spcAft>
              <a:buSzPts val="1100"/>
              <a:buNone/>
            </a:pPr>
            <a:r>
              <a:rPr lang="en-US">
                <a:solidFill>
                  <a:schemeClr val="dk1"/>
                </a:solidFill>
              </a:rPr>
              <a:t>Lead with specific wins.</a:t>
            </a:r>
            <a:endParaRPr>
              <a:solidFill>
                <a:schemeClr val="dk1"/>
              </a:solidFill>
            </a:endParaRPr>
          </a:p>
          <a:p>
            <a:pPr indent="0" lvl="0" marL="0" marR="0" rtl="0" algn="l">
              <a:lnSpc>
                <a:spcPct val="100000"/>
              </a:lnSpc>
              <a:spcBef>
                <a:spcPts val="0"/>
              </a:spcBef>
              <a:spcAft>
                <a:spcPts val="0"/>
              </a:spcAft>
              <a:buSzPts val="1100"/>
              <a:buNone/>
            </a:pPr>
            <a:r>
              <a:rPr lang="en-US">
                <a:solidFill>
                  <a:schemeClr val="dk1"/>
                </a:solidFill>
              </a:rPr>
              <a:t>Add one clear opportunity.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Use a quick role-play when it will help.</a:t>
            </a:r>
            <a:endParaRPr>
              <a:solidFill>
                <a:schemeClr val="dk1"/>
              </a:solidFill>
            </a:endParaRPr>
          </a:p>
          <a:p>
            <a:pPr indent="0" lvl="0" marL="0" marR="0" rtl="0" algn="l">
              <a:lnSpc>
                <a:spcPct val="100000"/>
              </a:lnSpc>
              <a:spcBef>
                <a:spcPts val="1200"/>
              </a:spcBef>
              <a:spcAft>
                <a:spcPts val="0"/>
              </a:spcAft>
              <a:buSzPts val="1100"/>
              <a:buNone/>
            </a:pPr>
            <a:r>
              <a:t/>
            </a:r>
            <a:endParaRPr sz="1200">
              <a:solidFill>
                <a:schemeClr val="dk1"/>
              </a:solidFill>
              <a:latin typeface="Calibri"/>
              <a:ea typeface="Calibri"/>
              <a:cs typeface="Calibri"/>
              <a:sym typeface="Calibri"/>
            </a:endParaRPr>
          </a:p>
        </p:txBody>
      </p:sp>
      <p:sp>
        <p:nvSpPr>
          <p:cNvPr id="409" name="Google Shape;409;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8" name="Google Shape;438;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These questions help Specialists settle their nerves and tighten their plan before they walk back out.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New Client</a:t>
            </a:r>
            <a:endParaRPr b="1">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lang="en-US">
                <a:solidFill>
                  <a:schemeClr val="dk1"/>
                </a:solidFill>
              </a:rPr>
              <a:t>What brought them in today?</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US">
                <a:solidFill>
                  <a:schemeClr val="dk1"/>
                </a:solidFill>
              </a:rPr>
              <a:t>Are they in pain today, and at what level?</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US">
                <a:solidFill>
                  <a:schemeClr val="dk1"/>
                </a:solidFill>
              </a:rPr>
              <a:t>What do they do now and what do they want to get back to?</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US">
                <a:solidFill>
                  <a:schemeClr val="dk1"/>
                </a:solidFill>
              </a:rPr>
              <a:t>Which supports make the best system, and how will you present each one?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Return with an Issue</a:t>
            </a:r>
            <a:endParaRPr b="1">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lang="en-US">
                <a:solidFill>
                  <a:schemeClr val="dk1"/>
                </a:solidFill>
              </a:rPr>
              <a:t>What brings them in, and what stands out about the complaint?</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US">
                <a:solidFill>
                  <a:schemeClr val="dk1"/>
                </a:solidFill>
              </a:rPr>
              <a:t>Do they have a full 3-Step System, or need a lifestyle step?</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US">
                <a:solidFill>
                  <a:schemeClr val="dk1"/>
                </a:solidFill>
              </a:rPr>
              <a:t>Where are they in break-in, and how/when are they wearing each support?</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US">
                <a:solidFill>
                  <a:schemeClr val="dk1"/>
                </a:solidFill>
              </a:rPr>
              <a:t>Shoe condition? Footbeds removed? Cushions worn properly?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Successful Return</a:t>
            </a:r>
            <a:endParaRPr b="1">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lang="en-US">
                <a:solidFill>
                  <a:schemeClr val="dk1"/>
                </a:solidFill>
              </a:rPr>
              <a:t>What brings them in today, and when was their last visit?</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US">
                <a:solidFill>
                  <a:schemeClr val="dk1"/>
                </a:solidFill>
              </a:rPr>
              <a:t>Are they doing great, and did they leave a review?</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US">
                <a:solidFill>
                  <a:schemeClr val="dk1"/>
                </a:solidFill>
              </a:rPr>
              <a:t>How many steps in their system, and how/when are they worn?</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US">
                <a:solidFill>
                  <a:schemeClr val="dk1"/>
                </a:solidFill>
              </a:rPr>
              <a:t>Any new activities or plans that lifestyle supports could enhance?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When your guidance actually helps, Specialists return for more. That is how trust and respect are built.</a:t>
            </a:r>
            <a:endParaRPr>
              <a:solidFill>
                <a:schemeClr val="dk1"/>
              </a:solidFill>
            </a:endParaRPr>
          </a:p>
          <a:p>
            <a:pPr indent="0" lvl="0" marL="0" marR="0" rtl="0" algn="l">
              <a:lnSpc>
                <a:spcPct val="100000"/>
              </a:lnSpc>
              <a:spcBef>
                <a:spcPts val="1200"/>
              </a:spcBef>
              <a:spcAft>
                <a:spcPts val="0"/>
              </a:spcAft>
              <a:buSzPts val="1100"/>
              <a:buNone/>
            </a:pPr>
            <a:r>
              <a:t/>
            </a:r>
            <a:endParaRPr sz="1200">
              <a:solidFill>
                <a:schemeClr val="dk1"/>
              </a:solidFill>
              <a:latin typeface="Calibri"/>
              <a:ea typeface="Calibri"/>
              <a:cs typeface="Calibri"/>
              <a:sym typeface="Calibri"/>
            </a:endParaRPr>
          </a:p>
        </p:txBody>
      </p:sp>
      <p:sp>
        <p:nvSpPr>
          <p:cNvPr id="439" name="Google Shape;439;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0" name="Google Shape;470;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After every demo, while the experience is still fresh, run a short debrief:</a:t>
            </a:r>
            <a:endParaRPr sz="1200">
              <a:solidFill>
                <a:schemeClr val="dk1"/>
              </a:solidFill>
              <a:latin typeface="Calibri"/>
              <a:ea typeface="Calibri"/>
              <a:cs typeface="Calibri"/>
              <a:sym typeface="Calibri"/>
            </a:endParaRPr>
          </a:p>
          <a:p>
            <a:pPr indent="-298450" lvl="0" marL="457200" rtl="0" algn="l">
              <a:lnSpc>
                <a:spcPct val="115000"/>
              </a:lnSpc>
              <a:spcBef>
                <a:spcPts val="1200"/>
              </a:spcBef>
              <a:spcAft>
                <a:spcPts val="0"/>
              </a:spcAft>
              <a:buClr>
                <a:schemeClr val="dk1"/>
              </a:buClr>
              <a:buSzPts val="1100"/>
              <a:buChar char="●"/>
            </a:pPr>
            <a:r>
              <a:rPr lang="en-US" sz="1200">
                <a:solidFill>
                  <a:schemeClr val="dk1"/>
                </a:solidFill>
                <a:latin typeface="Calibri"/>
                <a:ea typeface="Calibri"/>
                <a:cs typeface="Calibri"/>
                <a:sym typeface="Calibri"/>
              </a:rPr>
              <a:t>How did the fitting feel to you?</a:t>
            </a:r>
            <a:endParaRPr sz="12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lang="en-US" sz="1200">
                <a:solidFill>
                  <a:schemeClr val="dk1"/>
                </a:solidFill>
                <a:latin typeface="Calibri"/>
                <a:ea typeface="Calibri"/>
                <a:cs typeface="Calibri"/>
                <a:sym typeface="Calibri"/>
              </a:rPr>
              <a:t>What system did you present?</a:t>
            </a:r>
            <a:endParaRPr sz="12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lang="en-US" sz="1200">
                <a:solidFill>
                  <a:schemeClr val="dk1"/>
                </a:solidFill>
                <a:latin typeface="Calibri"/>
                <a:ea typeface="Calibri"/>
                <a:cs typeface="Calibri"/>
                <a:sym typeface="Calibri"/>
              </a:rPr>
              <a:t>What were the key wins and WOW moments?</a:t>
            </a:r>
            <a:endParaRPr sz="12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lang="en-US" sz="1200">
                <a:solidFill>
                  <a:schemeClr val="dk1"/>
                </a:solidFill>
                <a:latin typeface="Calibri"/>
                <a:ea typeface="Calibri"/>
                <a:cs typeface="Calibri"/>
                <a:sym typeface="Calibri"/>
              </a:rPr>
              <a:t>When did the Client show conviction — the “click”?</a:t>
            </a:r>
            <a:endParaRPr sz="12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lang="en-US" sz="1200">
                <a:solidFill>
                  <a:schemeClr val="dk1"/>
                </a:solidFill>
                <a:latin typeface="Calibri"/>
                <a:ea typeface="Calibri"/>
                <a:cs typeface="Calibri"/>
                <a:sym typeface="Calibri"/>
              </a:rPr>
              <a:t>What is the one opportunity to improve next time?</a:t>
            </a:r>
            <a:endParaRPr sz="12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lang="en-US" sz="1200">
                <a:solidFill>
                  <a:schemeClr val="dk1"/>
                </a:solidFill>
                <a:latin typeface="Calibri"/>
                <a:ea typeface="Calibri"/>
                <a:cs typeface="Calibri"/>
                <a:sym typeface="Calibri"/>
              </a:rPr>
              <a:t>Did you close? If not, where did you lose them?</a:t>
            </a:r>
            <a:endParaRPr sz="12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lang="en-US" sz="1200">
                <a:solidFill>
                  <a:schemeClr val="dk1"/>
                </a:solidFill>
                <a:latin typeface="Calibri"/>
                <a:ea typeface="Calibri"/>
                <a:cs typeface="Calibri"/>
                <a:sym typeface="Calibri"/>
              </a:rPr>
              <a:t>Did you ask for the review?</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Keep this every-shift checklist running in the background:</a:t>
            </a:r>
            <a:endParaRPr sz="1200">
              <a:solidFill>
                <a:schemeClr val="dk1"/>
              </a:solidFill>
              <a:latin typeface="Calibri"/>
              <a:ea typeface="Calibri"/>
              <a:cs typeface="Calibri"/>
              <a:sym typeface="Calibri"/>
            </a:endParaRPr>
          </a:p>
          <a:p>
            <a:pPr indent="-298450" lvl="0" marL="457200" rtl="0" algn="l">
              <a:lnSpc>
                <a:spcPct val="115000"/>
              </a:lnSpc>
              <a:spcBef>
                <a:spcPts val="1200"/>
              </a:spcBef>
              <a:spcAft>
                <a:spcPts val="0"/>
              </a:spcAft>
              <a:buClr>
                <a:schemeClr val="dk1"/>
              </a:buClr>
              <a:buSzPts val="1100"/>
              <a:buChar char="●"/>
            </a:pPr>
            <a:r>
              <a:rPr lang="en-US" sz="1200">
                <a:solidFill>
                  <a:schemeClr val="dk1"/>
                </a:solidFill>
                <a:latin typeface="Calibri"/>
                <a:ea typeface="Calibri"/>
                <a:cs typeface="Calibri"/>
                <a:sym typeface="Calibri"/>
              </a:rPr>
              <a:t>Assign the Sales Floor Leader at opening and make it visible</a:t>
            </a:r>
            <a:endParaRPr sz="12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lang="en-US" sz="1200">
                <a:solidFill>
                  <a:schemeClr val="dk1"/>
                </a:solidFill>
                <a:latin typeface="Calibri"/>
                <a:ea typeface="Calibri"/>
                <a:cs typeface="Calibri"/>
                <a:sym typeface="Calibri"/>
              </a:rPr>
              <a:t>Greet every Client at least twice</a:t>
            </a:r>
            <a:endParaRPr sz="12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lang="en-US" sz="1200">
                <a:solidFill>
                  <a:schemeClr val="dk1"/>
                </a:solidFill>
                <a:latin typeface="Calibri"/>
                <a:ea typeface="Calibri"/>
                <a:cs typeface="Calibri"/>
                <a:sym typeface="Calibri"/>
              </a:rPr>
              <a:t>Check the body language of Clients and team</a:t>
            </a:r>
            <a:endParaRPr sz="12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lang="en-US" sz="1200">
                <a:solidFill>
                  <a:schemeClr val="dk1"/>
                </a:solidFill>
                <a:latin typeface="Calibri"/>
                <a:ea typeface="Calibri"/>
                <a:cs typeface="Calibri"/>
                <a:sym typeface="Calibri"/>
              </a:rPr>
              <a:t>Monitor green and red flags actively, demo by demo</a:t>
            </a:r>
            <a:endParaRPr sz="12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lang="en-US" sz="1200">
                <a:solidFill>
                  <a:schemeClr val="dk1"/>
                </a:solidFill>
                <a:latin typeface="Calibri"/>
                <a:ea typeface="Calibri"/>
                <a:cs typeface="Calibri"/>
                <a:sym typeface="Calibri"/>
              </a:rPr>
              <a:t>Step in for balance-technique WOW moments</a:t>
            </a:r>
            <a:endParaRPr sz="12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lang="en-US" sz="1200">
                <a:solidFill>
                  <a:schemeClr val="dk1"/>
                </a:solidFill>
                <a:latin typeface="Calibri"/>
                <a:ea typeface="Calibri"/>
                <a:cs typeface="Calibri"/>
                <a:sym typeface="Calibri"/>
              </a:rPr>
              <a:t>Support closings by prepping POS early when needed</a:t>
            </a:r>
            <a:endParaRPr sz="12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lang="en-US" sz="1200">
                <a:solidFill>
                  <a:schemeClr val="dk1"/>
                </a:solidFill>
                <a:latin typeface="Calibri"/>
                <a:ea typeface="Calibri"/>
                <a:cs typeface="Calibri"/>
                <a:sym typeface="Calibri"/>
              </a:rPr>
              <a:t>Coach in the moment and reinforce in the backroom</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Ownership is not a one-time action. It is a standard you practice throughout the day.</a:t>
            </a:r>
            <a:endParaRPr sz="1200">
              <a:solidFill>
                <a:schemeClr val="dk1"/>
              </a:solidFill>
              <a:latin typeface="Calibri"/>
              <a:ea typeface="Calibri"/>
              <a:cs typeface="Calibri"/>
              <a:sym typeface="Calibri"/>
            </a:endParaRPr>
          </a:p>
          <a:p>
            <a:pPr indent="0" lvl="0" marL="0" marR="0" rtl="0" algn="l">
              <a:lnSpc>
                <a:spcPct val="100000"/>
              </a:lnSpc>
              <a:spcBef>
                <a:spcPts val="1200"/>
              </a:spcBef>
              <a:spcAft>
                <a:spcPts val="0"/>
              </a:spcAft>
              <a:buSzPts val="1100"/>
              <a:buNone/>
            </a:pPr>
            <a:r>
              <a:t/>
            </a:r>
            <a:endParaRPr sz="1200">
              <a:solidFill>
                <a:schemeClr val="dk1"/>
              </a:solidFill>
              <a:latin typeface="Calibri"/>
              <a:ea typeface="Calibri"/>
              <a:cs typeface="Calibri"/>
              <a:sym typeface="Calibri"/>
            </a:endParaRPr>
          </a:p>
        </p:txBody>
      </p:sp>
      <p:sp>
        <p:nvSpPr>
          <p:cNvPr id="471" name="Google Shape;471;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1" name="Google Shape;501;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This is the entire system on one page. Keep it visible until the process becomes automatic.</a:t>
            </a:r>
            <a:endParaRPr>
              <a:solidFill>
                <a:schemeClr val="dk1"/>
              </a:solidFill>
            </a:endParaRPr>
          </a:p>
          <a:p>
            <a:pPr indent="0" lvl="0" marL="0" marR="0" rtl="0" algn="l">
              <a:lnSpc>
                <a:spcPct val="100000"/>
              </a:lnSpc>
              <a:spcBef>
                <a:spcPts val="1200"/>
              </a:spcBef>
              <a:spcAft>
                <a:spcPts val="0"/>
              </a:spcAft>
              <a:buSzPts val="1100"/>
              <a:buNone/>
            </a:pPr>
            <a:r>
              <a:rPr b="1" lang="en-US">
                <a:solidFill>
                  <a:schemeClr val="dk1"/>
                </a:solidFill>
              </a:rPr>
              <a:t>CARE – The Whole Job</a:t>
            </a:r>
            <a:endParaRPr>
              <a:solidFill>
                <a:schemeClr val="dk1"/>
              </a:solidFill>
            </a:endParaRPr>
          </a:p>
          <a:p>
            <a:pPr indent="0" lvl="0" marL="0" marR="0" rtl="0" algn="l">
              <a:lnSpc>
                <a:spcPct val="100000"/>
              </a:lnSpc>
              <a:spcBef>
                <a:spcPts val="0"/>
              </a:spcBef>
              <a:spcAft>
                <a:spcPts val="0"/>
              </a:spcAft>
              <a:buSzPts val="1100"/>
              <a:buNone/>
            </a:pPr>
            <a:r>
              <a:rPr lang="en-US">
                <a:solidFill>
                  <a:schemeClr val="dk1"/>
                </a:solidFill>
              </a:rPr>
              <a:t>C – Connect: Greet every Client twice. Keep them warm. Hand off with confidence.</a:t>
            </a:r>
            <a:endParaRPr>
              <a:solidFill>
                <a:schemeClr val="dk1"/>
              </a:solidFill>
            </a:endParaRPr>
          </a:p>
          <a:p>
            <a:pPr indent="0" lvl="0" marL="0" marR="0" rtl="0" algn="l">
              <a:lnSpc>
                <a:spcPct val="100000"/>
              </a:lnSpc>
              <a:spcBef>
                <a:spcPts val="0"/>
              </a:spcBef>
              <a:spcAft>
                <a:spcPts val="0"/>
              </a:spcAft>
              <a:buSzPts val="1100"/>
              <a:buNone/>
            </a:pPr>
            <a:r>
              <a:rPr lang="en-US">
                <a:solidFill>
                  <a:schemeClr val="dk1"/>
                </a:solidFill>
              </a:rPr>
              <a:t>A – Assess: Read every demo. Protect green flags, answer red flags.</a:t>
            </a:r>
            <a:endParaRPr>
              <a:solidFill>
                <a:schemeClr val="dk1"/>
              </a:solidFill>
            </a:endParaRPr>
          </a:p>
          <a:p>
            <a:pPr indent="0" lvl="0" marL="0" marR="0" rtl="0" algn="l">
              <a:lnSpc>
                <a:spcPct val="100000"/>
              </a:lnSpc>
              <a:spcBef>
                <a:spcPts val="0"/>
              </a:spcBef>
              <a:spcAft>
                <a:spcPts val="0"/>
              </a:spcAft>
              <a:buSzPts val="1100"/>
              <a:buNone/>
            </a:pPr>
            <a:r>
              <a:rPr lang="en-US">
                <a:solidFill>
                  <a:schemeClr val="dk1"/>
                </a:solidFill>
              </a:rPr>
              <a:t>R – Respond: Step in to save a red flag or amplify a WOW, then step back.</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E – Elevate: Coach what you saw — in the moment, backroom, and 1:1.</a:t>
            </a:r>
            <a:endParaRPr>
              <a:solidFill>
                <a:schemeClr val="dk1"/>
              </a:solidFill>
            </a:endParaRPr>
          </a:p>
          <a:p>
            <a:pPr indent="0" lvl="0" marL="0" marR="0" rtl="0" algn="l">
              <a:lnSpc>
                <a:spcPct val="100000"/>
              </a:lnSpc>
              <a:spcBef>
                <a:spcPts val="1200"/>
              </a:spcBef>
              <a:spcAft>
                <a:spcPts val="0"/>
              </a:spcAft>
              <a:buSzPts val="1100"/>
              <a:buNone/>
            </a:pPr>
            <a:r>
              <a:rPr b="1" lang="en-US">
                <a:solidFill>
                  <a:schemeClr val="dk1"/>
                </a:solidFill>
              </a:rPr>
              <a:t>AAH – How to Step In</a:t>
            </a:r>
            <a:endParaRPr>
              <a:solidFill>
                <a:schemeClr val="dk1"/>
              </a:solidFill>
            </a:endParaRPr>
          </a:p>
          <a:p>
            <a:pPr indent="0" lvl="0" marL="0" marR="0" rtl="0" algn="l">
              <a:lnSpc>
                <a:spcPct val="100000"/>
              </a:lnSpc>
              <a:spcBef>
                <a:spcPts val="0"/>
              </a:spcBef>
              <a:spcAft>
                <a:spcPts val="0"/>
              </a:spcAft>
              <a:buSzPts val="1100"/>
              <a:buNone/>
            </a:pPr>
            <a:r>
              <a:rPr lang="en-US">
                <a:solidFill>
                  <a:schemeClr val="dk1"/>
                </a:solidFill>
              </a:rPr>
              <a:t>A – Acknowledge: “I want to add to what John is showing you.”</a:t>
            </a:r>
            <a:endParaRPr>
              <a:solidFill>
                <a:schemeClr val="dk1"/>
              </a:solidFill>
            </a:endParaRPr>
          </a:p>
          <a:p>
            <a:pPr indent="0" lvl="0" marL="0" marR="0" rtl="0" algn="l">
              <a:lnSpc>
                <a:spcPct val="100000"/>
              </a:lnSpc>
              <a:spcBef>
                <a:spcPts val="0"/>
              </a:spcBef>
              <a:spcAft>
                <a:spcPts val="0"/>
              </a:spcAft>
              <a:buSzPts val="1100"/>
              <a:buNone/>
            </a:pPr>
            <a:r>
              <a:rPr lang="en-US">
                <a:solidFill>
                  <a:schemeClr val="dk1"/>
                </a:solidFill>
              </a:rPr>
              <a:t>A – Add Value: “I can see you are walking straighter, with no limp.”</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H – Hand Back: “John will walk you through the next step.”</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Only three reasons to step in: a red flag, a building WOW, or the close. Everything else, protect the Specialist’s space.</a:t>
            </a:r>
            <a:endParaRPr>
              <a:solidFill>
                <a:schemeClr val="dk1"/>
              </a:solidFill>
            </a:endParaRPr>
          </a:p>
          <a:p>
            <a:pPr indent="0" lvl="0" marL="0" marR="0" rtl="0" algn="l">
              <a:lnSpc>
                <a:spcPct val="100000"/>
              </a:lnSpc>
              <a:spcBef>
                <a:spcPts val="1200"/>
              </a:spcBef>
              <a:spcAft>
                <a:spcPts val="0"/>
              </a:spcAft>
              <a:buSzPts val="1100"/>
              <a:buNone/>
            </a:pPr>
            <a:r>
              <a:t/>
            </a:r>
            <a:endParaRPr sz="1200">
              <a:solidFill>
                <a:schemeClr val="dk1"/>
              </a:solidFill>
              <a:latin typeface="Calibri"/>
              <a:ea typeface="Calibri"/>
              <a:cs typeface="Calibri"/>
              <a:sym typeface="Calibri"/>
            </a:endParaRPr>
          </a:p>
        </p:txBody>
      </p:sp>
      <p:sp>
        <p:nvSpPr>
          <p:cNvPr id="502" name="Google Shape;502;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5" name="Google Shape;545;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These four scenarios come from real floors. Use them in your own development and when you coach others.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For each one, ask three questions:</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lang="en-US">
                <a:solidFill>
                  <a:schemeClr val="dk1"/>
                </a:solidFill>
              </a:rPr>
              <a:t>What went right?</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US">
                <a:solidFill>
                  <a:schemeClr val="dk1"/>
                </a:solidFill>
              </a:rPr>
              <a:t>Where were the opportunities?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US">
                <a:solidFill>
                  <a:schemeClr val="dk1"/>
                </a:solidFill>
              </a:rPr>
              <a:t>Through the CARE lens, what should the Floor Leader have noticed and done?</a:t>
            </a:r>
            <a:endParaRPr>
              <a:solidFill>
                <a:schemeClr val="dk1"/>
              </a:solidFill>
            </a:endParaRPr>
          </a:p>
          <a:p>
            <a:pPr indent="0" lvl="0" marL="0" marR="0" rtl="0" algn="l">
              <a:lnSpc>
                <a:spcPct val="100000"/>
              </a:lnSpc>
              <a:spcBef>
                <a:spcPts val="1200"/>
              </a:spcBef>
              <a:spcAft>
                <a:spcPts val="0"/>
              </a:spcAft>
              <a:buSzPts val="1100"/>
              <a:buNone/>
            </a:pPr>
            <a:r>
              <a:rPr b="1" lang="en-US">
                <a:solidFill>
                  <a:schemeClr val="dk1"/>
                </a:solidFill>
              </a:rPr>
              <a:t>1. The Walk</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Rushed test walks, short discovery of lifestyle, Client left saying “I’ll think about it.”</a:t>
            </a:r>
            <a:endParaRPr>
              <a:solidFill>
                <a:schemeClr val="dk1"/>
              </a:solidFill>
            </a:endParaRPr>
          </a:p>
          <a:p>
            <a:pPr indent="0" lvl="0" marL="0" marR="0" rtl="0" algn="l">
              <a:lnSpc>
                <a:spcPct val="100000"/>
              </a:lnSpc>
              <a:spcBef>
                <a:spcPts val="1200"/>
              </a:spcBef>
              <a:spcAft>
                <a:spcPts val="0"/>
              </a:spcAft>
              <a:buSzPts val="1100"/>
              <a:buNone/>
            </a:pPr>
            <a:r>
              <a:rPr b="1" lang="en-US">
                <a:solidFill>
                  <a:schemeClr val="dk1"/>
                </a:solidFill>
              </a:rPr>
              <a:t>2. Talking Through the Demo</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Too much personal storytelling; incomplete lifestyle solution; Client left in sandals.</a:t>
            </a:r>
            <a:endParaRPr>
              <a:solidFill>
                <a:schemeClr val="dk1"/>
              </a:solidFill>
            </a:endParaRPr>
          </a:p>
          <a:p>
            <a:pPr indent="0" lvl="0" marL="0" marR="0" rtl="0" algn="l">
              <a:lnSpc>
                <a:spcPct val="100000"/>
              </a:lnSpc>
              <a:spcBef>
                <a:spcPts val="1200"/>
              </a:spcBef>
              <a:spcAft>
                <a:spcPts val="0"/>
              </a:spcAft>
              <a:buSzPts val="1100"/>
              <a:buNone/>
            </a:pPr>
            <a:r>
              <a:rPr b="1" lang="en-US">
                <a:solidFill>
                  <a:schemeClr val="dk1"/>
                </a:solidFill>
              </a:rPr>
              <a:t>3. Ideal Foot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Over-explained anatomy; lost the Client in technical detail after a strong start.</a:t>
            </a:r>
            <a:endParaRPr>
              <a:solidFill>
                <a:schemeClr val="dk1"/>
              </a:solidFill>
            </a:endParaRPr>
          </a:p>
          <a:p>
            <a:pPr indent="0" lvl="0" marL="0" marR="0" rtl="0" algn="l">
              <a:lnSpc>
                <a:spcPct val="100000"/>
              </a:lnSpc>
              <a:spcBef>
                <a:spcPts val="1200"/>
              </a:spcBef>
              <a:spcAft>
                <a:spcPts val="0"/>
              </a:spcAft>
              <a:buSzPts val="1100"/>
              <a:buNone/>
            </a:pPr>
            <a:r>
              <a:rPr b="1" lang="en-US">
                <a:solidFill>
                  <a:schemeClr val="dk1"/>
                </a:solidFill>
              </a:rPr>
              <a:t>4. Discovery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Thin follow-up questions; shifted to personal stories; Client never fully engaged.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You do not need to master all four at once. Start with the pattern you see most often.</a:t>
            </a:r>
            <a:endParaRPr>
              <a:solidFill>
                <a:schemeClr val="dk1"/>
              </a:solidFill>
            </a:endParaRPr>
          </a:p>
          <a:p>
            <a:pPr indent="0" lvl="0" marL="0" marR="0" rtl="0" algn="l">
              <a:lnSpc>
                <a:spcPct val="100000"/>
              </a:lnSpc>
              <a:spcBef>
                <a:spcPts val="1200"/>
              </a:spcBef>
              <a:spcAft>
                <a:spcPts val="0"/>
              </a:spcAft>
              <a:buSzPts val="1100"/>
              <a:buNone/>
            </a:pPr>
            <a:r>
              <a:t/>
            </a:r>
            <a:endParaRPr sz="1200">
              <a:solidFill>
                <a:schemeClr val="dk1"/>
              </a:solidFill>
              <a:latin typeface="Calibri"/>
              <a:ea typeface="Calibri"/>
              <a:cs typeface="Calibri"/>
              <a:sym typeface="Calibri"/>
            </a:endParaRPr>
          </a:p>
        </p:txBody>
      </p:sp>
      <p:sp>
        <p:nvSpPr>
          <p:cNvPr id="546" name="Google Shape;546;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7" name="Google Shape;577;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As Sales Floor Leader, you are the energy, the coach, and the connector on the floor.</a:t>
            </a:r>
            <a:endParaRPr sz="1200">
              <a:solidFill>
                <a:schemeClr val="dk1"/>
              </a:solidFill>
              <a:latin typeface="Calibri"/>
              <a:ea typeface="Calibri"/>
              <a:cs typeface="Calibri"/>
              <a:sym typeface="Calibri"/>
            </a:endParaRPr>
          </a:p>
          <a:p>
            <a:pPr indent="0" lvl="0" marL="0" marR="0" rtl="0" algn="l">
              <a:lnSpc>
                <a:spcPct val="100000"/>
              </a:lnSpc>
              <a:spcBef>
                <a:spcPts val="1200"/>
              </a:spcBef>
              <a:spcAft>
                <a:spcPts val="0"/>
              </a:spcAft>
              <a:buSzPts val="1100"/>
              <a:buNone/>
            </a:pPr>
            <a:r>
              <a:rPr lang="en-US" sz="1200">
                <a:solidFill>
                  <a:schemeClr val="dk1"/>
                </a:solidFill>
                <a:latin typeface="Calibri"/>
                <a:ea typeface="Calibri"/>
                <a:cs typeface="Calibri"/>
                <a:sym typeface="Calibri"/>
              </a:rPr>
              <a:t>When you lead with clear purpose:</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Clients feel the difference.</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Your team grows.</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Remarkable results follow.</a:t>
            </a:r>
            <a:endParaRPr sz="1200">
              <a:solidFill>
                <a:schemeClr val="dk1"/>
              </a:solidFill>
              <a:latin typeface="Calibri"/>
              <a:ea typeface="Calibri"/>
              <a:cs typeface="Calibri"/>
              <a:sym typeface="Calibri"/>
            </a:endParaRPr>
          </a:p>
          <a:p>
            <a:pPr indent="0" lvl="0" marL="0" marR="0" rtl="0" algn="l">
              <a:lnSpc>
                <a:spcPct val="100000"/>
              </a:lnSpc>
              <a:spcBef>
                <a:spcPts val="1200"/>
              </a:spcBef>
              <a:spcAft>
                <a:spcPts val="0"/>
              </a:spcAft>
              <a:buSzPts val="1100"/>
              <a:buNone/>
            </a:pPr>
            <a:r>
              <a:rPr lang="en-US" sz="1200">
                <a:solidFill>
                  <a:schemeClr val="dk1"/>
                </a:solidFill>
                <a:latin typeface="Calibri"/>
                <a:ea typeface="Calibri"/>
                <a:cs typeface="Calibri"/>
                <a:sym typeface="Calibri"/>
              </a:rPr>
              <a:t>Client service creates happy Clients.</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Happy Clients create high sales.</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Starting with your next shift, practice CARE deliberately:</a:t>
            </a:r>
            <a:endParaRPr sz="1200">
              <a:solidFill>
                <a:schemeClr val="dk1"/>
              </a:solidFill>
              <a:latin typeface="Calibri"/>
              <a:ea typeface="Calibri"/>
              <a:cs typeface="Calibri"/>
              <a:sym typeface="Calibri"/>
            </a:endParaRPr>
          </a:p>
          <a:p>
            <a:pPr indent="0" lvl="0" marL="0" marR="0" rtl="0" algn="l">
              <a:lnSpc>
                <a:spcPct val="100000"/>
              </a:lnSpc>
              <a:spcBef>
                <a:spcPts val="1200"/>
              </a:spcBef>
              <a:spcAft>
                <a:spcPts val="0"/>
              </a:spcAft>
              <a:buSzPts val="1100"/>
              <a:buNone/>
            </a:pPr>
            <a:r>
              <a:rPr lang="en-US" sz="1200">
                <a:solidFill>
                  <a:schemeClr val="dk1"/>
                </a:solidFill>
                <a:latin typeface="Calibri"/>
                <a:ea typeface="Calibri"/>
                <a:cs typeface="Calibri"/>
                <a:sym typeface="Calibri"/>
              </a:rPr>
              <a:t>Assign the Floor Leader out loud.</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Watch for green and red flags.</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lang="en-US" sz="1200">
                <a:solidFill>
                  <a:schemeClr val="dk1"/>
                </a:solidFill>
                <a:latin typeface="Calibri"/>
                <a:ea typeface="Calibri"/>
                <a:cs typeface="Calibri"/>
                <a:sym typeface="Calibri"/>
              </a:rPr>
              <a:t>Step in with AAH when needed.</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Coach what you observe.</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That is how we stop leaving Remarkable experiences to chance.</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That is how we keep the promise — every Client, every time.</a:t>
            </a:r>
            <a:endParaRPr sz="1200">
              <a:solidFill>
                <a:schemeClr val="dk1"/>
              </a:solidFill>
              <a:latin typeface="Calibri"/>
              <a:ea typeface="Calibri"/>
              <a:cs typeface="Calibri"/>
              <a:sym typeface="Calibri"/>
            </a:endParaRPr>
          </a:p>
          <a:p>
            <a:pPr indent="0" lvl="0" marL="0" marR="0" rtl="0" algn="l">
              <a:lnSpc>
                <a:spcPct val="100000"/>
              </a:lnSpc>
              <a:spcBef>
                <a:spcPts val="1200"/>
              </a:spcBef>
              <a:spcAft>
                <a:spcPts val="0"/>
              </a:spcAft>
              <a:buSzPts val="1100"/>
              <a:buNone/>
            </a:pPr>
            <a:r>
              <a:rPr lang="en-US" sz="1200">
                <a:solidFill>
                  <a:schemeClr val="dk1"/>
                </a:solidFill>
                <a:latin typeface="Calibri"/>
                <a:ea typeface="Calibri"/>
                <a:cs typeface="Calibri"/>
                <a:sym typeface="Calibri"/>
              </a:rPr>
              <a:t>You now have the system.</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The next step is to use it.</a:t>
            </a:r>
            <a:endParaRPr sz="1200">
              <a:solidFill>
                <a:schemeClr val="dk1"/>
              </a:solidFill>
              <a:latin typeface="Calibri"/>
              <a:ea typeface="Calibri"/>
              <a:cs typeface="Calibri"/>
              <a:sym typeface="Calibri"/>
            </a:endParaRPr>
          </a:p>
          <a:p>
            <a:pPr indent="0" lvl="0" marL="0" marR="0" rtl="0" algn="l">
              <a:lnSpc>
                <a:spcPct val="100000"/>
              </a:lnSpc>
              <a:spcBef>
                <a:spcPts val="1200"/>
              </a:spcBef>
              <a:spcAft>
                <a:spcPts val="0"/>
              </a:spcAft>
              <a:buSzPts val="1100"/>
              <a:buNone/>
            </a:pPr>
            <a:r>
              <a:t/>
            </a:r>
            <a:endParaRPr sz="1200">
              <a:solidFill>
                <a:schemeClr val="dk1"/>
              </a:solidFill>
              <a:latin typeface="Calibri"/>
              <a:ea typeface="Calibri"/>
              <a:cs typeface="Calibri"/>
              <a:sym typeface="Calibri"/>
            </a:endParaRPr>
          </a:p>
        </p:txBody>
      </p:sp>
      <p:sp>
        <p:nvSpPr>
          <p:cNvPr id="578" name="Google Shape;578;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g3f97423e258_0_52"/>
          <p:cNvSpPr txBox="1"/>
          <p:nvPr>
            <p:ph type="ctrTitle"/>
          </p:nvPr>
        </p:nvSpPr>
        <p:spPr>
          <a:xfrm>
            <a:off x="415611" y="992767"/>
            <a:ext cx="11360700" cy="27369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p:txBody>
      </p:sp>
      <p:sp>
        <p:nvSpPr>
          <p:cNvPr id="11" name="Google Shape;11;g3f97423e258_0_52"/>
          <p:cNvSpPr txBox="1"/>
          <p:nvPr>
            <p:ph idx="1" type="subTitle"/>
          </p:nvPr>
        </p:nvSpPr>
        <p:spPr>
          <a:xfrm>
            <a:off x="415600" y="3778833"/>
            <a:ext cx="11360700" cy="10569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12" name="Google Shape;12;g3f97423e258_0_52"/>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g3f97423e258_0_56"/>
          <p:cNvSpPr txBox="1"/>
          <p:nvPr>
            <p:ph type="title"/>
          </p:nvPr>
        </p:nvSpPr>
        <p:spPr>
          <a:xfrm>
            <a:off x="415600" y="2867800"/>
            <a:ext cx="11360700" cy="1122300"/>
          </a:xfrm>
          <a:prstGeom prst="rect">
            <a:avLst/>
          </a:prstGeom>
        </p:spPr>
        <p:txBody>
          <a:bodyPr anchorCtr="0" anchor="ctr" bIns="121900" lIns="121900" spcFirstLastPara="1" rIns="121900" wrap="square" tIns="12190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g3f97423e258_0_56"/>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g3f97423e258_0_59"/>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18" name="Google Shape;18;g3f97423e258_0_59"/>
          <p:cNvSpPr txBox="1"/>
          <p:nvPr>
            <p:ph idx="1" type="body"/>
          </p:nvPr>
        </p:nvSpPr>
        <p:spPr>
          <a:xfrm>
            <a:off x="415600" y="1536633"/>
            <a:ext cx="11360700" cy="4555200"/>
          </a:xfrm>
          <a:prstGeom prst="rect">
            <a:avLst/>
          </a:prstGeom>
        </p:spPr>
        <p:txBody>
          <a:bodyPr anchorCtr="0" anchor="t" bIns="121900" lIns="121900" spcFirstLastPara="1" rIns="121900" wrap="square" tIns="121900">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19" name="Google Shape;19;g3f97423e258_0_59"/>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g3f97423e258_0_63"/>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22" name="Google Shape;22;g3f97423e258_0_63"/>
          <p:cNvSpPr txBox="1"/>
          <p:nvPr>
            <p:ph idx="1" type="body"/>
          </p:nvPr>
        </p:nvSpPr>
        <p:spPr>
          <a:xfrm>
            <a:off x="415600" y="1536633"/>
            <a:ext cx="5333100" cy="4555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3" name="Google Shape;23;g3f97423e258_0_63"/>
          <p:cNvSpPr txBox="1"/>
          <p:nvPr>
            <p:ph idx="2" type="body"/>
          </p:nvPr>
        </p:nvSpPr>
        <p:spPr>
          <a:xfrm>
            <a:off x="6443200" y="1536633"/>
            <a:ext cx="5333100" cy="4555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4" name="Google Shape;24;g3f97423e258_0_63"/>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g3f97423e258_0_68"/>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27" name="Google Shape;27;g3f97423e258_0_68"/>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g3f97423e258_0_71"/>
          <p:cNvSpPr txBox="1"/>
          <p:nvPr>
            <p:ph type="title"/>
          </p:nvPr>
        </p:nvSpPr>
        <p:spPr>
          <a:xfrm>
            <a:off x="415600" y="740800"/>
            <a:ext cx="3744000" cy="1007700"/>
          </a:xfrm>
          <a:prstGeom prst="rect">
            <a:avLst/>
          </a:prstGeom>
        </p:spPr>
        <p:txBody>
          <a:bodyPr anchorCtr="0" anchor="b" bIns="121900" lIns="121900" spcFirstLastPara="1" rIns="121900" wrap="square" tIns="12190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p:txBody>
      </p:sp>
      <p:sp>
        <p:nvSpPr>
          <p:cNvPr id="30" name="Google Shape;30;g3f97423e258_0_71"/>
          <p:cNvSpPr txBox="1"/>
          <p:nvPr>
            <p:ph idx="1" type="body"/>
          </p:nvPr>
        </p:nvSpPr>
        <p:spPr>
          <a:xfrm>
            <a:off x="415600" y="1852800"/>
            <a:ext cx="3744000" cy="4239300"/>
          </a:xfrm>
          <a:prstGeom prst="rect">
            <a:avLst/>
          </a:prstGeom>
        </p:spPr>
        <p:txBody>
          <a:bodyPr anchorCtr="0" anchor="t" bIns="121900" lIns="121900" spcFirstLastPara="1" rIns="121900" wrap="square" tIns="121900">
            <a:normAutofit/>
          </a:bodyPr>
          <a:lstStyle>
            <a:lvl1pPr indent="-330200" lvl="0" marL="457200">
              <a:spcBef>
                <a:spcPts val="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31" name="Google Shape;31;g3f97423e258_0_71"/>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g3f97423e258_0_75"/>
          <p:cNvSpPr txBox="1"/>
          <p:nvPr>
            <p:ph type="title"/>
          </p:nvPr>
        </p:nvSpPr>
        <p:spPr>
          <a:xfrm>
            <a:off x="653667" y="600200"/>
            <a:ext cx="8490300" cy="5454300"/>
          </a:xfrm>
          <a:prstGeom prst="rect">
            <a:avLst/>
          </a:prstGeom>
        </p:spPr>
        <p:txBody>
          <a:bodyPr anchorCtr="0" anchor="ctr" bIns="121900" lIns="121900" spcFirstLastPara="1" rIns="121900" wrap="square" tIns="121900">
            <a:norm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p:txBody>
      </p:sp>
      <p:sp>
        <p:nvSpPr>
          <p:cNvPr id="34" name="Google Shape;34;g3f97423e258_0_75"/>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g3f97423e258_0_78"/>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7" name="Google Shape;37;g3f97423e258_0_78"/>
          <p:cNvSpPr txBox="1"/>
          <p:nvPr>
            <p:ph type="title"/>
          </p:nvPr>
        </p:nvSpPr>
        <p:spPr>
          <a:xfrm>
            <a:off x="354000" y="1644233"/>
            <a:ext cx="5393700" cy="19764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p:txBody>
      </p:sp>
      <p:sp>
        <p:nvSpPr>
          <p:cNvPr id="38" name="Google Shape;38;g3f97423e258_0_78"/>
          <p:cNvSpPr txBox="1"/>
          <p:nvPr>
            <p:ph idx="1" type="subTitle"/>
          </p:nvPr>
        </p:nvSpPr>
        <p:spPr>
          <a:xfrm>
            <a:off x="354000" y="3737433"/>
            <a:ext cx="5393700" cy="16467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9" name="Google Shape;39;g3f97423e258_0_78"/>
          <p:cNvSpPr txBox="1"/>
          <p:nvPr>
            <p:ph idx="2" type="body"/>
          </p:nvPr>
        </p:nvSpPr>
        <p:spPr>
          <a:xfrm>
            <a:off x="6586000" y="965433"/>
            <a:ext cx="5115900" cy="4926900"/>
          </a:xfrm>
          <a:prstGeom prst="rect">
            <a:avLst/>
          </a:prstGeom>
        </p:spPr>
        <p:txBody>
          <a:bodyPr anchorCtr="0" anchor="ctr" bIns="121900" lIns="121900" spcFirstLastPara="1" rIns="121900" wrap="square" tIns="121900">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40" name="Google Shape;40;g3f97423e258_0_78"/>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g3f97423e258_0_84"/>
          <p:cNvSpPr txBox="1"/>
          <p:nvPr>
            <p:ph idx="1" type="body"/>
          </p:nvPr>
        </p:nvSpPr>
        <p:spPr>
          <a:xfrm>
            <a:off x="415600" y="5640767"/>
            <a:ext cx="7998300" cy="806700"/>
          </a:xfrm>
          <a:prstGeom prst="rect">
            <a:avLst/>
          </a:prstGeom>
        </p:spPr>
        <p:txBody>
          <a:bodyPr anchorCtr="0" anchor="ctr" bIns="121900" lIns="121900" spcFirstLastPara="1" rIns="121900" wrap="square" tIns="121900">
            <a:normAutofit/>
          </a:bodyPr>
          <a:lstStyle>
            <a:lvl1pPr indent="-228600" lvl="0" marL="457200">
              <a:lnSpc>
                <a:spcPct val="100000"/>
              </a:lnSpc>
              <a:spcBef>
                <a:spcPts val="0"/>
              </a:spcBef>
              <a:spcAft>
                <a:spcPts val="0"/>
              </a:spcAft>
              <a:buSzPts val="2400"/>
              <a:buNone/>
              <a:defRPr/>
            </a:lvl1pPr>
          </a:lstStyle>
          <a:p/>
        </p:txBody>
      </p:sp>
      <p:sp>
        <p:nvSpPr>
          <p:cNvPr id="43" name="Google Shape;43;g3f97423e258_0_84"/>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g3f97423e258_0_87"/>
          <p:cNvSpPr txBox="1"/>
          <p:nvPr>
            <p:ph hasCustomPrompt="1" type="title"/>
          </p:nvPr>
        </p:nvSpPr>
        <p:spPr>
          <a:xfrm>
            <a:off x="415600" y="1474833"/>
            <a:ext cx="11360700" cy="26181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46" name="Google Shape;46;g3f97423e258_0_87"/>
          <p:cNvSpPr txBox="1"/>
          <p:nvPr>
            <p:ph idx="1" type="body"/>
          </p:nvPr>
        </p:nvSpPr>
        <p:spPr>
          <a:xfrm>
            <a:off x="415600" y="4202967"/>
            <a:ext cx="11360700" cy="1734300"/>
          </a:xfrm>
          <a:prstGeom prst="rect">
            <a:avLst/>
          </a:prstGeom>
        </p:spPr>
        <p:txBody>
          <a:bodyPr anchorCtr="0" anchor="t" bIns="121900" lIns="121900" spcFirstLastPara="1" rIns="121900" wrap="square" tIns="121900">
            <a:normAutofit/>
          </a:bodyPr>
          <a:lstStyle>
            <a:lvl1pPr indent="-381000" lvl="0" marL="457200" algn="ctr">
              <a:spcBef>
                <a:spcPts val="0"/>
              </a:spcBef>
              <a:spcAft>
                <a:spcPts val="0"/>
              </a:spcAft>
              <a:buSzPts val="2400"/>
              <a:buChar char="●"/>
              <a:defRPr/>
            </a:lvl1pPr>
            <a:lvl2pPr indent="-349250" lvl="1" marL="914400" algn="ctr">
              <a:spcBef>
                <a:spcPts val="0"/>
              </a:spcBef>
              <a:spcAft>
                <a:spcPts val="0"/>
              </a:spcAft>
              <a:buSzPts val="1900"/>
              <a:buChar char="○"/>
              <a:defRPr/>
            </a:lvl2pPr>
            <a:lvl3pPr indent="-349250" lvl="2" marL="1371600" algn="ctr">
              <a:spcBef>
                <a:spcPts val="0"/>
              </a:spcBef>
              <a:spcAft>
                <a:spcPts val="0"/>
              </a:spcAft>
              <a:buSzPts val="1900"/>
              <a:buChar char="■"/>
              <a:defRPr/>
            </a:lvl3pPr>
            <a:lvl4pPr indent="-349250" lvl="3" marL="1828800" algn="ctr">
              <a:spcBef>
                <a:spcPts val="0"/>
              </a:spcBef>
              <a:spcAft>
                <a:spcPts val="0"/>
              </a:spcAft>
              <a:buSzPts val="1900"/>
              <a:buChar char="●"/>
              <a:defRPr/>
            </a:lvl4pPr>
            <a:lvl5pPr indent="-349250" lvl="4" marL="2286000" algn="ctr">
              <a:spcBef>
                <a:spcPts val="0"/>
              </a:spcBef>
              <a:spcAft>
                <a:spcPts val="0"/>
              </a:spcAft>
              <a:buSzPts val="1900"/>
              <a:buChar char="○"/>
              <a:defRPr/>
            </a:lvl5pPr>
            <a:lvl6pPr indent="-349250" lvl="5" marL="2743200" algn="ctr">
              <a:spcBef>
                <a:spcPts val="0"/>
              </a:spcBef>
              <a:spcAft>
                <a:spcPts val="0"/>
              </a:spcAft>
              <a:buSzPts val="1900"/>
              <a:buChar char="■"/>
              <a:defRPr/>
            </a:lvl6pPr>
            <a:lvl7pPr indent="-349250" lvl="6" marL="3200400" algn="ctr">
              <a:spcBef>
                <a:spcPts val="0"/>
              </a:spcBef>
              <a:spcAft>
                <a:spcPts val="0"/>
              </a:spcAft>
              <a:buSzPts val="1900"/>
              <a:buChar char="●"/>
              <a:defRPr/>
            </a:lvl7pPr>
            <a:lvl8pPr indent="-349250" lvl="7" marL="3657600" algn="ctr">
              <a:spcBef>
                <a:spcPts val="0"/>
              </a:spcBef>
              <a:spcAft>
                <a:spcPts val="0"/>
              </a:spcAft>
              <a:buSzPts val="1900"/>
              <a:buChar char="○"/>
              <a:defRPr/>
            </a:lvl8pPr>
            <a:lvl9pPr indent="-349250" lvl="8" marL="4114800" algn="ctr">
              <a:spcBef>
                <a:spcPts val="0"/>
              </a:spcBef>
              <a:spcAft>
                <a:spcPts val="0"/>
              </a:spcAft>
              <a:buSzPts val="1900"/>
              <a:buChar char="■"/>
              <a:defRPr/>
            </a:lvl9pPr>
          </a:lstStyle>
          <a:p/>
        </p:txBody>
      </p:sp>
      <p:sp>
        <p:nvSpPr>
          <p:cNvPr id="47" name="Google Shape;47;g3f97423e258_0_87"/>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g3f97423e258_0_91"/>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0" name="Shape 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g3f97423e258_0_48"/>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p:txBody>
      </p:sp>
      <p:sp>
        <p:nvSpPr>
          <p:cNvPr id="7" name="Google Shape;7;g3f97423e258_0_48"/>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a:lnSpc>
                <a:spcPct val="115000"/>
              </a:lnSpc>
              <a:spcBef>
                <a:spcPts val="0"/>
              </a:spcBef>
              <a:spcAft>
                <a:spcPts val="0"/>
              </a:spcAft>
              <a:buClr>
                <a:schemeClr val="dk2"/>
              </a:buClr>
              <a:buSzPts val="2400"/>
              <a:buChar char="●"/>
              <a:defRPr sz="2400">
                <a:solidFill>
                  <a:schemeClr val="dk2"/>
                </a:solidFill>
              </a:defRPr>
            </a:lvl1pPr>
            <a:lvl2pPr indent="-349250" lvl="1" marL="914400">
              <a:lnSpc>
                <a:spcPct val="115000"/>
              </a:lnSpc>
              <a:spcBef>
                <a:spcPts val="0"/>
              </a:spcBef>
              <a:spcAft>
                <a:spcPts val="0"/>
              </a:spcAft>
              <a:buClr>
                <a:schemeClr val="dk2"/>
              </a:buClr>
              <a:buSzPts val="1900"/>
              <a:buChar char="○"/>
              <a:defRPr sz="1900">
                <a:solidFill>
                  <a:schemeClr val="dk2"/>
                </a:solidFill>
              </a:defRPr>
            </a:lvl2pPr>
            <a:lvl3pPr indent="-349250" lvl="2" marL="1371600">
              <a:lnSpc>
                <a:spcPct val="115000"/>
              </a:lnSpc>
              <a:spcBef>
                <a:spcPts val="0"/>
              </a:spcBef>
              <a:spcAft>
                <a:spcPts val="0"/>
              </a:spcAft>
              <a:buClr>
                <a:schemeClr val="dk2"/>
              </a:buClr>
              <a:buSzPts val="1900"/>
              <a:buChar char="■"/>
              <a:defRPr sz="1900">
                <a:solidFill>
                  <a:schemeClr val="dk2"/>
                </a:solidFill>
              </a:defRPr>
            </a:lvl3pPr>
            <a:lvl4pPr indent="-349250" lvl="3" marL="1828800">
              <a:lnSpc>
                <a:spcPct val="115000"/>
              </a:lnSpc>
              <a:spcBef>
                <a:spcPts val="0"/>
              </a:spcBef>
              <a:spcAft>
                <a:spcPts val="0"/>
              </a:spcAft>
              <a:buClr>
                <a:schemeClr val="dk2"/>
              </a:buClr>
              <a:buSzPts val="1900"/>
              <a:buChar char="●"/>
              <a:defRPr sz="1900">
                <a:solidFill>
                  <a:schemeClr val="dk2"/>
                </a:solidFill>
              </a:defRPr>
            </a:lvl4pPr>
            <a:lvl5pPr indent="-349250" lvl="4" marL="2286000">
              <a:lnSpc>
                <a:spcPct val="115000"/>
              </a:lnSpc>
              <a:spcBef>
                <a:spcPts val="0"/>
              </a:spcBef>
              <a:spcAft>
                <a:spcPts val="0"/>
              </a:spcAft>
              <a:buClr>
                <a:schemeClr val="dk2"/>
              </a:buClr>
              <a:buSzPts val="1900"/>
              <a:buChar char="○"/>
              <a:defRPr sz="1900">
                <a:solidFill>
                  <a:schemeClr val="dk2"/>
                </a:solidFill>
              </a:defRPr>
            </a:lvl5pPr>
            <a:lvl6pPr indent="-349250" lvl="5" marL="2743200">
              <a:lnSpc>
                <a:spcPct val="115000"/>
              </a:lnSpc>
              <a:spcBef>
                <a:spcPts val="0"/>
              </a:spcBef>
              <a:spcAft>
                <a:spcPts val="0"/>
              </a:spcAft>
              <a:buClr>
                <a:schemeClr val="dk2"/>
              </a:buClr>
              <a:buSzPts val="1900"/>
              <a:buChar char="■"/>
              <a:defRPr sz="1900">
                <a:solidFill>
                  <a:schemeClr val="dk2"/>
                </a:solidFill>
              </a:defRPr>
            </a:lvl6pPr>
            <a:lvl7pPr indent="-349250" lvl="6" marL="3200400">
              <a:lnSpc>
                <a:spcPct val="115000"/>
              </a:lnSpc>
              <a:spcBef>
                <a:spcPts val="0"/>
              </a:spcBef>
              <a:spcAft>
                <a:spcPts val="0"/>
              </a:spcAft>
              <a:buClr>
                <a:schemeClr val="dk2"/>
              </a:buClr>
              <a:buSzPts val="1900"/>
              <a:buChar char="●"/>
              <a:defRPr sz="1900">
                <a:solidFill>
                  <a:schemeClr val="dk2"/>
                </a:solidFill>
              </a:defRPr>
            </a:lvl7pPr>
            <a:lvl8pPr indent="-349250" lvl="7" marL="3657600">
              <a:lnSpc>
                <a:spcPct val="115000"/>
              </a:lnSpc>
              <a:spcBef>
                <a:spcPts val="0"/>
              </a:spcBef>
              <a:spcAft>
                <a:spcPts val="0"/>
              </a:spcAft>
              <a:buClr>
                <a:schemeClr val="dk2"/>
              </a:buClr>
              <a:buSzPts val="1900"/>
              <a:buChar char="○"/>
              <a:defRPr sz="1900">
                <a:solidFill>
                  <a:schemeClr val="dk2"/>
                </a:solidFill>
              </a:defRPr>
            </a:lvl8pPr>
            <a:lvl9pPr indent="-349250" lvl="8" marL="4114800">
              <a:lnSpc>
                <a:spcPct val="115000"/>
              </a:lnSpc>
              <a:spcBef>
                <a:spcPts val="0"/>
              </a:spcBef>
              <a:spcAft>
                <a:spcPts val="0"/>
              </a:spcAft>
              <a:buClr>
                <a:schemeClr val="dk2"/>
              </a:buClr>
              <a:buSzPts val="1900"/>
              <a:buChar char="■"/>
              <a:defRPr sz="1900">
                <a:solidFill>
                  <a:schemeClr val="dk2"/>
                </a:solidFill>
              </a:defRPr>
            </a:lvl9pPr>
          </a:lstStyle>
          <a:p/>
        </p:txBody>
      </p:sp>
      <p:sp>
        <p:nvSpPr>
          <p:cNvPr id="8" name="Google Shape;8;g3f97423e258_0_48"/>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hyperlink" Target="http://drive.google.com/file/d/1k_6d_ZQyrKo0c1vaPv3u2ItCW-o4qOal/view" TargetMode="External"/><Relationship Id="rId5" Type="http://schemas.openxmlformats.org/officeDocument/2006/relationships/image" Target="../media/image4.jpg"/><Relationship Id="rId6"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8.jpg"/><Relationship Id="rId5" Type="http://schemas.openxmlformats.org/officeDocument/2006/relationships/hyperlink" Target="http://drive.google.com/file/d/1gYmikItW1aDtrlNyXuKgiwh8X4_Ji4ng/view" TargetMode="External"/><Relationship Id="rId6"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8.jpg"/><Relationship Id="rId4" Type="http://schemas.openxmlformats.org/officeDocument/2006/relationships/image" Target="../media/image2.png"/><Relationship Id="rId5" Type="http://schemas.openxmlformats.org/officeDocument/2006/relationships/hyperlink" Target="http://drive.google.com/file/d/1HAYQnFHOWINCXThMgypYqjxjuwlI5Pca/view" TargetMode="External"/><Relationship Id="rId6"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hyperlink" Target="http://drive.google.com/file/d/1vPlrgCiVI_3SxP70nPGogbxEDlaBO_8Z/view" TargetMode="External"/><Relationship Id="rId4" Type="http://schemas.openxmlformats.org/officeDocument/2006/relationships/image" Target="../media/image7.jpg"/><Relationship Id="rId5" Type="http://schemas.openxmlformats.org/officeDocument/2006/relationships/image" Target="../media/image2.png"/><Relationship Id="rId6" Type="http://schemas.openxmlformats.org/officeDocument/2006/relationships/image" Target="../media/image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hyperlink" Target="http://drive.google.com/file/d/1e6B_Y1gIOcdePYoG-o2LseRPCrXpKPx4/view" TargetMode="External"/><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hyperlink" Target="http://drive.google.com/file/d/1eJO6xy-PE8Q1Of73hn3YvYhSaSaK5W2A/view" TargetMode="External"/><Relationship Id="rId4" Type="http://schemas.openxmlformats.org/officeDocument/2006/relationships/image" Target="../media/image7.jpg"/><Relationship Id="rId5" Type="http://schemas.openxmlformats.org/officeDocument/2006/relationships/image" Target="../media/image2.png"/><Relationship Id="rId6" Type="http://schemas.openxmlformats.org/officeDocument/2006/relationships/image" Target="../media/image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8.jpg"/><Relationship Id="rId4" Type="http://schemas.openxmlformats.org/officeDocument/2006/relationships/hyperlink" Target="http://drive.google.com/file/d/1Rn28THX5r3nb1nrdx1jFwzDVZRo3QY2c/view" TargetMode="External"/><Relationship Id="rId5" Type="http://schemas.openxmlformats.org/officeDocument/2006/relationships/image" Target="../media/image1.png"/><Relationship Id="rId6"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hyperlink" Target="http://drive.google.com/file/d/1YRcMI5c4MDuk6r6RyeMoI6jfEOT-u2US/view" TargetMode="External"/><Relationship Id="rId4" Type="http://schemas.openxmlformats.org/officeDocument/2006/relationships/image" Target="../media/image1.png"/><Relationship Id="rId5"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8.jpg"/><Relationship Id="rId4" Type="http://schemas.openxmlformats.org/officeDocument/2006/relationships/hyperlink" Target="http://drive.google.com/file/d/1aKJ_lRTKUu0PYv1D6cSoWjFMhuLYhpwb/view" TargetMode="External"/><Relationship Id="rId5" Type="http://schemas.openxmlformats.org/officeDocument/2006/relationships/image" Target="../media/image1.png"/><Relationship Id="rId6"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8.jpg"/><Relationship Id="rId4" Type="http://schemas.openxmlformats.org/officeDocument/2006/relationships/hyperlink" Target="http://drive.google.com/file/d/1_zoNZEJpLkSzo7IDTchJg7TkeNZfzCOi/view" TargetMode="External"/><Relationship Id="rId5" Type="http://schemas.openxmlformats.org/officeDocument/2006/relationships/image" Target="../media/image1.png"/><Relationship Id="rId6"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8.jpg"/><Relationship Id="rId4" Type="http://schemas.openxmlformats.org/officeDocument/2006/relationships/hyperlink" Target="http://drive.google.com/file/d/1kypkGXF3BoHVg9nbVBk8aOxsKGX_ILvi/view" TargetMode="External"/><Relationship Id="rId5" Type="http://schemas.openxmlformats.org/officeDocument/2006/relationships/image" Target="../media/image1.png"/><Relationship Id="rId6"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hyperlink" Target="http://drive.google.com/file/d/1UAEya1TN7SZsxL__ekxJ_UXhpVutsoqk/view" TargetMode="External"/><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hyperlink" Target="http://drive.google.com/file/d/1asERASAq0Ij5aGJWEpL9111_QeLOrASt/view" TargetMode="External"/><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8.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hyperlink" Target="http://drive.google.com/file/d/1LXlIGcZ2KKPOg5mE7M7jAgn7FiZu1u_O/view" TargetMode="External"/><Relationship Id="rId4" Type="http://schemas.openxmlformats.org/officeDocument/2006/relationships/image" Target="../media/image1.png"/><Relationship Id="rId5" Type="http://schemas.openxmlformats.org/officeDocument/2006/relationships/image" Target="../media/image8.jpg"/><Relationship Id="rId6"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8.jpg"/><Relationship Id="rId4" Type="http://schemas.openxmlformats.org/officeDocument/2006/relationships/hyperlink" Target="http://drive.google.com/file/d/1kOLZ49vBEoLOOf1_yNiUXph-CaOD1Qr0/view" TargetMode="External"/><Relationship Id="rId5" Type="http://schemas.openxmlformats.org/officeDocument/2006/relationships/image" Target="../media/image1.png"/><Relationship Id="rId6"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hyperlink" Target="http://drive.google.com/file/d/1xNUxW6xwt-V1j-Quj8eqqzvAeTxlIw4E/view" TargetMode="External"/><Relationship Id="rId4" Type="http://schemas.openxmlformats.org/officeDocument/2006/relationships/image" Target="../media/image1.png"/><Relationship Id="rId5" Type="http://schemas.openxmlformats.org/officeDocument/2006/relationships/image" Target="../media/image8.jpg"/><Relationship Id="rId6"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hyperlink" Target="http://drive.google.com/file/d/1GRobala3cGR9tVABomyOFTD557G65Xbh/view" TargetMode="External"/><Relationship Id="rId4" Type="http://schemas.openxmlformats.org/officeDocument/2006/relationships/image" Target="../media/image1.png"/><Relationship Id="rId5" Type="http://schemas.openxmlformats.org/officeDocument/2006/relationships/image" Target="../media/image8.jpg"/><Relationship Id="rId6"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hyperlink" Target="http://drive.google.com/file/d/1jJ85M8BSvtwkU6YR8TBHJeUb5lOO9-eb/view" TargetMode="External"/><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B3A4F"/>
        </a:solidFill>
      </p:bgPr>
    </p:bg>
    <p:spTree>
      <p:nvGrpSpPr>
        <p:cNvPr id="55" name="Shape 55"/>
        <p:cNvGrpSpPr/>
        <p:nvPr/>
      </p:nvGrpSpPr>
      <p:grpSpPr>
        <a:xfrm>
          <a:off x="0" y="0"/>
          <a:ext cx="0" cy="0"/>
          <a:chOff x="0" y="0"/>
          <a:chExt cx="0" cy="0"/>
        </a:xfrm>
      </p:grpSpPr>
      <p:sp>
        <p:nvSpPr>
          <p:cNvPr id="56" name="Google Shape;56;p1"/>
          <p:cNvSpPr/>
          <p:nvPr/>
        </p:nvSpPr>
        <p:spPr>
          <a:xfrm>
            <a:off x="0" y="0"/>
            <a:ext cx="12161520" cy="109728"/>
          </a:xfrm>
          <a:prstGeom prst="rect">
            <a:avLst/>
          </a:prstGeom>
          <a:solidFill>
            <a:srgbClr val="8B3A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1"/>
          <p:cNvSpPr/>
          <p:nvPr/>
        </p:nvSpPr>
        <p:spPr>
          <a:xfrm>
            <a:off x="4467762" y="5161975"/>
            <a:ext cx="30627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64D63"/>
              </a:buClr>
              <a:buSzPts val="1300"/>
              <a:buFont typeface="Arial"/>
              <a:buNone/>
            </a:pPr>
            <a:r>
              <a:rPr b="1" i="0" lang="en-US" sz="1300" u="none" cap="none" strike="noStrike">
                <a:solidFill>
                  <a:schemeClr val="lt1"/>
                </a:solidFill>
                <a:latin typeface="Arial"/>
                <a:ea typeface="Arial"/>
                <a:cs typeface="Arial"/>
                <a:sym typeface="Arial"/>
              </a:rPr>
              <a:t>LEADERSHIP DEVELOPMENT SERIES</a:t>
            </a:r>
            <a:endParaRPr b="0" i="0" sz="1300" u="none" cap="none" strike="noStrike">
              <a:solidFill>
                <a:schemeClr val="lt1"/>
              </a:solidFill>
              <a:latin typeface="Trebuchet MS"/>
              <a:ea typeface="Trebuchet MS"/>
              <a:cs typeface="Trebuchet MS"/>
              <a:sym typeface="Trebuchet MS"/>
            </a:endParaRPr>
          </a:p>
        </p:txBody>
      </p:sp>
      <p:sp>
        <p:nvSpPr>
          <p:cNvPr id="58" name="Google Shape;58;p1"/>
          <p:cNvSpPr/>
          <p:nvPr/>
        </p:nvSpPr>
        <p:spPr>
          <a:xfrm>
            <a:off x="1677795" y="2866515"/>
            <a:ext cx="10698600" cy="1554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4400"/>
              <a:buFont typeface="Arial"/>
              <a:buNone/>
            </a:pPr>
            <a:r>
              <a:rPr b="1" i="0" lang="en-US" sz="4400" u="none" cap="none" strike="noStrike">
                <a:solidFill>
                  <a:srgbClr val="FFFFFF"/>
                </a:solidFill>
                <a:latin typeface="Arial"/>
                <a:ea typeface="Arial"/>
                <a:cs typeface="Arial"/>
                <a:sym typeface="Arial"/>
              </a:rPr>
              <a:t>Effective Sales Floor</a:t>
            </a:r>
            <a:r>
              <a:rPr lang="en-US" sz="4400">
                <a:solidFill>
                  <a:schemeClr val="dk1"/>
                </a:solidFill>
                <a:latin typeface="Trebuchet MS"/>
                <a:ea typeface="Trebuchet MS"/>
                <a:cs typeface="Trebuchet MS"/>
                <a:sym typeface="Trebuchet MS"/>
              </a:rPr>
              <a:t> </a:t>
            </a:r>
            <a:r>
              <a:rPr b="1" i="0" lang="en-US" sz="4400" u="none" cap="none" strike="noStrike">
                <a:solidFill>
                  <a:srgbClr val="FFFFFF"/>
                </a:solidFill>
                <a:latin typeface="Arial"/>
                <a:ea typeface="Arial"/>
                <a:cs typeface="Arial"/>
                <a:sym typeface="Arial"/>
              </a:rPr>
              <a:t>Leadership</a:t>
            </a:r>
            <a:endParaRPr b="0" i="0" sz="4400" u="none" cap="none" strike="noStrike">
              <a:solidFill>
                <a:schemeClr val="dk1"/>
              </a:solidFill>
              <a:latin typeface="Trebuchet MS"/>
              <a:ea typeface="Trebuchet MS"/>
              <a:cs typeface="Trebuchet MS"/>
              <a:sym typeface="Trebuchet MS"/>
            </a:endParaRPr>
          </a:p>
        </p:txBody>
      </p:sp>
      <p:sp>
        <p:nvSpPr>
          <p:cNvPr id="59" name="Google Shape;59;p1"/>
          <p:cNvSpPr/>
          <p:nvPr/>
        </p:nvSpPr>
        <p:spPr>
          <a:xfrm>
            <a:off x="4121275" y="4286075"/>
            <a:ext cx="37557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64D63"/>
              </a:buClr>
              <a:buSzPts val="2000"/>
              <a:buFont typeface="Arial"/>
              <a:buNone/>
            </a:pPr>
            <a:r>
              <a:rPr b="0" i="0" lang="en-US" sz="2000" u="none" cap="none" strike="noStrike">
                <a:solidFill>
                  <a:schemeClr val="lt1"/>
                </a:solidFill>
                <a:latin typeface="Arial"/>
                <a:ea typeface="Arial"/>
                <a:cs typeface="Arial"/>
                <a:sym typeface="Arial"/>
              </a:rPr>
              <a:t>The Complete CARE Field Guide</a:t>
            </a:r>
            <a:endParaRPr b="0" i="0" sz="2000" u="none" cap="none" strike="noStrike">
              <a:solidFill>
                <a:schemeClr val="lt1"/>
              </a:solidFill>
              <a:latin typeface="Trebuchet MS"/>
              <a:ea typeface="Trebuchet MS"/>
              <a:cs typeface="Trebuchet MS"/>
              <a:sym typeface="Trebuchet MS"/>
            </a:endParaRPr>
          </a:p>
        </p:txBody>
      </p:sp>
      <p:cxnSp>
        <p:nvCxnSpPr>
          <p:cNvPr id="60" name="Google Shape;60;p1"/>
          <p:cNvCxnSpPr/>
          <p:nvPr/>
        </p:nvCxnSpPr>
        <p:spPr>
          <a:xfrm>
            <a:off x="4398933" y="4791545"/>
            <a:ext cx="3200400" cy="0"/>
          </a:xfrm>
          <a:prstGeom prst="straightConnector1">
            <a:avLst/>
          </a:prstGeom>
          <a:noFill/>
          <a:ln cap="flat" cmpd="sng" w="38100">
            <a:solidFill>
              <a:srgbClr val="A64D63"/>
            </a:solidFill>
            <a:prstDash val="solid"/>
            <a:round/>
            <a:headEnd len="sm" w="sm" type="none"/>
            <a:tailEnd len="sm" w="sm" type="none"/>
          </a:ln>
        </p:spPr>
      </p:cxnSp>
      <p:sp>
        <p:nvSpPr>
          <p:cNvPr id="61" name="Google Shape;61;p1"/>
          <p:cNvSpPr/>
          <p:nvPr/>
        </p:nvSpPr>
        <p:spPr>
          <a:xfrm>
            <a:off x="3526260" y="6363100"/>
            <a:ext cx="51090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1600"/>
              <a:buFont typeface="Arial"/>
              <a:buNone/>
            </a:pPr>
            <a:r>
              <a:rPr b="0" i="1" lang="en-US" sz="1600" u="none" cap="none" strike="noStrike">
                <a:solidFill>
                  <a:schemeClr val="lt1"/>
                </a:solidFill>
                <a:latin typeface="Arial"/>
                <a:ea typeface="Arial"/>
                <a:cs typeface="Arial"/>
                <a:sym typeface="Arial"/>
              </a:rPr>
              <a:t>A Remarkable Experience.  Every Client.  Every time.</a:t>
            </a:r>
            <a:endParaRPr b="0" i="0" sz="1600" u="none" cap="none" strike="noStrike">
              <a:solidFill>
                <a:schemeClr val="lt1"/>
              </a:solidFill>
              <a:latin typeface="Trebuchet MS"/>
              <a:ea typeface="Trebuchet MS"/>
              <a:cs typeface="Trebuchet MS"/>
              <a:sym typeface="Trebuchet MS"/>
            </a:endParaRPr>
          </a:p>
        </p:txBody>
      </p:sp>
      <p:sp>
        <p:nvSpPr>
          <p:cNvPr id="62" name="Google Shape;62;p1"/>
          <p:cNvSpPr/>
          <p:nvPr/>
        </p:nvSpPr>
        <p:spPr>
          <a:xfrm>
            <a:off x="3895978" y="5615925"/>
            <a:ext cx="4206300" cy="502800"/>
          </a:xfrm>
          <a:prstGeom prst="roundRect">
            <a:avLst>
              <a:gd fmla="val 49091"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B3A4F"/>
              </a:buClr>
              <a:buSzPts val="1400"/>
              <a:buFont typeface="Arial"/>
              <a:buNone/>
            </a:pPr>
            <a:r>
              <a:rPr b="1" i="0" lang="en-US" sz="1400" u="none" cap="none" strike="noStrike">
                <a:solidFill>
                  <a:srgbClr val="8B3A4F"/>
                </a:solidFill>
                <a:latin typeface="Arial"/>
                <a:ea typeface="Arial"/>
                <a:cs typeface="Arial"/>
                <a:sym typeface="Arial"/>
              </a:rPr>
              <a:t>Managers  ·  Burgundy Track</a:t>
            </a:r>
            <a:endParaRPr b="0" i="0" sz="1400" u="none" cap="none" strike="noStrike">
              <a:solidFill>
                <a:srgbClr val="000000"/>
              </a:solidFill>
              <a:latin typeface="Calibri"/>
              <a:ea typeface="Calibri"/>
              <a:cs typeface="Calibri"/>
              <a:sym typeface="Calibri"/>
            </a:endParaRPr>
          </a:p>
        </p:txBody>
      </p:sp>
      <p:pic>
        <p:nvPicPr>
          <p:cNvPr id="63" name="Google Shape;63;p1" title="Picture1.png"/>
          <p:cNvPicPr preferRelativeResize="0"/>
          <p:nvPr/>
        </p:nvPicPr>
        <p:blipFill>
          <a:blip r:embed="rId3">
            <a:alphaModFix/>
          </a:blip>
          <a:stretch>
            <a:fillRect/>
          </a:stretch>
        </p:blipFill>
        <p:spPr>
          <a:xfrm>
            <a:off x="4565862" y="353475"/>
            <a:ext cx="2866525" cy="2866525"/>
          </a:xfrm>
          <a:prstGeom prst="rect">
            <a:avLst/>
          </a:prstGeom>
          <a:noFill/>
          <a:ln>
            <a:noFill/>
          </a:ln>
        </p:spPr>
      </p:pic>
      <p:pic>
        <p:nvPicPr>
          <p:cNvPr id="64" name="Google Shape;64;p1" title="caprec-2026-07-28-16-59-10.webm">
            <a:hlinkClick r:id="rId4"/>
          </p:cNvPr>
          <p:cNvPicPr preferRelativeResize="0"/>
          <p:nvPr/>
        </p:nvPicPr>
        <p:blipFill>
          <a:blip r:embed="rId5">
            <a:alphaModFix/>
          </a:blip>
          <a:stretch>
            <a:fillRect/>
          </a:stretch>
        </p:blipFill>
        <p:spPr>
          <a:xfrm>
            <a:off x="12014889" y="6656823"/>
            <a:ext cx="104513" cy="109725"/>
          </a:xfrm>
          <a:prstGeom prst="rect">
            <a:avLst/>
          </a:prstGeom>
          <a:noFill/>
          <a:ln>
            <a:noFill/>
          </a:ln>
        </p:spPr>
      </p:pic>
      <p:pic>
        <p:nvPicPr>
          <p:cNvPr id="65" name="Google Shape;65;p1" title="grok-image-6bee5419-570b-4123-8542-27b02a1104ea (1)-Picsart-BackgroundRemover (1).jpg"/>
          <p:cNvPicPr preferRelativeResize="0"/>
          <p:nvPr/>
        </p:nvPicPr>
        <p:blipFill>
          <a:blip r:embed="rId6">
            <a:alphaModFix/>
          </a:blip>
          <a:stretch>
            <a:fillRect/>
          </a:stretch>
        </p:blipFill>
        <p:spPr>
          <a:xfrm>
            <a:off x="406703" y="4909435"/>
            <a:ext cx="2729076" cy="18193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4"/>
                                        </p:tgtEl>
                                        <p:attrNameLst>
                                          <p:attrName>style.visibility</p:attrName>
                                        </p:attrNameLst>
                                      </p:cBhvr>
                                      <p:to>
                                        <p:strVal val="visible"/>
                                      </p:to>
                                    </p:set>
                                    <p:animEffect filter="fade" transition="in">
                                      <p:cBhvr>
                                        <p:cTn dur="1000"/>
                                        <p:tgtEl>
                                          <p:spTgt spid="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 name="Shape 70"/>
        <p:cNvGrpSpPr/>
        <p:nvPr/>
      </p:nvGrpSpPr>
      <p:grpSpPr>
        <a:xfrm>
          <a:off x="0" y="0"/>
          <a:ext cx="0" cy="0"/>
          <a:chOff x="0" y="0"/>
          <a:chExt cx="0" cy="0"/>
        </a:xfrm>
      </p:grpSpPr>
      <p:sp>
        <p:nvSpPr>
          <p:cNvPr id="71" name="Google Shape;71;p3"/>
          <p:cNvSpPr/>
          <p:nvPr/>
        </p:nvSpPr>
        <p:spPr>
          <a:xfrm>
            <a:off x="502920" y="256032"/>
            <a:ext cx="1115568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216"/>
              </a:buClr>
              <a:buSzPts val="2600"/>
              <a:buFont typeface="Arial"/>
              <a:buNone/>
            </a:pPr>
            <a:r>
              <a:rPr b="1" i="0" lang="en-US" sz="2600" u="none" cap="none" strike="noStrike">
                <a:solidFill>
                  <a:srgbClr val="1F1216"/>
                </a:solidFill>
                <a:latin typeface="Arial"/>
                <a:ea typeface="Arial"/>
                <a:cs typeface="Arial"/>
                <a:sym typeface="Arial"/>
              </a:rPr>
              <a:t>The CARE Way to Lead the Floor</a:t>
            </a:r>
            <a:endParaRPr b="0" i="0" sz="2600" u="none" cap="none" strike="noStrike">
              <a:solidFill>
                <a:schemeClr val="dk1"/>
              </a:solidFill>
              <a:latin typeface="Trebuchet MS"/>
              <a:ea typeface="Trebuchet MS"/>
              <a:cs typeface="Trebuchet MS"/>
              <a:sym typeface="Trebuchet MS"/>
            </a:endParaRPr>
          </a:p>
        </p:txBody>
      </p:sp>
      <p:cxnSp>
        <p:nvCxnSpPr>
          <p:cNvPr id="72" name="Google Shape;72;p3"/>
          <p:cNvCxnSpPr/>
          <p:nvPr/>
        </p:nvCxnSpPr>
        <p:spPr>
          <a:xfrm>
            <a:off x="502920" y="896112"/>
            <a:ext cx="11155680" cy="0"/>
          </a:xfrm>
          <a:prstGeom prst="straightConnector1">
            <a:avLst/>
          </a:prstGeom>
          <a:noFill/>
          <a:ln cap="flat" cmpd="sng" w="25400">
            <a:solidFill>
              <a:srgbClr val="8B3A4F"/>
            </a:solidFill>
            <a:prstDash val="solid"/>
            <a:round/>
            <a:headEnd len="sm" w="sm" type="none"/>
            <a:tailEnd len="sm" w="sm" type="none"/>
          </a:ln>
        </p:spPr>
      </p:cxnSp>
      <p:sp>
        <p:nvSpPr>
          <p:cNvPr id="73" name="Google Shape;73;p3"/>
          <p:cNvSpPr/>
          <p:nvPr/>
        </p:nvSpPr>
        <p:spPr>
          <a:xfrm>
            <a:off x="5730240" y="6537960"/>
            <a:ext cx="73140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3</a:t>
            </a:r>
            <a:endParaRPr b="0" i="0" sz="1000" u="none" cap="none" strike="noStrike">
              <a:solidFill>
                <a:schemeClr val="dk1"/>
              </a:solidFill>
              <a:latin typeface="Trebuchet MS"/>
              <a:ea typeface="Trebuchet MS"/>
              <a:cs typeface="Trebuchet MS"/>
              <a:sym typeface="Trebuchet MS"/>
            </a:endParaRPr>
          </a:p>
        </p:txBody>
      </p:sp>
      <p:sp>
        <p:nvSpPr>
          <p:cNvPr id="74" name="Google Shape;74;p3"/>
          <p:cNvSpPr/>
          <p:nvPr/>
        </p:nvSpPr>
        <p:spPr>
          <a:xfrm>
            <a:off x="502920" y="1143000"/>
            <a:ext cx="1115568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500"/>
              <a:buFont typeface="Arial"/>
              <a:buNone/>
            </a:pPr>
            <a:r>
              <a:rPr b="0" i="0" lang="en-US" sz="1500" u="none" cap="none" strike="noStrike">
                <a:solidFill>
                  <a:srgbClr val="2A1A20"/>
                </a:solidFill>
                <a:latin typeface="Arial"/>
                <a:ea typeface="Arial"/>
                <a:cs typeface="Arial"/>
                <a:sym typeface="Arial"/>
              </a:rPr>
              <a:t>Our mission is simple: provide an amazingly fun, educational, Remarkable experience that improves our Clients’ lives so completely they become our biggest advocates.</a:t>
            </a:r>
            <a:endParaRPr b="0" i="0" sz="1500" u="none" cap="none" strike="noStrike">
              <a:solidFill>
                <a:schemeClr val="dk1"/>
              </a:solidFill>
              <a:latin typeface="Trebuchet MS"/>
              <a:ea typeface="Trebuchet MS"/>
              <a:cs typeface="Trebuchet MS"/>
              <a:sym typeface="Trebuchet MS"/>
            </a:endParaRPr>
          </a:p>
        </p:txBody>
      </p:sp>
      <p:sp>
        <p:nvSpPr>
          <p:cNvPr id="75" name="Google Shape;75;p3"/>
          <p:cNvSpPr/>
          <p:nvPr/>
        </p:nvSpPr>
        <p:spPr>
          <a:xfrm>
            <a:off x="502920" y="2011680"/>
            <a:ext cx="2743200" cy="3291840"/>
          </a:xfrm>
          <a:prstGeom prst="roundRect">
            <a:avLst>
              <a:gd fmla="val 3333" name="adj"/>
            </a:avLst>
          </a:prstGeom>
          <a:solidFill>
            <a:srgbClr val="F8FAFC"/>
          </a:solidFill>
          <a:ln>
            <a:noFill/>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3"/>
          <p:cNvSpPr/>
          <p:nvPr/>
        </p:nvSpPr>
        <p:spPr>
          <a:xfrm>
            <a:off x="1371600" y="2240280"/>
            <a:ext cx="1005840" cy="1005840"/>
          </a:xfrm>
          <a:prstGeom prst="ellipse">
            <a:avLst/>
          </a:prstGeom>
          <a:solidFill>
            <a:srgbClr val="8B3A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3"/>
          <p:cNvSpPr/>
          <p:nvPr/>
        </p:nvSpPr>
        <p:spPr>
          <a:xfrm>
            <a:off x="1371600" y="2423160"/>
            <a:ext cx="100584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200"/>
              <a:buFont typeface="Arial"/>
              <a:buNone/>
            </a:pPr>
            <a:r>
              <a:rPr b="1" i="0" lang="en-US" sz="3200" u="none" cap="none" strike="noStrike">
                <a:solidFill>
                  <a:srgbClr val="FFFFFF"/>
                </a:solidFill>
                <a:latin typeface="Arial"/>
                <a:ea typeface="Arial"/>
                <a:cs typeface="Arial"/>
                <a:sym typeface="Arial"/>
              </a:rPr>
              <a:t>C</a:t>
            </a:r>
            <a:endParaRPr b="0" i="0" sz="3200" u="none" cap="none" strike="noStrike">
              <a:solidFill>
                <a:schemeClr val="dk1"/>
              </a:solidFill>
              <a:latin typeface="Trebuchet MS"/>
              <a:ea typeface="Trebuchet MS"/>
              <a:cs typeface="Trebuchet MS"/>
              <a:sym typeface="Trebuchet MS"/>
            </a:endParaRPr>
          </a:p>
        </p:txBody>
      </p:sp>
      <p:sp>
        <p:nvSpPr>
          <p:cNvPr id="78" name="Google Shape;78;p3"/>
          <p:cNvSpPr/>
          <p:nvPr/>
        </p:nvSpPr>
        <p:spPr>
          <a:xfrm>
            <a:off x="640080" y="3429000"/>
            <a:ext cx="246888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F1216"/>
              </a:buClr>
              <a:buSzPts val="1800"/>
              <a:buFont typeface="Arial"/>
              <a:buNone/>
            </a:pPr>
            <a:r>
              <a:rPr b="1" i="0" lang="en-US" sz="1800" u="none" cap="none" strike="noStrike">
                <a:solidFill>
                  <a:srgbClr val="1F1216"/>
                </a:solidFill>
                <a:latin typeface="Arial"/>
                <a:ea typeface="Arial"/>
                <a:cs typeface="Arial"/>
                <a:sym typeface="Arial"/>
              </a:rPr>
              <a:t>Connect</a:t>
            </a:r>
            <a:endParaRPr b="0" i="0" sz="1800" u="none" cap="none" strike="noStrike">
              <a:solidFill>
                <a:schemeClr val="dk1"/>
              </a:solidFill>
              <a:latin typeface="Trebuchet MS"/>
              <a:ea typeface="Trebuchet MS"/>
              <a:cs typeface="Trebuchet MS"/>
              <a:sym typeface="Trebuchet MS"/>
            </a:endParaRPr>
          </a:p>
        </p:txBody>
      </p:sp>
      <p:sp>
        <p:nvSpPr>
          <p:cNvPr id="79" name="Google Shape;79;p3"/>
          <p:cNvSpPr/>
          <p:nvPr/>
        </p:nvSpPr>
        <p:spPr>
          <a:xfrm>
            <a:off x="685800" y="3886200"/>
            <a:ext cx="2377440" cy="11887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4748B"/>
              </a:buClr>
              <a:buSzPts val="1300"/>
              <a:buFont typeface="Arial"/>
              <a:buNone/>
            </a:pPr>
            <a:r>
              <a:rPr b="0" i="0" lang="en-US" sz="1300" u="none" cap="none" strike="noStrike">
                <a:solidFill>
                  <a:srgbClr val="64748B"/>
                </a:solidFill>
                <a:latin typeface="Arial"/>
                <a:ea typeface="Arial"/>
                <a:cs typeface="Arial"/>
                <a:sym typeface="Arial"/>
              </a:rPr>
              <a:t>Greet every Client, keep them warm, and hand them to their Specialist with confidence.</a:t>
            </a:r>
            <a:endParaRPr b="0" i="0" sz="1300" u="none" cap="none" strike="noStrike">
              <a:solidFill>
                <a:schemeClr val="dk1"/>
              </a:solidFill>
              <a:latin typeface="Trebuchet MS"/>
              <a:ea typeface="Trebuchet MS"/>
              <a:cs typeface="Trebuchet MS"/>
              <a:sym typeface="Trebuchet MS"/>
            </a:endParaRPr>
          </a:p>
        </p:txBody>
      </p:sp>
      <p:sp>
        <p:nvSpPr>
          <p:cNvPr id="80" name="Google Shape;80;p3"/>
          <p:cNvSpPr/>
          <p:nvPr/>
        </p:nvSpPr>
        <p:spPr>
          <a:xfrm>
            <a:off x="3383280" y="2011680"/>
            <a:ext cx="2743200" cy="3291840"/>
          </a:xfrm>
          <a:prstGeom prst="roundRect">
            <a:avLst>
              <a:gd fmla="val 3333" name="adj"/>
            </a:avLst>
          </a:prstGeom>
          <a:solidFill>
            <a:srgbClr val="F8FAFC"/>
          </a:solidFill>
          <a:ln>
            <a:noFill/>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3"/>
          <p:cNvSpPr/>
          <p:nvPr/>
        </p:nvSpPr>
        <p:spPr>
          <a:xfrm>
            <a:off x="4251960" y="2240280"/>
            <a:ext cx="1005840" cy="1005840"/>
          </a:xfrm>
          <a:prstGeom prst="ellipse">
            <a:avLst/>
          </a:prstGeom>
          <a:solidFill>
            <a:srgbClr val="8B3A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3"/>
          <p:cNvSpPr/>
          <p:nvPr/>
        </p:nvSpPr>
        <p:spPr>
          <a:xfrm>
            <a:off x="4251960" y="2423160"/>
            <a:ext cx="100584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200"/>
              <a:buFont typeface="Arial"/>
              <a:buNone/>
            </a:pPr>
            <a:r>
              <a:rPr b="1" i="0" lang="en-US" sz="3200" u="none" cap="none" strike="noStrike">
                <a:solidFill>
                  <a:srgbClr val="FFFFFF"/>
                </a:solidFill>
                <a:latin typeface="Arial"/>
                <a:ea typeface="Arial"/>
                <a:cs typeface="Arial"/>
                <a:sym typeface="Arial"/>
              </a:rPr>
              <a:t>A</a:t>
            </a:r>
            <a:endParaRPr b="0" i="0" sz="3200" u="none" cap="none" strike="noStrike">
              <a:solidFill>
                <a:schemeClr val="dk1"/>
              </a:solidFill>
              <a:latin typeface="Trebuchet MS"/>
              <a:ea typeface="Trebuchet MS"/>
              <a:cs typeface="Trebuchet MS"/>
              <a:sym typeface="Trebuchet MS"/>
            </a:endParaRPr>
          </a:p>
        </p:txBody>
      </p:sp>
      <p:sp>
        <p:nvSpPr>
          <p:cNvPr id="83" name="Google Shape;83;p3"/>
          <p:cNvSpPr/>
          <p:nvPr/>
        </p:nvSpPr>
        <p:spPr>
          <a:xfrm>
            <a:off x="3520440" y="3429000"/>
            <a:ext cx="246888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F1216"/>
              </a:buClr>
              <a:buSzPts val="1800"/>
              <a:buFont typeface="Arial"/>
              <a:buNone/>
            </a:pPr>
            <a:r>
              <a:rPr b="1" i="0" lang="en-US" sz="1800" u="none" cap="none" strike="noStrike">
                <a:solidFill>
                  <a:srgbClr val="1F1216"/>
                </a:solidFill>
                <a:latin typeface="Arial"/>
                <a:ea typeface="Arial"/>
                <a:cs typeface="Arial"/>
                <a:sym typeface="Arial"/>
              </a:rPr>
              <a:t>Assess</a:t>
            </a:r>
            <a:endParaRPr b="0" i="0" sz="1800" u="none" cap="none" strike="noStrike">
              <a:solidFill>
                <a:schemeClr val="dk1"/>
              </a:solidFill>
              <a:latin typeface="Trebuchet MS"/>
              <a:ea typeface="Trebuchet MS"/>
              <a:cs typeface="Trebuchet MS"/>
              <a:sym typeface="Trebuchet MS"/>
            </a:endParaRPr>
          </a:p>
        </p:txBody>
      </p:sp>
      <p:sp>
        <p:nvSpPr>
          <p:cNvPr id="84" name="Google Shape;84;p3"/>
          <p:cNvSpPr/>
          <p:nvPr/>
        </p:nvSpPr>
        <p:spPr>
          <a:xfrm>
            <a:off x="3566160" y="3886200"/>
            <a:ext cx="2377440" cy="11887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4748B"/>
              </a:buClr>
              <a:buSzPts val="1300"/>
              <a:buFont typeface="Arial"/>
              <a:buNone/>
            </a:pPr>
            <a:r>
              <a:rPr b="0" i="0" lang="en-US" sz="1300" u="none" cap="none" strike="noStrike">
                <a:solidFill>
                  <a:srgbClr val="64748B"/>
                </a:solidFill>
                <a:latin typeface="Arial"/>
                <a:ea typeface="Arial"/>
                <a:cs typeface="Arial"/>
                <a:sym typeface="Arial"/>
              </a:rPr>
              <a:t>Read every demo without stopping. Protect the green flags, answer the red flags.</a:t>
            </a:r>
            <a:endParaRPr b="0" i="0" sz="1300" u="none" cap="none" strike="noStrike">
              <a:solidFill>
                <a:schemeClr val="dk1"/>
              </a:solidFill>
              <a:latin typeface="Trebuchet MS"/>
              <a:ea typeface="Trebuchet MS"/>
              <a:cs typeface="Trebuchet MS"/>
              <a:sym typeface="Trebuchet MS"/>
            </a:endParaRPr>
          </a:p>
        </p:txBody>
      </p:sp>
      <p:sp>
        <p:nvSpPr>
          <p:cNvPr id="85" name="Google Shape;85;p3"/>
          <p:cNvSpPr/>
          <p:nvPr/>
        </p:nvSpPr>
        <p:spPr>
          <a:xfrm>
            <a:off x="6263640" y="2011680"/>
            <a:ext cx="2743200" cy="3291840"/>
          </a:xfrm>
          <a:prstGeom prst="roundRect">
            <a:avLst>
              <a:gd fmla="val 3333" name="adj"/>
            </a:avLst>
          </a:prstGeom>
          <a:solidFill>
            <a:srgbClr val="F8FAFC"/>
          </a:solidFill>
          <a:ln>
            <a:noFill/>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3"/>
          <p:cNvSpPr/>
          <p:nvPr/>
        </p:nvSpPr>
        <p:spPr>
          <a:xfrm>
            <a:off x="7132320" y="2240280"/>
            <a:ext cx="1005840" cy="1005840"/>
          </a:xfrm>
          <a:prstGeom prst="ellipse">
            <a:avLst/>
          </a:prstGeom>
          <a:solidFill>
            <a:srgbClr val="8B3A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3"/>
          <p:cNvSpPr/>
          <p:nvPr/>
        </p:nvSpPr>
        <p:spPr>
          <a:xfrm>
            <a:off x="7132320" y="2423160"/>
            <a:ext cx="100584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200"/>
              <a:buFont typeface="Arial"/>
              <a:buNone/>
            </a:pPr>
            <a:r>
              <a:rPr b="1" i="0" lang="en-US" sz="3200" u="none" cap="none" strike="noStrike">
                <a:solidFill>
                  <a:srgbClr val="FFFFFF"/>
                </a:solidFill>
                <a:latin typeface="Arial"/>
                <a:ea typeface="Arial"/>
                <a:cs typeface="Arial"/>
                <a:sym typeface="Arial"/>
              </a:rPr>
              <a:t>R</a:t>
            </a:r>
            <a:endParaRPr b="0" i="0" sz="3200" u="none" cap="none" strike="noStrike">
              <a:solidFill>
                <a:schemeClr val="dk1"/>
              </a:solidFill>
              <a:latin typeface="Trebuchet MS"/>
              <a:ea typeface="Trebuchet MS"/>
              <a:cs typeface="Trebuchet MS"/>
              <a:sym typeface="Trebuchet MS"/>
            </a:endParaRPr>
          </a:p>
        </p:txBody>
      </p:sp>
      <p:sp>
        <p:nvSpPr>
          <p:cNvPr id="88" name="Google Shape;88;p3"/>
          <p:cNvSpPr/>
          <p:nvPr/>
        </p:nvSpPr>
        <p:spPr>
          <a:xfrm>
            <a:off x="6400800" y="3429000"/>
            <a:ext cx="246888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F1216"/>
              </a:buClr>
              <a:buSzPts val="1800"/>
              <a:buFont typeface="Arial"/>
              <a:buNone/>
            </a:pPr>
            <a:r>
              <a:rPr b="1" i="0" lang="en-US" sz="1800" u="none" cap="none" strike="noStrike">
                <a:solidFill>
                  <a:srgbClr val="1F1216"/>
                </a:solidFill>
                <a:latin typeface="Arial"/>
                <a:ea typeface="Arial"/>
                <a:cs typeface="Arial"/>
                <a:sym typeface="Arial"/>
              </a:rPr>
              <a:t>Respond</a:t>
            </a:r>
            <a:endParaRPr b="0" i="0" sz="1800" u="none" cap="none" strike="noStrike">
              <a:solidFill>
                <a:schemeClr val="dk1"/>
              </a:solidFill>
              <a:latin typeface="Trebuchet MS"/>
              <a:ea typeface="Trebuchet MS"/>
              <a:cs typeface="Trebuchet MS"/>
              <a:sym typeface="Trebuchet MS"/>
            </a:endParaRPr>
          </a:p>
        </p:txBody>
      </p:sp>
      <p:sp>
        <p:nvSpPr>
          <p:cNvPr id="89" name="Google Shape;89;p3"/>
          <p:cNvSpPr/>
          <p:nvPr/>
        </p:nvSpPr>
        <p:spPr>
          <a:xfrm>
            <a:off x="6446520" y="3886200"/>
            <a:ext cx="2377440" cy="11887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4748B"/>
              </a:buClr>
              <a:buSzPts val="1300"/>
              <a:buFont typeface="Arial"/>
              <a:buNone/>
            </a:pPr>
            <a:r>
              <a:rPr b="0" i="0" lang="en-US" sz="1300" u="none" cap="none" strike="noStrike">
                <a:solidFill>
                  <a:srgbClr val="64748B"/>
                </a:solidFill>
                <a:latin typeface="Arial"/>
                <a:ea typeface="Arial"/>
                <a:cs typeface="Arial"/>
                <a:sym typeface="Arial"/>
              </a:rPr>
              <a:t>Step in to save a red flag or amplify a WOW, then step back. Never take over.</a:t>
            </a:r>
            <a:endParaRPr b="0" i="0" sz="1300" u="none" cap="none" strike="noStrike">
              <a:solidFill>
                <a:schemeClr val="dk1"/>
              </a:solidFill>
              <a:latin typeface="Trebuchet MS"/>
              <a:ea typeface="Trebuchet MS"/>
              <a:cs typeface="Trebuchet MS"/>
              <a:sym typeface="Trebuchet MS"/>
            </a:endParaRPr>
          </a:p>
        </p:txBody>
      </p:sp>
      <p:sp>
        <p:nvSpPr>
          <p:cNvPr id="90" name="Google Shape;90;p3"/>
          <p:cNvSpPr/>
          <p:nvPr/>
        </p:nvSpPr>
        <p:spPr>
          <a:xfrm>
            <a:off x="9144000" y="2011680"/>
            <a:ext cx="2743200" cy="3291840"/>
          </a:xfrm>
          <a:prstGeom prst="roundRect">
            <a:avLst>
              <a:gd fmla="val 3333" name="adj"/>
            </a:avLst>
          </a:prstGeom>
          <a:solidFill>
            <a:srgbClr val="F8FAFC"/>
          </a:solidFill>
          <a:ln>
            <a:noFill/>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3"/>
          <p:cNvSpPr/>
          <p:nvPr/>
        </p:nvSpPr>
        <p:spPr>
          <a:xfrm>
            <a:off x="10012680" y="2240280"/>
            <a:ext cx="1005840" cy="1005840"/>
          </a:xfrm>
          <a:prstGeom prst="ellipse">
            <a:avLst/>
          </a:prstGeom>
          <a:solidFill>
            <a:srgbClr val="8B3A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3"/>
          <p:cNvSpPr/>
          <p:nvPr/>
        </p:nvSpPr>
        <p:spPr>
          <a:xfrm>
            <a:off x="10012680" y="2423160"/>
            <a:ext cx="100584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200"/>
              <a:buFont typeface="Arial"/>
              <a:buNone/>
            </a:pPr>
            <a:r>
              <a:rPr b="1" i="0" lang="en-US" sz="3200" u="none" cap="none" strike="noStrike">
                <a:solidFill>
                  <a:srgbClr val="FFFFFF"/>
                </a:solidFill>
                <a:latin typeface="Arial"/>
                <a:ea typeface="Arial"/>
                <a:cs typeface="Arial"/>
                <a:sym typeface="Arial"/>
              </a:rPr>
              <a:t>E</a:t>
            </a:r>
            <a:endParaRPr b="0" i="0" sz="3200" u="none" cap="none" strike="noStrike">
              <a:solidFill>
                <a:schemeClr val="dk1"/>
              </a:solidFill>
              <a:latin typeface="Trebuchet MS"/>
              <a:ea typeface="Trebuchet MS"/>
              <a:cs typeface="Trebuchet MS"/>
              <a:sym typeface="Trebuchet MS"/>
            </a:endParaRPr>
          </a:p>
        </p:txBody>
      </p:sp>
      <p:sp>
        <p:nvSpPr>
          <p:cNvPr id="93" name="Google Shape;93;p3"/>
          <p:cNvSpPr/>
          <p:nvPr/>
        </p:nvSpPr>
        <p:spPr>
          <a:xfrm>
            <a:off x="9281160" y="3429000"/>
            <a:ext cx="246888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F1216"/>
              </a:buClr>
              <a:buSzPts val="1800"/>
              <a:buFont typeface="Arial"/>
              <a:buNone/>
            </a:pPr>
            <a:r>
              <a:rPr b="1" i="0" lang="en-US" sz="1800" u="none" cap="none" strike="noStrike">
                <a:solidFill>
                  <a:srgbClr val="1F1216"/>
                </a:solidFill>
                <a:latin typeface="Arial"/>
                <a:ea typeface="Arial"/>
                <a:cs typeface="Arial"/>
                <a:sym typeface="Arial"/>
              </a:rPr>
              <a:t>Elevate</a:t>
            </a:r>
            <a:endParaRPr b="0" i="0" sz="1800" u="none" cap="none" strike="noStrike">
              <a:solidFill>
                <a:schemeClr val="dk1"/>
              </a:solidFill>
              <a:latin typeface="Trebuchet MS"/>
              <a:ea typeface="Trebuchet MS"/>
              <a:cs typeface="Trebuchet MS"/>
              <a:sym typeface="Trebuchet MS"/>
            </a:endParaRPr>
          </a:p>
        </p:txBody>
      </p:sp>
      <p:sp>
        <p:nvSpPr>
          <p:cNvPr id="94" name="Google Shape;94;p3"/>
          <p:cNvSpPr/>
          <p:nvPr/>
        </p:nvSpPr>
        <p:spPr>
          <a:xfrm>
            <a:off x="9326880" y="3886200"/>
            <a:ext cx="2377440" cy="11887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4748B"/>
              </a:buClr>
              <a:buSzPts val="1300"/>
              <a:buFont typeface="Arial"/>
              <a:buNone/>
            </a:pPr>
            <a:r>
              <a:rPr b="0" i="0" lang="en-US" sz="1300" u="none" cap="none" strike="noStrike">
                <a:solidFill>
                  <a:srgbClr val="64748B"/>
                </a:solidFill>
                <a:latin typeface="Arial"/>
                <a:ea typeface="Arial"/>
                <a:cs typeface="Arial"/>
                <a:sym typeface="Arial"/>
              </a:rPr>
              <a:t>Coach what you saw — in the moment, in the backroom, and in the weekly 1:1.</a:t>
            </a:r>
            <a:endParaRPr b="0" i="0" sz="1300" u="none" cap="none" strike="noStrike">
              <a:solidFill>
                <a:schemeClr val="dk1"/>
              </a:solidFill>
              <a:latin typeface="Trebuchet MS"/>
              <a:ea typeface="Trebuchet MS"/>
              <a:cs typeface="Trebuchet MS"/>
              <a:sym typeface="Trebuchet MS"/>
            </a:endParaRPr>
          </a:p>
        </p:txBody>
      </p:sp>
      <p:pic>
        <p:nvPicPr>
          <p:cNvPr id="95" name="Google Shape;95;p3" title="Picture1.png"/>
          <p:cNvPicPr preferRelativeResize="0"/>
          <p:nvPr/>
        </p:nvPicPr>
        <p:blipFill>
          <a:blip r:embed="rId3">
            <a:alphaModFix/>
          </a:blip>
          <a:stretch>
            <a:fillRect/>
          </a:stretch>
        </p:blipFill>
        <p:spPr>
          <a:xfrm>
            <a:off x="11186625" y="5943600"/>
            <a:ext cx="822950" cy="822950"/>
          </a:xfrm>
          <a:prstGeom prst="rect">
            <a:avLst/>
          </a:prstGeom>
          <a:noFill/>
          <a:ln>
            <a:noFill/>
          </a:ln>
        </p:spPr>
      </p:pic>
      <p:pic>
        <p:nvPicPr>
          <p:cNvPr id="96" name="Google Shape;96;p3" title="grok-image-6bee5419-570b-4123-8542-27b02a1104ea.jpg"/>
          <p:cNvPicPr preferRelativeResize="0"/>
          <p:nvPr/>
        </p:nvPicPr>
        <p:blipFill>
          <a:blip r:embed="rId4">
            <a:alphaModFix/>
          </a:blip>
          <a:stretch>
            <a:fillRect/>
          </a:stretch>
        </p:blipFill>
        <p:spPr>
          <a:xfrm>
            <a:off x="77450" y="5943600"/>
            <a:ext cx="1234419" cy="822950"/>
          </a:xfrm>
          <a:prstGeom prst="rect">
            <a:avLst/>
          </a:prstGeom>
          <a:noFill/>
          <a:ln>
            <a:noFill/>
          </a:ln>
        </p:spPr>
      </p:pic>
      <p:pic>
        <p:nvPicPr>
          <p:cNvPr id="97" name="Google Shape;97;p3" title="caprec-2026-07-28-17-06-28.webm">
            <a:hlinkClick r:id="rId5"/>
          </p:cNvPr>
          <p:cNvPicPr preferRelativeResize="0"/>
          <p:nvPr/>
        </p:nvPicPr>
        <p:blipFill>
          <a:blip r:embed="rId6">
            <a:alphaModFix/>
          </a:blip>
          <a:stretch>
            <a:fillRect/>
          </a:stretch>
        </p:blipFill>
        <p:spPr>
          <a:xfrm>
            <a:off x="11072700" y="6647675"/>
            <a:ext cx="9144" cy="91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97"/>
                                        </p:tgtEl>
                                        <p:attrNameLst>
                                          <p:attrName>style.visibility</p:attrName>
                                        </p:attrNameLst>
                                      </p:cBhvr>
                                      <p:to>
                                        <p:strVal val="visible"/>
                                      </p:to>
                                    </p:set>
                                    <p:animEffect filter="fade" transition="in">
                                      <p:cBhvr>
                                        <p:cTn dur="1000"/>
                                        <p:tgtEl>
                                          <p:spTgt spid="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2" name="Shape 102"/>
        <p:cNvGrpSpPr/>
        <p:nvPr/>
      </p:nvGrpSpPr>
      <p:grpSpPr>
        <a:xfrm>
          <a:off x="0" y="0"/>
          <a:ext cx="0" cy="0"/>
          <a:chOff x="0" y="0"/>
          <a:chExt cx="0" cy="0"/>
        </a:xfrm>
      </p:grpSpPr>
      <p:sp>
        <p:nvSpPr>
          <p:cNvPr id="103" name="Google Shape;103;p4"/>
          <p:cNvSpPr/>
          <p:nvPr/>
        </p:nvSpPr>
        <p:spPr>
          <a:xfrm>
            <a:off x="502920" y="256032"/>
            <a:ext cx="1115568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216"/>
              </a:buClr>
              <a:buSzPts val="2600"/>
              <a:buFont typeface="Arial"/>
              <a:buNone/>
            </a:pPr>
            <a:r>
              <a:rPr b="1" i="0" lang="en-US" sz="2600" u="none" cap="none" strike="noStrike">
                <a:solidFill>
                  <a:srgbClr val="1F1216"/>
                </a:solidFill>
                <a:latin typeface="Arial"/>
                <a:ea typeface="Arial"/>
                <a:cs typeface="Arial"/>
                <a:sym typeface="Arial"/>
              </a:rPr>
              <a:t>First, Assign the Day’s Floor Leader</a:t>
            </a:r>
            <a:endParaRPr b="0" i="0" sz="2600" u="none" cap="none" strike="noStrike">
              <a:solidFill>
                <a:schemeClr val="dk1"/>
              </a:solidFill>
              <a:latin typeface="Trebuchet MS"/>
              <a:ea typeface="Trebuchet MS"/>
              <a:cs typeface="Trebuchet MS"/>
              <a:sym typeface="Trebuchet MS"/>
            </a:endParaRPr>
          </a:p>
        </p:txBody>
      </p:sp>
      <p:cxnSp>
        <p:nvCxnSpPr>
          <p:cNvPr id="104" name="Google Shape;104;p4"/>
          <p:cNvCxnSpPr/>
          <p:nvPr/>
        </p:nvCxnSpPr>
        <p:spPr>
          <a:xfrm>
            <a:off x="502920" y="896112"/>
            <a:ext cx="11155680" cy="0"/>
          </a:xfrm>
          <a:prstGeom prst="straightConnector1">
            <a:avLst/>
          </a:prstGeom>
          <a:noFill/>
          <a:ln cap="flat" cmpd="sng" w="25400">
            <a:solidFill>
              <a:srgbClr val="8B3A4F"/>
            </a:solidFill>
            <a:prstDash val="solid"/>
            <a:round/>
            <a:headEnd len="sm" w="sm" type="none"/>
            <a:tailEnd len="sm" w="sm" type="none"/>
          </a:ln>
        </p:spPr>
      </p:cxnSp>
      <p:sp>
        <p:nvSpPr>
          <p:cNvPr id="105" name="Google Shape;105;p4"/>
          <p:cNvSpPr/>
          <p:nvPr/>
        </p:nvSpPr>
        <p:spPr>
          <a:xfrm>
            <a:off x="5730240" y="6537960"/>
            <a:ext cx="73140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4</a:t>
            </a:r>
            <a:endParaRPr b="0" i="0" sz="1000" u="none" cap="none" strike="noStrike">
              <a:solidFill>
                <a:schemeClr val="dk1"/>
              </a:solidFill>
              <a:latin typeface="Trebuchet MS"/>
              <a:ea typeface="Trebuchet MS"/>
              <a:cs typeface="Trebuchet MS"/>
              <a:sym typeface="Trebuchet MS"/>
            </a:endParaRPr>
          </a:p>
        </p:txBody>
      </p:sp>
      <p:sp>
        <p:nvSpPr>
          <p:cNvPr id="106" name="Google Shape;106;p4"/>
          <p:cNvSpPr/>
          <p:nvPr/>
        </p:nvSpPr>
        <p:spPr>
          <a:xfrm>
            <a:off x="502920" y="1188720"/>
            <a:ext cx="11155680" cy="1188720"/>
          </a:xfrm>
          <a:prstGeom prst="roundRect">
            <a:avLst>
              <a:gd fmla="val 7692" name="adj"/>
            </a:avLst>
          </a:prstGeom>
          <a:solidFill>
            <a:srgbClr val="F5E6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4"/>
          <p:cNvSpPr/>
          <p:nvPr/>
        </p:nvSpPr>
        <p:spPr>
          <a:xfrm>
            <a:off x="777240" y="1417320"/>
            <a:ext cx="106070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216"/>
              </a:buClr>
              <a:buSzPts val="1800"/>
              <a:buFont typeface="Arial"/>
              <a:buNone/>
            </a:pPr>
            <a:r>
              <a:rPr b="1" i="0" lang="en-US" sz="1800" u="none" cap="none" strike="noStrike">
                <a:solidFill>
                  <a:srgbClr val="1F1216"/>
                </a:solidFill>
                <a:latin typeface="Arial"/>
                <a:ea typeface="Arial"/>
                <a:cs typeface="Arial"/>
                <a:sym typeface="Arial"/>
              </a:rPr>
              <a:t>The floor is never unowned. At all times there must be one designated Sales Floor Leader.</a:t>
            </a:r>
            <a:endParaRPr b="0" i="0" sz="1800" u="none" cap="none" strike="noStrike">
              <a:solidFill>
                <a:schemeClr val="dk1"/>
              </a:solidFill>
              <a:latin typeface="Trebuchet MS"/>
              <a:ea typeface="Trebuchet MS"/>
              <a:cs typeface="Trebuchet MS"/>
              <a:sym typeface="Trebuchet MS"/>
            </a:endParaRPr>
          </a:p>
        </p:txBody>
      </p:sp>
      <p:sp>
        <p:nvSpPr>
          <p:cNvPr id="108" name="Google Shape;108;p4"/>
          <p:cNvSpPr/>
          <p:nvPr/>
        </p:nvSpPr>
        <p:spPr>
          <a:xfrm>
            <a:off x="777240" y="1874520"/>
            <a:ext cx="1060704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400"/>
              <a:buFont typeface="Arial"/>
              <a:buNone/>
            </a:pPr>
            <a:r>
              <a:rPr b="0" i="0" lang="en-US" sz="1400" u="none" cap="none" strike="noStrike">
                <a:solidFill>
                  <a:srgbClr val="2A1A20"/>
                </a:solidFill>
                <a:latin typeface="Arial"/>
                <a:ea typeface="Arial"/>
                <a:cs typeface="Arial"/>
                <a:sym typeface="Arial"/>
              </a:rPr>
              <a:t>Ideally the Store Manager. If unavailable, an experienced Assistant Manager or senior Arch Support Specialist steps in.</a:t>
            </a:r>
            <a:endParaRPr b="0" i="0" sz="1400" u="none" cap="none" strike="noStrike">
              <a:solidFill>
                <a:schemeClr val="dk1"/>
              </a:solidFill>
              <a:latin typeface="Trebuchet MS"/>
              <a:ea typeface="Trebuchet MS"/>
              <a:cs typeface="Trebuchet MS"/>
              <a:sym typeface="Trebuchet MS"/>
            </a:endParaRPr>
          </a:p>
        </p:txBody>
      </p:sp>
      <p:sp>
        <p:nvSpPr>
          <p:cNvPr id="109" name="Google Shape;109;p4"/>
          <p:cNvSpPr/>
          <p:nvPr/>
        </p:nvSpPr>
        <p:spPr>
          <a:xfrm>
            <a:off x="502920" y="2743200"/>
            <a:ext cx="3611880" cy="2926080"/>
          </a:xfrm>
          <a:prstGeom prst="roundRect">
            <a:avLst>
              <a:gd fmla="val 3125" name="adj"/>
            </a:avLst>
          </a:prstGeom>
          <a:solidFill>
            <a:srgbClr val="F8FAFC"/>
          </a:solidFill>
          <a:ln>
            <a:noFill/>
          </a:ln>
          <a:effectLst>
            <a:outerShdw blurRad="76200" rotWithShape="0" algn="bl" dir="8100000" dist="25400">
              <a:srgbClr val="000000">
                <a:alpha val="705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4"/>
          <p:cNvSpPr/>
          <p:nvPr/>
        </p:nvSpPr>
        <p:spPr>
          <a:xfrm>
            <a:off x="502920" y="2743200"/>
            <a:ext cx="109728" cy="2926080"/>
          </a:xfrm>
          <a:prstGeom prst="rect">
            <a:avLst/>
          </a:prstGeom>
          <a:solidFill>
            <a:srgbClr val="8B3A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4"/>
          <p:cNvSpPr/>
          <p:nvPr/>
        </p:nvSpPr>
        <p:spPr>
          <a:xfrm>
            <a:off x="822960" y="2971800"/>
            <a:ext cx="5486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3A4F"/>
              </a:buClr>
              <a:buSzPts val="2400"/>
              <a:buFont typeface="Arial"/>
              <a:buNone/>
            </a:pPr>
            <a:r>
              <a:rPr b="1" i="0" lang="en-US" sz="2400" u="none" cap="none" strike="noStrike">
                <a:solidFill>
                  <a:srgbClr val="8B3A4F"/>
                </a:solidFill>
                <a:latin typeface="Arial"/>
                <a:ea typeface="Arial"/>
                <a:cs typeface="Arial"/>
                <a:sym typeface="Arial"/>
              </a:rPr>
              <a:t>1</a:t>
            </a:r>
            <a:endParaRPr b="0" i="0" sz="2400" u="none" cap="none" strike="noStrike">
              <a:solidFill>
                <a:schemeClr val="dk1"/>
              </a:solidFill>
              <a:latin typeface="Trebuchet MS"/>
              <a:ea typeface="Trebuchet MS"/>
              <a:cs typeface="Trebuchet MS"/>
              <a:sym typeface="Trebuchet MS"/>
            </a:endParaRPr>
          </a:p>
        </p:txBody>
      </p:sp>
      <p:sp>
        <p:nvSpPr>
          <p:cNvPr id="112" name="Google Shape;112;p4"/>
          <p:cNvSpPr/>
          <p:nvPr/>
        </p:nvSpPr>
        <p:spPr>
          <a:xfrm>
            <a:off x="822960" y="3566160"/>
            <a:ext cx="301752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216"/>
              </a:buClr>
              <a:buSzPts val="1600"/>
              <a:buFont typeface="Arial"/>
              <a:buNone/>
            </a:pPr>
            <a:r>
              <a:rPr b="1" i="0" lang="en-US" sz="1600" u="none" cap="none" strike="noStrike">
                <a:solidFill>
                  <a:srgbClr val="1F1216"/>
                </a:solidFill>
                <a:latin typeface="Arial"/>
                <a:ea typeface="Arial"/>
                <a:cs typeface="Arial"/>
                <a:sym typeface="Arial"/>
              </a:rPr>
              <a:t>Assign Out Loud</a:t>
            </a:r>
            <a:endParaRPr b="0" i="0" sz="1600" u="none" cap="none" strike="noStrike">
              <a:solidFill>
                <a:schemeClr val="dk1"/>
              </a:solidFill>
              <a:latin typeface="Trebuchet MS"/>
              <a:ea typeface="Trebuchet MS"/>
              <a:cs typeface="Trebuchet MS"/>
              <a:sym typeface="Trebuchet MS"/>
            </a:endParaRPr>
          </a:p>
        </p:txBody>
      </p:sp>
      <p:sp>
        <p:nvSpPr>
          <p:cNvPr id="113" name="Google Shape;113;p4"/>
          <p:cNvSpPr/>
          <p:nvPr/>
        </p:nvSpPr>
        <p:spPr>
          <a:xfrm>
            <a:off x="822960" y="4114800"/>
            <a:ext cx="3017520" cy="12801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400"/>
              <a:buFont typeface="Arial"/>
              <a:buNone/>
            </a:pPr>
            <a:r>
              <a:rPr b="0" i="0" lang="en-US" sz="1400" u="none" cap="none" strike="noStrike">
                <a:solidFill>
                  <a:srgbClr val="64748B"/>
                </a:solidFill>
                <a:latin typeface="Arial"/>
                <a:ea typeface="Arial"/>
                <a:cs typeface="Arial"/>
                <a:sym typeface="Arial"/>
              </a:rPr>
              <a:t>Name the Floor Leader in the daily opening huddle so the whole team hears it.</a:t>
            </a:r>
            <a:endParaRPr b="0" i="0" sz="1400" u="none" cap="none" strike="noStrike">
              <a:solidFill>
                <a:schemeClr val="dk1"/>
              </a:solidFill>
              <a:latin typeface="Trebuchet MS"/>
              <a:ea typeface="Trebuchet MS"/>
              <a:cs typeface="Trebuchet MS"/>
              <a:sym typeface="Trebuchet MS"/>
            </a:endParaRPr>
          </a:p>
        </p:txBody>
      </p:sp>
      <p:sp>
        <p:nvSpPr>
          <p:cNvPr id="114" name="Google Shape;114;p4"/>
          <p:cNvSpPr/>
          <p:nvPr/>
        </p:nvSpPr>
        <p:spPr>
          <a:xfrm>
            <a:off x="4297680" y="2743200"/>
            <a:ext cx="3611880" cy="2926080"/>
          </a:xfrm>
          <a:prstGeom prst="roundRect">
            <a:avLst>
              <a:gd fmla="val 3125" name="adj"/>
            </a:avLst>
          </a:prstGeom>
          <a:solidFill>
            <a:srgbClr val="F8FAFC"/>
          </a:solidFill>
          <a:ln>
            <a:noFill/>
          </a:ln>
          <a:effectLst>
            <a:outerShdw blurRad="76200" rotWithShape="0" algn="bl" dir="8100000" dist="25400">
              <a:srgbClr val="000000">
                <a:alpha val="705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4"/>
          <p:cNvSpPr/>
          <p:nvPr/>
        </p:nvSpPr>
        <p:spPr>
          <a:xfrm>
            <a:off x="4297680" y="2743200"/>
            <a:ext cx="109728" cy="2926080"/>
          </a:xfrm>
          <a:prstGeom prst="rect">
            <a:avLst/>
          </a:prstGeom>
          <a:solidFill>
            <a:srgbClr val="8B3A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4"/>
          <p:cNvSpPr/>
          <p:nvPr/>
        </p:nvSpPr>
        <p:spPr>
          <a:xfrm>
            <a:off x="4617720" y="2971800"/>
            <a:ext cx="5486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3A4F"/>
              </a:buClr>
              <a:buSzPts val="2400"/>
              <a:buFont typeface="Arial"/>
              <a:buNone/>
            </a:pPr>
            <a:r>
              <a:rPr b="1" i="0" lang="en-US" sz="2400" u="none" cap="none" strike="noStrike">
                <a:solidFill>
                  <a:srgbClr val="8B3A4F"/>
                </a:solidFill>
                <a:latin typeface="Arial"/>
                <a:ea typeface="Arial"/>
                <a:cs typeface="Arial"/>
                <a:sym typeface="Arial"/>
              </a:rPr>
              <a:t>2</a:t>
            </a:r>
            <a:endParaRPr b="0" i="0" sz="2400" u="none" cap="none" strike="noStrike">
              <a:solidFill>
                <a:schemeClr val="dk1"/>
              </a:solidFill>
              <a:latin typeface="Trebuchet MS"/>
              <a:ea typeface="Trebuchet MS"/>
              <a:cs typeface="Trebuchet MS"/>
              <a:sym typeface="Trebuchet MS"/>
            </a:endParaRPr>
          </a:p>
        </p:txBody>
      </p:sp>
      <p:sp>
        <p:nvSpPr>
          <p:cNvPr id="117" name="Google Shape;117;p4"/>
          <p:cNvSpPr/>
          <p:nvPr/>
        </p:nvSpPr>
        <p:spPr>
          <a:xfrm>
            <a:off x="4617720" y="3566160"/>
            <a:ext cx="301752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216"/>
              </a:buClr>
              <a:buSzPts val="1600"/>
              <a:buFont typeface="Arial"/>
              <a:buNone/>
            </a:pPr>
            <a:r>
              <a:rPr b="1" i="0" lang="en-US" sz="1600" u="none" cap="none" strike="noStrike">
                <a:solidFill>
                  <a:srgbClr val="1F1216"/>
                </a:solidFill>
                <a:latin typeface="Arial"/>
                <a:ea typeface="Arial"/>
                <a:cs typeface="Arial"/>
                <a:sym typeface="Arial"/>
              </a:rPr>
              <a:t>Make It Visible</a:t>
            </a:r>
            <a:endParaRPr b="0" i="0" sz="1600" u="none" cap="none" strike="noStrike">
              <a:solidFill>
                <a:schemeClr val="dk1"/>
              </a:solidFill>
              <a:latin typeface="Trebuchet MS"/>
              <a:ea typeface="Trebuchet MS"/>
              <a:cs typeface="Trebuchet MS"/>
              <a:sym typeface="Trebuchet MS"/>
            </a:endParaRPr>
          </a:p>
        </p:txBody>
      </p:sp>
      <p:sp>
        <p:nvSpPr>
          <p:cNvPr id="118" name="Google Shape;118;p4"/>
          <p:cNvSpPr/>
          <p:nvPr/>
        </p:nvSpPr>
        <p:spPr>
          <a:xfrm>
            <a:off x="4617720" y="4114800"/>
            <a:ext cx="3017520" cy="12801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400"/>
              <a:buFont typeface="Arial"/>
              <a:buNone/>
            </a:pPr>
            <a:r>
              <a:rPr b="0" i="0" lang="en-US" sz="1400" u="none" cap="none" strike="noStrike">
                <a:solidFill>
                  <a:srgbClr val="64748B"/>
                </a:solidFill>
                <a:latin typeface="Arial"/>
                <a:ea typeface="Arial"/>
                <a:cs typeface="Arial"/>
                <a:sym typeface="Arial"/>
              </a:rPr>
              <a:t>Write the name on the whiteboard or posting. Everyone should know who owns the floor.</a:t>
            </a:r>
            <a:endParaRPr b="0" i="0" sz="1400" u="none" cap="none" strike="noStrike">
              <a:solidFill>
                <a:schemeClr val="dk1"/>
              </a:solidFill>
              <a:latin typeface="Trebuchet MS"/>
              <a:ea typeface="Trebuchet MS"/>
              <a:cs typeface="Trebuchet MS"/>
              <a:sym typeface="Trebuchet MS"/>
            </a:endParaRPr>
          </a:p>
        </p:txBody>
      </p:sp>
      <p:sp>
        <p:nvSpPr>
          <p:cNvPr id="119" name="Google Shape;119;p4"/>
          <p:cNvSpPr/>
          <p:nvPr/>
        </p:nvSpPr>
        <p:spPr>
          <a:xfrm>
            <a:off x="8092440" y="2743200"/>
            <a:ext cx="3611880" cy="2926080"/>
          </a:xfrm>
          <a:prstGeom prst="roundRect">
            <a:avLst>
              <a:gd fmla="val 3125" name="adj"/>
            </a:avLst>
          </a:prstGeom>
          <a:solidFill>
            <a:srgbClr val="F8FAFC"/>
          </a:solidFill>
          <a:ln>
            <a:noFill/>
          </a:ln>
          <a:effectLst>
            <a:outerShdw blurRad="76200" rotWithShape="0" algn="bl" dir="8100000" dist="25400">
              <a:srgbClr val="000000">
                <a:alpha val="705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4"/>
          <p:cNvSpPr/>
          <p:nvPr/>
        </p:nvSpPr>
        <p:spPr>
          <a:xfrm>
            <a:off x="8092440" y="2743200"/>
            <a:ext cx="109728" cy="2926080"/>
          </a:xfrm>
          <a:prstGeom prst="rect">
            <a:avLst/>
          </a:prstGeom>
          <a:solidFill>
            <a:srgbClr val="8B3A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4"/>
          <p:cNvSpPr/>
          <p:nvPr/>
        </p:nvSpPr>
        <p:spPr>
          <a:xfrm>
            <a:off x="8412480" y="2971800"/>
            <a:ext cx="5486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3A4F"/>
              </a:buClr>
              <a:buSzPts val="2400"/>
              <a:buFont typeface="Arial"/>
              <a:buNone/>
            </a:pPr>
            <a:r>
              <a:rPr b="1" i="0" lang="en-US" sz="2400" u="none" cap="none" strike="noStrike">
                <a:solidFill>
                  <a:srgbClr val="8B3A4F"/>
                </a:solidFill>
                <a:latin typeface="Arial"/>
                <a:ea typeface="Arial"/>
                <a:cs typeface="Arial"/>
                <a:sym typeface="Arial"/>
              </a:rPr>
              <a:t>3</a:t>
            </a:r>
            <a:endParaRPr b="0" i="0" sz="2400" u="none" cap="none" strike="noStrike">
              <a:solidFill>
                <a:schemeClr val="dk1"/>
              </a:solidFill>
              <a:latin typeface="Trebuchet MS"/>
              <a:ea typeface="Trebuchet MS"/>
              <a:cs typeface="Trebuchet MS"/>
              <a:sym typeface="Trebuchet MS"/>
            </a:endParaRPr>
          </a:p>
        </p:txBody>
      </p:sp>
      <p:sp>
        <p:nvSpPr>
          <p:cNvPr id="122" name="Google Shape;122;p4"/>
          <p:cNvSpPr/>
          <p:nvPr/>
        </p:nvSpPr>
        <p:spPr>
          <a:xfrm>
            <a:off x="8412480" y="3566160"/>
            <a:ext cx="301752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216"/>
              </a:buClr>
              <a:buSzPts val="1600"/>
              <a:buFont typeface="Arial"/>
              <a:buNone/>
            </a:pPr>
            <a:r>
              <a:rPr b="1" i="0" lang="en-US" sz="1600" u="none" cap="none" strike="noStrike">
                <a:solidFill>
                  <a:srgbClr val="1F1216"/>
                </a:solidFill>
                <a:latin typeface="Arial"/>
                <a:ea typeface="Arial"/>
                <a:cs typeface="Arial"/>
                <a:sym typeface="Arial"/>
              </a:rPr>
              <a:t>Hand Off Cleanly</a:t>
            </a:r>
            <a:endParaRPr b="0" i="0" sz="1600" u="none" cap="none" strike="noStrike">
              <a:solidFill>
                <a:schemeClr val="dk1"/>
              </a:solidFill>
              <a:latin typeface="Trebuchet MS"/>
              <a:ea typeface="Trebuchet MS"/>
              <a:cs typeface="Trebuchet MS"/>
              <a:sym typeface="Trebuchet MS"/>
            </a:endParaRPr>
          </a:p>
        </p:txBody>
      </p:sp>
      <p:sp>
        <p:nvSpPr>
          <p:cNvPr id="123" name="Google Shape;123;p4"/>
          <p:cNvSpPr/>
          <p:nvPr/>
        </p:nvSpPr>
        <p:spPr>
          <a:xfrm>
            <a:off x="8412480" y="4114800"/>
            <a:ext cx="3017520" cy="12801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400"/>
              <a:buFont typeface="Arial"/>
              <a:buNone/>
            </a:pPr>
            <a:r>
              <a:rPr b="0" i="0" lang="en-US" sz="1400" u="none" cap="none" strike="noStrike">
                <a:solidFill>
                  <a:srgbClr val="64748B"/>
                </a:solidFill>
                <a:latin typeface="Arial"/>
                <a:ea typeface="Arial"/>
                <a:cs typeface="Arial"/>
                <a:sym typeface="Arial"/>
              </a:rPr>
              <a:t>If the leader leaves the floor, transfer the role out loud so it never goes dark.</a:t>
            </a:r>
            <a:endParaRPr b="0" i="0" sz="1400" u="none" cap="none" strike="noStrike">
              <a:solidFill>
                <a:schemeClr val="dk1"/>
              </a:solidFill>
              <a:latin typeface="Trebuchet MS"/>
              <a:ea typeface="Trebuchet MS"/>
              <a:cs typeface="Trebuchet MS"/>
              <a:sym typeface="Trebuchet MS"/>
            </a:endParaRPr>
          </a:p>
        </p:txBody>
      </p:sp>
      <p:pic>
        <p:nvPicPr>
          <p:cNvPr id="124" name="Google Shape;124;p4" title="grok-image-6bee5419-570b-4123-8542-27b02a1104ea.jpg"/>
          <p:cNvPicPr preferRelativeResize="0"/>
          <p:nvPr/>
        </p:nvPicPr>
        <p:blipFill>
          <a:blip r:embed="rId3">
            <a:alphaModFix/>
          </a:blip>
          <a:stretch>
            <a:fillRect/>
          </a:stretch>
        </p:blipFill>
        <p:spPr>
          <a:xfrm>
            <a:off x="77450" y="5943600"/>
            <a:ext cx="1234419" cy="822950"/>
          </a:xfrm>
          <a:prstGeom prst="rect">
            <a:avLst/>
          </a:prstGeom>
          <a:noFill/>
          <a:ln>
            <a:noFill/>
          </a:ln>
        </p:spPr>
      </p:pic>
      <p:pic>
        <p:nvPicPr>
          <p:cNvPr id="125" name="Google Shape;125;p4" title="Picture1.png"/>
          <p:cNvPicPr preferRelativeResize="0"/>
          <p:nvPr/>
        </p:nvPicPr>
        <p:blipFill>
          <a:blip r:embed="rId4">
            <a:alphaModFix/>
          </a:blip>
          <a:stretch>
            <a:fillRect/>
          </a:stretch>
        </p:blipFill>
        <p:spPr>
          <a:xfrm>
            <a:off x="11186625" y="5943600"/>
            <a:ext cx="822950" cy="822950"/>
          </a:xfrm>
          <a:prstGeom prst="rect">
            <a:avLst/>
          </a:prstGeom>
          <a:noFill/>
          <a:ln>
            <a:noFill/>
          </a:ln>
        </p:spPr>
      </p:pic>
      <p:pic>
        <p:nvPicPr>
          <p:cNvPr id="126" name="Google Shape;126;p4" title="caprec-2026-07-28-17-08-58.webm">
            <a:hlinkClick r:id="rId5"/>
          </p:cNvPr>
          <p:cNvPicPr preferRelativeResize="0"/>
          <p:nvPr/>
        </p:nvPicPr>
        <p:blipFill>
          <a:blip r:embed="rId6">
            <a:alphaModFix/>
          </a:blip>
          <a:stretch>
            <a:fillRect/>
          </a:stretch>
        </p:blipFill>
        <p:spPr>
          <a:xfrm>
            <a:off x="11031050" y="6629400"/>
            <a:ext cx="9144" cy="91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
                                        </p:tgtEl>
                                        <p:attrNameLst>
                                          <p:attrName>style.visibility</p:attrName>
                                        </p:attrNameLst>
                                      </p:cBhvr>
                                      <p:to>
                                        <p:strVal val="visible"/>
                                      </p:to>
                                    </p:set>
                                    <p:animEffect filter="fade" transition="in">
                                      <p:cBhvr>
                                        <p:cTn dur="1000"/>
                                        <p:tgtEl>
                                          <p:spTgt spid="1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1" name="Shape 131"/>
        <p:cNvGrpSpPr/>
        <p:nvPr/>
      </p:nvGrpSpPr>
      <p:grpSpPr>
        <a:xfrm>
          <a:off x="0" y="0"/>
          <a:ext cx="0" cy="0"/>
          <a:chOff x="0" y="0"/>
          <a:chExt cx="0" cy="0"/>
        </a:xfrm>
      </p:grpSpPr>
      <p:sp>
        <p:nvSpPr>
          <p:cNvPr id="132" name="Google Shape;132;p5"/>
          <p:cNvSpPr/>
          <p:nvPr/>
        </p:nvSpPr>
        <p:spPr>
          <a:xfrm>
            <a:off x="502920" y="256032"/>
            <a:ext cx="1115568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216"/>
              </a:buClr>
              <a:buSzPts val="2600"/>
              <a:buFont typeface="Arial"/>
              <a:buNone/>
            </a:pPr>
            <a:r>
              <a:rPr b="1" i="0" lang="en-US" sz="2600" u="none" cap="none" strike="noStrike">
                <a:solidFill>
                  <a:srgbClr val="1F1216"/>
                </a:solidFill>
                <a:latin typeface="Arial"/>
                <a:ea typeface="Arial"/>
                <a:cs typeface="Arial"/>
                <a:sym typeface="Arial"/>
              </a:rPr>
              <a:t>The Role of the Sales Floor Leader</a:t>
            </a:r>
            <a:endParaRPr b="0" i="0" sz="2600" u="none" cap="none" strike="noStrike">
              <a:solidFill>
                <a:schemeClr val="dk1"/>
              </a:solidFill>
              <a:latin typeface="Trebuchet MS"/>
              <a:ea typeface="Trebuchet MS"/>
              <a:cs typeface="Trebuchet MS"/>
              <a:sym typeface="Trebuchet MS"/>
            </a:endParaRPr>
          </a:p>
        </p:txBody>
      </p:sp>
      <p:cxnSp>
        <p:nvCxnSpPr>
          <p:cNvPr id="133" name="Google Shape;133;p5"/>
          <p:cNvCxnSpPr/>
          <p:nvPr/>
        </p:nvCxnSpPr>
        <p:spPr>
          <a:xfrm>
            <a:off x="502920" y="896112"/>
            <a:ext cx="11155680" cy="0"/>
          </a:xfrm>
          <a:prstGeom prst="straightConnector1">
            <a:avLst/>
          </a:prstGeom>
          <a:noFill/>
          <a:ln cap="flat" cmpd="sng" w="25400">
            <a:solidFill>
              <a:srgbClr val="8B3A4F"/>
            </a:solidFill>
            <a:prstDash val="solid"/>
            <a:round/>
            <a:headEnd len="sm" w="sm" type="none"/>
            <a:tailEnd len="sm" w="sm" type="none"/>
          </a:ln>
        </p:spPr>
      </p:cxnSp>
      <p:sp>
        <p:nvSpPr>
          <p:cNvPr id="134" name="Google Shape;134;p5"/>
          <p:cNvSpPr/>
          <p:nvPr/>
        </p:nvSpPr>
        <p:spPr>
          <a:xfrm>
            <a:off x="5730240" y="6537960"/>
            <a:ext cx="73140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5</a:t>
            </a:r>
            <a:endParaRPr b="0" i="0" sz="1000" u="none" cap="none" strike="noStrike">
              <a:solidFill>
                <a:schemeClr val="dk1"/>
              </a:solidFill>
              <a:latin typeface="Trebuchet MS"/>
              <a:ea typeface="Trebuchet MS"/>
              <a:cs typeface="Trebuchet MS"/>
              <a:sym typeface="Trebuchet MS"/>
            </a:endParaRPr>
          </a:p>
        </p:txBody>
      </p:sp>
      <p:sp>
        <p:nvSpPr>
          <p:cNvPr id="135" name="Google Shape;135;p5"/>
          <p:cNvSpPr/>
          <p:nvPr/>
        </p:nvSpPr>
        <p:spPr>
          <a:xfrm>
            <a:off x="502920" y="1097280"/>
            <a:ext cx="111556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500"/>
              <a:buFont typeface="Arial"/>
              <a:buNone/>
            </a:pPr>
            <a:r>
              <a:rPr b="0" i="0" lang="en-US" sz="1500" u="none" cap="none" strike="noStrike">
                <a:solidFill>
                  <a:srgbClr val="2A1A20"/>
                </a:solidFill>
                <a:latin typeface="Arial"/>
                <a:ea typeface="Arial"/>
                <a:cs typeface="Arial"/>
                <a:sym typeface="Arial"/>
              </a:rPr>
              <a:t>Present, approachable, and sets the tone for everyone inside. You wear four hats at once.</a:t>
            </a:r>
            <a:endParaRPr b="0" i="0" sz="1500" u="none" cap="none" strike="noStrike">
              <a:solidFill>
                <a:schemeClr val="dk1"/>
              </a:solidFill>
              <a:latin typeface="Trebuchet MS"/>
              <a:ea typeface="Trebuchet MS"/>
              <a:cs typeface="Trebuchet MS"/>
              <a:sym typeface="Trebuchet MS"/>
            </a:endParaRPr>
          </a:p>
        </p:txBody>
      </p:sp>
      <p:sp>
        <p:nvSpPr>
          <p:cNvPr id="136" name="Google Shape;136;p5"/>
          <p:cNvSpPr/>
          <p:nvPr/>
        </p:nvSpPr>
        <p:spPr>
          <a:xfrm>
            <a:off x="502920" y="1691640"/>
            <a:ext cx="5532120" cy="1965960"/>
          </a:xfrm>
          <a:prstGeom prst="roundRect">
            <a:avLst>
              <a:gd fmla="val 4651" name="adj"/>
            </a:avLst>
          </a:prstGeom>
          <a:solidFill>
            <a:srgbClr val="F8FAFC"/>
          </a:solidFill>
          <a:ln>
            <a:noFill/>
          </a:ln>
          <a:effectLst>
            <a:outerShdw blurRad="76200" rotWithShape="0" algn="bl" dir="8100000" dist="25400">
              <a:srgbClr val="000000">
                <a:alpha val="705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5"/>
          <p:cNvSpPr/>
          <p:nvPr/>
        </p:nvSpPr>
        <p:spPr>
          <a:xfrm>
            <a:off x="777240" y="2194560"/>
            <a:ext cx="822960" cy="822960"/>
          </a:xfrm>
          <a:prstGeom prst="ellipse">
            <a:avLst/>
          </a:prstGeom>
          <a:solidFill>
            <a:srgbClr val="F5E6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5"/>
          <p:cNvSpPr/>
          <p:nvPr/>
        </p:nvSpPr>
        <p:spPr>
          <a:xfrm>
            <a:off x="777240" y="2350008"/>
            <a:ext cx="82296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B3A4F"/>
              </a:buClr>
              <a:buSzPts val="2200"/>
              <a:buFont typeface="Arial"/>
              <a:buNone/>
            </a:pPr>
            <a:r>
              <a:rPr b="1" i="0" lang="en-US" sz="2200" u="none" cap="none" strike="noStrike">
                <a:solidFill>
                  <a:srgbClr val="8B3A4F"/>
                </a:solidFill>
                <a:latin typeface="Arial"/>
                <a:ea typeface="Arial"/>
                <a:cs typeface="Arial"/>
                <a:sym typeface="Arial"/>
              </a:rPr>
              <a:t>1</a:t>
            </a:r>
            <a:endParaRPr b="0" i="0" sz="2200" u="none" cap="none" strike="noStrike">
              <a:solidFill>
                <a:schemeClr val="dk1"/>
              </a:solidFill>
              <a:latin typeface="Trebuchet MS"/>
              <a:ea typeface="Trebuchet MS"/>
              <a:cs typeface="Trebuchet MS"/>
              <a:sym typeface="Trebuchet MS"/>
            </a:endParaRPr>
          </a:p>
        </p:txBody>
      </p:sp>
      <p:sp>
        <p:nvSpPr>
          <p:cNvPr id="139" name="Google Shape;139;p5"/>
          <p:cNvSpPr/>
          <p:nvPr/>
        </p:nvSpPr>
        <p:spPr>
          <a:xfrm>
            <a:off x="1828800" y="2057400"/>
            <a:ext cx="393192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216"/>
              </a:buClr>
              <a:buSzPts val="1800"/>
              <a:buFont typeface="Arial"/>
              <a:buNone/>
            </a:pPr>
            <a:r>
              <a:rPr b="1" i="0" lang="en-US" sz="1800" u="none" cap="none" strike="noStrike">
                <a:solidFill>
                  <a:srgbClr val="1F1216"/>
                </a:solidFill>
                <a:latin typeface="Arial"/>
                <a:ea typeface="Arial"/>
                <a:cs typeface="Arial"/>
                <a:sym typeface="Arial"/>
              </a:rPr>
              <a:t>Visible Presence</a:t>
            </a:r>
            <a:endParaRPr b="0" i="0" sz="1800" u="none" cap="none" strike="noStrike">
              <a:solidFill>
                <a:schemeClr val="dk1"/>
              </a:solidFill>
              <a:latin typeface="Trebuchet MS"/>
              <a:ea typeface="Trebuchet MS"/>
              <a:cs typeface="Trebuchet MS"/>
              <a:sym typeface="Trebuchet MS"/>
            </a:endParaRPr>
          </a:p>
        </p:txBody>
      </p:sp>
      <p:sp>
        <p:nvSpPr>
          <p:cNvPr id="140" name="Google Shape;140;p5"/>
          <p:cNvSpPr/>
          <p:nvPr/>
        </p:nvSpPr>
        <p:spPr>
          <a:xfrm>
            <a:off x="1828800" y="2606040"/>
            <a:ext cx="393192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400"/>
              <a:buFont typeface="Arial"/>
              <a:buNone/>
            </a:pPr>
            <a:r>
              <a:rPr b="0" i="0" lang="en-US" sz="1400" u="none" cap="none" strike="noStrike">
                <a:solidFill>
                  <a:srgbClr val="64748B"/>
                </a:solidFill>
                <a:latin typeface="Arial"/>
                <a:ea typeface="Arial"/>
                <a:cs typeface="Arial"/>
                <a:sym typeface="Arial"/>
              </a:rPr>
              <a:t>Out on the floor, greeting Clients and connecting with your team.</a:t>
            </a:r>
            <a:endParaRPr b="0" i="0" sz="1400" u="none" cap="none" strike="noStrike">
              <a:solidFill>
                <a:schemeClr val="dk1"/>
              </a:solidFill>
              <a:latin typeface="Trebuchet MS"/>
              <a:ea typeface="Trebuchet MS"/>
              <a:cs typeface="Trebuchet MS"/>
              <a:sym typeface="Trebuchet MS"/>
            </a:endParaRPr>
          </a:p>
        </p:txBody>
      </p:sp>
      <p:sp>
        <p:nvSpPr>
          <p:cNvPr id="141" name="Google Shape;141;p5"/>
          <p:cNvSpPr/>
          <p:nvPr/>
        </p:nvSpPr>
        <p:spPr>
          <a:xfrm>
            <a:off x="6263640" y="1691640"/>
            <a:ext cx="5532120" cy="1965960"/>
          </a:xfrm>
          <a:prstGeom prst="roundRect">
            <a:avLst>
              <a:gd fmla="val 4651" name="adj"/>
            </a:avLst>
          </a:prstGeom>
          <a:solidFill>
            <a:srgbClr val="F8FAFC"/>
          </a:solidFill>
          <a:ln>
            <a:noFill/>
          </a:ln>
          <a:effectLst>
            <a:outerShdw blurRad="76200" rotWithShape="0" algn="bl" dir="8100000" dist="25400">
              <a:srgbClr val="000000">
                <a:alpha val="705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5"/>
          <p:cNvSpPr/>
          <p:nvPr/>
        </p:nvSpPr>
        <p:spPr>
          <a:xfrm>
            <a:off x="6537960" y="2194560"/>
            <a:ext cx="822960" cy="822960"/>
          </a:xfrm>
          <a:prstGeom prst="ellipse">
            <a:avLst/>
          </a:prstGeom>
          <a:solidFill>
            <a:srgbClr val="F5E6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5"/>
          <p:cNvSpPr/>
          <p:nvPr/>
        </p:nvSpPr>
        <p:spPr>
          <a:xfrm>
            <a:off x="6537960" y="2350008"/>
            <a:ext cx="82296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B3A4F"/>
              </a:buClr>
              <a:buSzPts val="2200"/>
              <a:buFont typeface="Arial"/>
              <a:buNone/>
            </a:pPr>
            <a:r>
              <a:rPr b="1" i="0" lang="en-US" sz="2200" u="none" cap="none" strike="noStrike">
                <a:solidFill>
                  <a:srgbClr val="8B3A4F"/>
                </a:solidFill>
                <a:latin typeface="Arial"/>
                <a:ea typeface="Arial"/>
                <a:cs typeface="Arial"/>
                <a:sym typeface="Arial"/>
              </a:rPr>
              <a:t>2</a:t>
            </a:r>
            <a:endParaRPr b="0" i="0" sz="2200" u="none" cap="none" strike="noStrike">
              <a:solidFill>
                <a:schemeClr val="dk1"/>
              </a:solidFill>
              <a:latin typeface="Trebuchet MS"/>
              <a:ea typeface="Trebuchet MS"/>
              <a:cs typeface="Trebuchet MS"/>
              <a:sym typeface="Trebuchet MS"/>
            </a:endParaRPr>
          </a:p>
        </p:txBody>
      </p:sp>
      <p:sp>
        <p:nvSpPr>
          <p:cNvPr id="144" name="Google Shape;144;p5"/>
          <p:cNvSpPr/>
          <p:nvPr/>
        </p:nvSpPr>
        <p:spPr>
          <a:xfrm>
            <a:off x="7589520" y="2057400"/>
            <a:ext cx="393192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216"/>
              </a:buClr>
              <a:buSzPts val="1800"/>
              <a:buFont typeface="Arial"/>
              <a:buNone/>
            </a:pPr>
            <a:r>
              <a:rPr b="1" i="0" lang="en-US" sz="1800" u="none" cap="none" strike="noStrike">
                <a:solidFill>
                  <a:srgbClr val="1F1216"/>
                </a:solidFill>
                <a:latin typeface="Arial"/>
                <a:ea typeface="Arial"/>
                <a:cs typeface="Arial"/>
                <a:sym typeface="Arial"/>
              </a:rPr>
              <a:t>Connector</a:t>
            </a:r>
            <a:endParaRPr b="0" i="0" sz="1800" u="none" cap="none" strike="noStrike">
              <a:solidFill>
                <a:schemeClr val="dk1"/>
              </a:solidFill>
              <a:latin typeface="Trebuchet MS"/>
              <a:ea typeface="Trebuchet MS"/>
              <a:cs typeface="Trebuchet MS"/>
              <a:sym typeface="Trebuchet MS"/>
            </a:endParaRPr>
          </a:p>
        </p:txBody>
      </p:sp>
      <p:sp>
        <p:nvSpPr>
          <p:cNvPr id="145" name="Google Shape;145;p5"/>
          <p:cNvSpPr/>
          <p:nvPr/>
        </p:nvSpPr>
        <p:spPr>
          <a:xfrm>
            <a:off x="7589520" y="2606040"/>
            <a:ext cx="393192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400"/>
              <a:buFont typeface="Arial"/>
              <a:buNone/>
            </a:pPr>
            <a:r>
              <a:rPr b="0" i="0" lang="en-US" sz="1400" u="none" cap="none" strike="noStrike">
                <a:solidFill>
                  <a:srgbClr val="64748B"/>
                </a:solidFill>
                <a:latin typeface="Arial"/>
                <a:ea typeface="Arial"/>
                <a:cs typeface="Arial"/>
                <a:sym typeface="Arial"/>
              </a:rPr>
              <a:t>Like a mayor uniting citizens — you build bridges between Clients, Specialists, and solutions.</a:t>
            </a:r>
            <a:endParaRPr b="0" i="0" sz="1400" u="none" cap="none" strike="noStrike">
              <a:solidFill>
                <a:schemeClr val="dk1"/>
              </a:solidFill>
              <a:latin typeface="Trebuchet MS"/>
              <a:ea typeface="Trebuchet MS"/>
              <a:cs typeface="Trebuchet MS"/>
              <a:sym typeface="Trebuchet MS"/>
            </a:endParaRPr>
          </a:p>
        </p:txBody>
      </p:sp>
      <p:sp>
        <p:nvSpPr>
          <p:cNvPr id="146" name="Google Shape;146;p5"/>
          <p:cNvSpPr/>
          <p:nvPr/>
        </p:nvSpPr>
        <p:spPr>
          <a:xfrm>
            <a:off x="502920" y="3840480"/>
            <a:ext cx="5532120" cy="1965960"/>
          </a:xfrm>
          <a:prstGeom prst="roundRect">
            <a:avLst>
              <a:gd fmla="val 4651" name="adj"/>
            </a:avLst>
          </a:prstGeom>
          <a:solidFill>
            <a:srgbClr val="F8FAFC"/>
          </a:solidFill>
          <a:ln>
            <a:noFill/>
          </a:ln>
          <a:effectLst>
            <a:outerShdw blurRad="76200" rotWithShape="0" algn="bl" dir="8100000" dist="25400">
              <a:srgbClr val="000000">
                <a:alpha val="705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5"/>
          <p:cNvSpPr/>
          <p:nvPr/>
        </p:nvSpPr>
        <p:spPr>
          <a:xfrm>
            <a:off x="777240" y="4343400"/>
            <a:ext cx="822960" cy="822960"/>
          </a:xfrm>
          <a:prstGeom prst="ellipse">
            <a:avLst/>
          </a:prstGeom>
          <a:solidFill>
            <a:srgbClr val="F5E6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5"/>
          <p:cNvSpPr/>
          <p:nvPr/>
        </p:nvSpPr>
        <p:spPr>
          <a:xfrm>
            <a:off x="777240" y="4498848"/>
            <a:ext cx="82296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B3A4F"/>
              </a:buClr>
              <a:buSzPts val="2200"/>
              <a:buFont typeface="Arial"/>
              <a:buNone/>
            </a:pPr>
            <a:r>
              <a:rPr b="1" i="0" lang="en-US" sz="2200" u="none" cap="none" strike="noStrike">
                <a:solidFill>
                  <a:srgbClr val="8B3A4F"/>
                </a:solidFill>
                <a:latin typeface="Arial"/>
                <a:ea typeface="Arial"/>
                <a:cs typeface="Arial"/>
                <a:sym typeface="Arial"/>
              </a:rPr>
              <a:t>3</a:t>
            </a:r>
            <a:endParaRPr b="0" i="0" sz="2200" u="none" cap="none" strike="noStrike">
              <a:solidFill>
                <a:schemeClr val="dk1"/>
              </a:solidFill>
              <a:latin typeface="Trebuchet MS"/>
              <a:ea typeface="Trebuchet MS"/>
              <a:cs typeface="Trebuchet MS"/>
              <a:sym typeface="Trebuchet MS"/>
            </a:endParaRPr>
          </a:p>
        </p:txBody>
      </p:sp>
      <p:sp>
        <p:nvSpPr>
          <p:cNvPr id="149" name="Google Shape;149;p5"/>
          <p:cNvSpPr/>
          <p:nvPr/>
        </p:nvSpPr>
        <p:spPr>
          <a:xfrm>
            <a:off x="1828800" y="4206240"/>
            <a:ext cx="393192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216"/>
              </a:buClr>
              <a:buSzPts val="1800"/>
              <a:buFont typeface="Arial"/>
              <a:buNone/>
            </a:pPr>
            <a:r>
              <a:rPr b="1" i="0" lang="en-US" sz="1800" u="none" cap="none" strike="noStrike">
                <a:solidFill>
                  <a:srgbClr val="1F1216"/>
                </a:solidFill>
                <a:latin typeface="Arial"/>
                <a:ea typeface="Arial"/>
                <a:cs typeface="Arial"/>
                <a:sym typeface="Arial"/>
              </a:rPr>
              <a:t>Tone Setter</a:t>
            </a:r>
            <a:endParaRPr b="0" i="0" sz="1800" u="none" cap="none" strike="noStrike">
              <a:solidFill>
                <a:schemeClr val="dk1"/>
              </a:solidFill>
              <a:latin typeface="Trebuchet MS"/>
              <a:ea typeface="Trebuchet MS"/>
              <a:cs typeface="Trebuchet MS"/>
              <a:sym typeface="Trebuchet MS"/>
            </a:endParaRPr>
          </a:p>
        </p:txBody>
      </p:sp>
      <p:sp>
        <p:nvSpPr>
          <p:cNvPr id="150" name="Google Shape;150;p5"/>
          <p:cNvSpPr/>
          <p:nvPr/>
        </p:nvSpPr>
        <p:spPr>
          <a:xfrm>
            <a:off x="1828800" y="4754880"/>
            <a:ext cx="393192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400"/>
              <a:buFont typeface="Arial"/>
              <a:buNone/>
            </a:pPr>
            <a:r>
              <a:rPr b="0" i="0" lang="en-US" sz="1400" u="none" cap="none" strike="noStrike">
                <a:solidFill>
                  <a:srgbClr val="64748B"/>
                </a:solidFill>
                <a:latin typeface="Arial"/>
                <a:ea typeface="Arial"/>
                <a:cs typeface="Arial"/>
                <a:sym typeface="Arial"/>
              </a:rPr>
              <a:t>Your energy sets the store’s climate. A cheerful, confident leader signals safety and excitement.</a:t>
            </a:r>
            <a:endParaRPr b="0" i="0" sz="1400" u="none" cap="none" strike="noStrike">
              <a:solidFill>
                <a:schemeClr val="dk1"/>
              </a:solidFill>
              <a:latin typeface="Trebuchet MS"/>
              <a:ea typeface="Trebuchet MS"/>
              <a:cs typeface="Trebuchet MS"/>
              <a:sym typeface="Trebuchet MS"/>
            </a:endParaRPr>
          </a:p>
        </p:txBody>
      </p:sp>
      <p:sp>
        <p:nvSpPr>
          <p:cNvPr id="151" name="Google Shape;151;p5"/>
          <p:cNvSpPr/>
          <p:nvPr/>
        </p:nvSpPr>
        <p:spPr>
          <a:xfrm>
            <a:off x="6263640" y="3840480"/>
            <a:ext cx="5532120" cy="1965960"/>
          </a:xfrm>
          <a:prstGeom prst="roundRect">
            <a:avLst>
              <a:gd fmla="val 4651" name="adj"/>
            </a:avLst>
          </a:prstGeom>
          <a:solidFill>
            <a:srgbClr val="F8FAFC"/>
          </a:solidFill>
          <a:ln>
            <a:noFill/>
          </a:ln>
          <a:effectLst>
            <a:outerShdw blurRad="76200" rotWithShape="0" algn="bl" dir="8100000" dist="25400">
              <a:srgbClr val="000000">
                <a:alpha val="705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5"/>
          <p:cNvSpPr/>
          <p:nvPr/>
        </p:nvSpPr>
        <p:spPr>
          <a:xfrm>
            <a:off x="6537960" y="4343400"/>
            <a:ext cx="822960" cy="822960"/>
          </a:xfrm>
          <a:prstGeom prst="ellipse">
            <a:avLst/>
          </a:prstGeom>
          <a:solidFill>
            <a:srgbClr val="F5E6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5"/>
          <p:cNvSpPr/>
          <p:nvPr/>
        </p:nvSpPr>
        <p:spPr>
          <a:xfrm>
            <a:off x="6537960" y="4498848"/>
            <a:ext cx="82296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B3A4F"/>
              </a:buClr>
              <a:buSzPts val="2200"/>
              <a:buFont typeface="Arial"/>
              <a:buNone/>
            </a:pPr>
            <a:r>
              <a:rPr b="1" i="0" lang="en-US" sz="2200" u="none" cap="none" strike="noStrike">
                <a:solidFill>
                  <a:srgbClr val="8B3A4F"/>
                </a:solidFill>
                <a:latin typeface="Arial"/>
                <a:ea typeface="Arial"/>
                <a:cs typeface="Arial"/>
                <a:sym typeface="Arial"/>
              </a:rPr>
              <a:t>4</a:t>
            </a:r>
            <a:endParaRPr b="0" i="0" sz="2200" u="none" cap="none" strike="noStrike">
              <a:solidFill>
                <a:schemeClr val="dk1"/>
              </a:solidFill>
              <a:latin typeface="Trebuchet MS"/>
              <a:ea typeface="Trebuchet MS"/>
              <a:cs typeface="Trebuchet MS"/>
              <a:sym typeface="Trebuchet MS"/>
            </a:endParaRPr>
          </a:p>
        </p:txBody>
      </p:sp>
      <p:sp>
        <p:nvSpPr>
          <p:cNvPr id="154" name="Google Shape;154;p5"/>
          <p:cNvSpPr/>
          <p:nvPr/>
        </p:nvSpPr>
        <p:spPr>
          <a:xfrm>
            <a:off x="7589520" y="4206240"/>
            <a:ext cx="393192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216"/>
              </a:buClr>
              <a:buSzPts val="1800"/>
              <a:buFont typeface="Arial"/>
              <a:buNone/>
            </a:pPr>
            <a:r>
              <a:rPr b="1" i="0" lang="en-US" sz="1800" u="none" cap="none" strike="noStrike">
                <a:solidFill>
                  <a:srgbClr val="1F1216"/>
                </a:solidFill>
                <a:latin typeface="Arial"/>
                <a:ea typeface="Arial"/>
                <a:cs typeface="Arial"/>
                <a:sym typeface="Arial"/>
              </a:rPr>
              <a:t>Problem Solver</a:t>
            </a:r>
            <a:endParaRPr b="0" i="0" sz="1800" u="none" cap="none" strike="noStrike">
              <a:solidFill>
                <a:schemeClr val="dk1"/>
              </a:solidFill>
              <a:latin typeface="Trebuchet MS"/>
              <a:ea typeface="Trebuchet MS"/>
              <a:cs typeface="Trebuchet MS"/>
              <a:sym typeface="Trebuchet MS"/>
            </a:endParaRPr>
          </a:p>
        </p:txBody>
      </p:sp>
      <p:sp>
        <p:nvSpPr>
          <p:cNvPr id="155" name="Google Shape;155;p5"/>
          <p:cNvSpPr/>
          <p:nvPr/>
        </p:nvSpPr>
        <p:spPr>
          <a:xfrm>
            <a:off x="7589520" y="4754880"/>
            <a:ext cx="393192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400"/>
              <a:buFont typeface="Arial"/>
              <a:buNone/>
            </a:pPr>
            <a:r>
              <a:rPr b="0" i="0" lang="en-US" sz="1400" u="none" cap="none" strike="noStrike">
                <a:solidFill>
                  <a:srgbClr val="64748B"/>
                </a:solidFill>
                <a:latin typeface="Arial"/>
                <a:ea typeface="Arial"/>
                <a:cs typeface="Arial"/>
                <a:sym typeface="Arial"/>
              </a:rPr>
              <a:t>When a challenge arises, you step in diplomatically to smooth the process without derailing the flow.</a:t>
            </a:r>
            <a:endParaRPr b="0" i="0" sz="1400" u="none" cap="none" strike="noStrike">
              <a:solidFill>
                <a:schemeClr val="dk1"/>
              </a:solidFill>
              <a:latin typeface="Trebuchet MS"/>
              <a:ea typeface="Trebuchet MS"/>
              <a:cs typeface="Trebuchet MS"/>
              <a:sym typeface="Trebuchet MS"/>
            </a:endParaRPr>
          </a:p>
        </p:txBody>
      </p:sp>
      <p:pic>
        <p:nvPicPr>
          <p:cNvPr id="156" name="Google Shape;156;p5" title="caprec-2026-07-28-17-10-44.webm">
            <a:hlinkClick r:id="rId3"/>
          </p:cNvPr>
          <p:cNvPicPr preferRelativeResize="0"/>
          <p:nvPr/>
        </p:nvPicPr>
        <p:blipFill>
          <a:blip r:embed="rId4">
            <a:alphaModFix/>
          </a:blip>
          <a:stretch>
            <a:fillRect/>
          </a:stretch>
        </p:blipFill>
        <p:spPr>
          <a:xfrm>
            <a:off x="5219750" y="6702150"/>
            <a:ext cx="9144" cy="9144"/>
          </a:xfrm>
          <a:prstGeom prst="rect">
            <a:avLst/>
          </a:prstGeom>
          <a:noFill/>
          <a:ln>
            <a:noFill/>
          </a:ln>
        </p:spPr>
      </p:pic>
      <p:pic>
        <p:nvPicPr>
          <p:cNvPr id="157" name="Google Shape;157;p5" title="Picture1.png"/>
          <p:cNvPicPr preferRelativeResize="0"/>
          <p:nvPr/>
        </p:nvPicPr>
        <p:blipFill>
          <a:blip r:embed="rId5">
            <a:alphaModFix/>
          </a:blip>
          <a:stretch>
            <a:fillRect/>
          </a:stretch>
        </p:blipFill>
        <p:spPr>
          <a:xfrm>
            <a:off x="11186625" y="5943600"/>
            <a:ext cx="822950" cy="822950"/>
          </a:xfrm>
          <a:prstGeom prst="rect">
            <a:avLst/>
          </a:prstGeom>
          <a:noFill/>
          <a:ln>
            <a:noFill/>
          </a:ln>
        </p:spPr>
      </p:pic>
      <p:pic>
        <p:nvPicPr>
          <p:cNvPr id="158" name="Google Shape;158;p5" title="grok-image-6bee5419-570b-4123-8542-27b02a1104ea.jpg"/>
          <p:cNvPicPr preferRelativeResize="0"/>
          <p:nvPr/>
        </p:nvPicPr>
        <p:blipFill>
          <a:blip r:embed="rId6">
            <a:alphaModFix/>
          </a:blip>
          <a:stretch>
            <a:fillRect/>
          </a:stretch>
        </p:blipFill>
        <p:spPr>
          <a:xfrm>
            <a:off x="77450" y="5943600"/>
            <a:ext cx="1234419" cy="8229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56"/>
                                        </p:tgtEl>
                                        <p:attrNameLst>
                                          <p:attrName>style.visibility</p:attrName>
                                        </p:attrNameLst>
                                      </p:cBhvr>
                                      <p:to>
                                        <p:strVal val="visible"/>
                                      </p:to>
                                    </p:set>
                                    <p:animEffect filter="fade" transition="in">
                                      <p:cBhvr>
                                        <p:cTn dur="1000"/>
                                        <p:tgtEl>
                                          <p:spTgt spid="1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3" name="Shape 163"/>
        <p:cNvGrpSpPr/>
        <p:nvPr/>
      </p:nvGrpSpPr>
      <p:grpSpPr>
        <a:xfrm>
          <a:off x="0" y="0"/>
          <a:ext cx="0" cy="0"/>
          <a:chOff x="0" y="0"/>
          <a:chExt cx="0" cy="0"/>
        </a:xfrm>
      </p:grpSpPr>
      <p:sp>
        <p:nvSpPr>
          <p:cNvPr id="164" name="Google Shape;164;p6"/>
          <p:cNvSpPr/>
          <p:nvPr/>
        </p:nvSpPr>
        <p:spPr>
          <a:xfrm>
            <a:off x="502920" y="256032"/>
            <a:ext cx="1115568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216"/>
              </a:buClr>
              <a:buSzPts val="2600"/>
              <a:buFont typeface="Arial"/>
              <a:buNone/>
            </a:pPr>
            <a:r>
              <a:rPr b="1" i="0" lang="en-US" sz="2600" u="none" cap="none" strike="noStrike">
                <a:solidFill>
                  <a:srgbClr val="1F1216"/>
                </a:solidFill>
                <a:latin typeface="Arial"/>
                <a:ea typeface="Arial"/>
                <a:cs typeface="Arial"/>
                <a:sym typeface="Arial"/>
              </a:rPr>
              <a:t>Why Active Leadership Pays Off</a:t>
            </a:r>
            <a:endParaRPr b="0" i="0" sz="2600" u="none" cap="none" strike="noStrike">
              <a:solidFill>
                <a:schemeClr val="dk1"/>
              </a:solidFill>
              <a:latin typeface="Trebuchet MS"/>
              <a:ea typeface="Trebuchet MS"/>
              <a:cs typeface="Trebuchet MS"/>
              <a:sym typeface="Trebuchet MS"/>
            </a:endParaRPr>
          </a:p>
        </p:txBody>
      </p:sp>
      <p:cxnSp>
        <p:nvCxnSpPr>
          <p:cNvPr id="165" name="Google Shape;165;p6"/>
          <p:cNvCxnSpPr/>
          <p:nvPr/>
        </p:nvCxnSpPr>
        <p:spPr>
          <a:xfrm>
            <a:off x="502920" y="896112"/>
            <a:ext cx="11155680" cy="0"/>
          </a:xfrm>
          <a:prstGeom prst="straightConnector1">
            <a:avLst/>
          </a:prstGeom>
          <a:noFill/>
          <a:ln cap="flat" cmpd="sng" w="25400">
            <a:solidFill>
              <a:srgbClr val="8B3A4F"/>
            </a:solidFill>
            <a:prstDash val="solid"/>
            <a:round/>
            <a:headEnd len="sm" w="sm" type="none"/>
            <a:tailEnd len="sm" w="sm" type="none"/>
          </a:ln>
        </p:spPr>
      </p:cxnSp>
      <p:sp>
        <p:nvSpPr>
          <p:cNvPr id="166" name="Google Shape;166;p6"/>
          <p:cNvSpPr/>
          <p:nvPr/>
        </p:nvSpPr>
        <p:spPr>
          <a:xfrm>
            <a:off x="5730240" y="6537960"/>
            <a:ext cx="73140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6</a:t>
            </a:r>
            <a:endParaRPr b="0" i="0" sz="1000" u="none" cap="none" strike="noStrike">
              <a:solidFill>
                <a:schemeClr val="dk1"/>
              </a:solidFill>
              <a:latin typeface="Trebuchet MS"/>
              <a:ea typeface="Trebuchet MS"/>
              <a:cs typeface="Trebuchet MS"/>
              <a:sym typeface="Trebuchet MS"/>
            </a:endParaRPr>
          </a:p>
        </p:txBody>
      </p:sp>
      <p:sp>
        <p:nvSpPr>
          <p:cNvPr id="167" name="Google Shape;167;p6"/>
          <p:cNvSpPr/>
          <p:nvPr/>
        </p:nvSpPr>
        <p:spPr>
          <a:xfrm>
            <a:off x="502920" y="1188720"/>
            <a:ext cx="11155680" cy="1097280"/>
          </a:xfrm>
          <a:prstGeom prst="roundRect">
            <a:avLst>
              <a:gd fmla="val 6667" name="adj"/>
            </a:avLst>
          </a:prstGeom>
          <a:solidFill>
            <a:srgbClr val="F1F5F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6"/>
          <p:cNvSpPr/>
          <p:nvPr/>
        </p:nvSpPr>
        <p:spPr>
          <a:xfrm>
            <a:off x="731520" y="1417320"/>
            <a:ext cx="640080" cy="640080"/>
          </a:xfrm>
          <a:prstGeom prst="ellipse">
            <a:avLst/>
          </a:prstGeom>
          <a:solidFill>
            <a:srgbClr val="8B3A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6"/>
          <p:cNvSpPr/>
          <p:nvPr/>
        </p:nvSpPr>
        <p:spPr>
          <a:xfrm>
            <a:off x="731520" y="1536192"/>
            <a:ext cx="640080" cy="4114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1</a:t>
            </a:r>
            <a:endParaRPr b="0" i="0" sz="1800" u="none" cap="none" strike="noStrike">
              <a:solidFill>
                <a:schemeClr val="dk1"/>
              </a:solidFill>
              <a:latin typeface="Trebuchet MS"/>
              <a:ea typeface="Trebuchet MS"/>
              <a:cs typeface="Trebuchet MS"/>
              <a:sym typeface="Trebuchet MS"/>
            </a:endParaRPr>
          </a:p>
        </p:txBody>
      </p:sp>
      <p:sp>
        <p:nvSpPr>
          <p:cNvPr id="170" name="Google Shape;170;p6"/>
          <p:cNvSpPr/>
          <p:nvPr/>
        </p:nvSpPr>
        <p:spPr>
          <a:xfrm>
            <a:off x="1645920" y="1371600"/>
            <a:ext cx="96012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216"/>
              </a:buClr>
              <a:buSzPts val="1800"/>
              <a:buFont typeface="Arial"/>
              <a:buNone/>
            </a:pPr>
            <a:r>
              <a:rPr b="1" i="0" lang="en-US" sz="1800" u="none" cap="none" strike="noStrike">
                <a:solidFill>
                  <a:srgbClr val="1F1216"/>
                </a:solidFill>
                <a:latin typeface="Arial"/>
                <a:ea typeface="Arial"/>
                <a:cs typeface="Arial"/>
                <a:sym typeface="Arial"/>
              </a:rPr>
              <a:t>Stronger Client Service</a:t>
            </a:r>
            <a:endParaRPr b="0" i="0" sz="1800" u="none" cap="none" strike="noStrike">
              <a:solidFill>
                <a:schemeClr val="dk1"/>
              </a:solidFill>
              <a:latin typeface="Trebuchet MS"/>
              <a:ea typeface="Trebuchet MS"/>
              <a:cs typeface="Trebuchet MS"/>
              <a:sym typeface="Trebuchet MS"/>
            </a:endParaRPr>
          </a:p>
        </p:txBody>
      </p:sp>
      <p:sp>
        <p:nvSpPr>
          <p:cNvPr id="171" name="Google Shape;171;p6"/>
          <p:cNvSpPr/>
          <p:nvPr/>
        </p:nvSpPr>
        <p:spPr>
          <a:xfrm>
            <a:off x="1645920" y="1783080"/>
            <a:ext cx="96012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400"/>
              <a:buFont typeface="Arial"/>
              <a:buNone/>
            </a:pPr>
            <a:r>
              <a:rPr b="0" i="0" lang="en-US" sz="1400" u="none" cap="none" strike="noStrike">
                <a:solidFill>
                  <a:srgbClr val="64748B"/>
                </a:solidFill>
                <a:latin typeface="Arial"/>
                <a:ea typeface="Arial"/>
                <a:cs typeface="Arial"/>
                <a:sym typeface="Arial"/>
              </a:rPr>
              <a:t>Every Client gets a consistent, Remarkable experience — not a lottery based on who they drew.</a:t>
            </a:r>
            <a:endParaRPr b="0" i="0" sz="1400" u="none" cap="none" strike="noStrike">
              <a:solidFill>
                <a:schemeClr val="dk1"/>
              </a:solidFill>
              <a:latin typeface="Trebuchet MS"/>
              <a:ea typeface="Trebuchet MS"/>
              <a:cs typeface="Trebuchet MS"/>
              <a:sym typeface="Trebuchet MS"/>
            </a:endParaRPr>
          </a:p>
        </p:txBody>
      </p:sp>
      <p:sp>
        <p:nvSpPr>
          <p:cNvPr id="172" name="Google Shape;172;p6"/>
          <p:cNvSpPr/>
          <p:nvPr/>
        </p:nvSpPr>
        <p:spPr>
          <a:xfrm>
            <a:off x="502920" y="2423160"/>
            <a:ext cx="11155680" cy="1097280"/>
          </a:xfrm>
          <a:prstGeom prst="roundRect">
            <a:avLst>
              <a:gd fmla="val 6667" name="adj"/>
            </a:avLst>
          </a:prstGeom>
          <a:solidFill>
            <a:srgbClr val="F8FA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6"/>
          <p:cNvSpPr/>
          <p:nvPr/>
        </p:nvSpPr>
        <p:spPr>
          <a:xfrm>
            <a:off x="731520" y="2651760"/>
            <a:ext cx="640080" cy="640080"/>
          </a:xfrm>
          <a:prstGeom prst="ellipse">
            <a:avLst/>
          </a:prstGeom>
          <a:solidFill>
            <a:srgbClr val="8B3A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6"/>
          <p:cNvSpPr/>
          <p:nvPr/>
        </p:nvSpPr>
        <p:spPr>
          <a:xfrm>
            <a:off x="731520" y="2770632"/>
            <a:ext cx="640080" cy="4114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2</a:t>
            </a:r>
            <a:endParaRPr b="0" i="0" sz="1800" u="none" cap="none" strike="noStrike">
              <a:solidFill>
                <a:schemeClr val="dk1"/>
              </a:solidFill>
              <a:latin typeface="Trebuchet MS"/>
              <a:ea typeface="Trebuchet MS"/>
              <a:cs typeface="Trebuchet MS"/>
              <a:sym typeface="Trebuchet MS"/>
            </a:endParaRPr>
          </a:p>
        </p:txBody>
      </p:sp>
      <p:sp>
        <p:nvSpPr>
          <p:cNvPr id="175" name="Google Shape;175;p6"/>
          <p:cNvSpPr/>
          <p:nvPr/>
        </p:nvSpPr>
        <p:spPr>
          <a:xfrm>
            <a:off x="1645920" y="2606040"/>
            <a:ext cx="96012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216"/>
              </a:buClr>
              <a:buSzPts val="1800"/>
              <a:buFont typeface="Arial"/>
              <a:buNone/>
            </a:pPr>
            <a:r>
              <a:rPr b="1" i="0" lang="en-US" sz="1800" u="none" cap="none" strike="noStrike">
                <a:solidFill>
                  <a:srgbClr val="1F1216"/>
                </a:solidFill>
                <a:latin typeface="Arial"/>
                <a:ea typeface="Arial"/>
                <a:cs typeface="Arial"/>
                <a:sym typeface="Arial"/>
              </a:rPr>
              <a:t>Effective Coaching</a:t>
            </a:r>
            <a:endParaRPr b="0" i="0" sz="1800" u="none" cap="none" strike="noStrike">
              <a:solidFill>
                <a:schemeClr val="dk1"/>
              </a:solidFill>
              <a:latin typeface="Trebuchet MS"/>
              <a:ea typeface="Trebuchet MS"/>
              <a:cs typeface="Trebuchet MS"/>
              <a:sym typeface="Trebuchet MS"/>
            </a:endParaRPr>
          </a:p>
        </p:txBody>
      </p:sp>
      <p:sp>
        <p:nvSpPr>
          <p:cNvPr id="176" name="Google Shape;176;p6"/>
          <p:cNvSpPr/>
          <p:nvPr/>
        </p:nvSpPr>
        <p:spPr>
          <a:xfrm>
            <a:off x="1645920" y="3017520"/>
            <a:ext cx="96012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400"/>
              <a:buFont typeface="Arial"/>
              <a:buNone/>
            </a:pPr>
            <a:r>
              <a:rPr b="0" i="0" lang="en-US" sz="1400" u="none" cap="none" strike="noStrike">
                <a:solidFill>
                  <a:srgbClr val="64748B"/>
                </a:solidFill>
                <a:latin typeface="Arial"/>
                <a:ea typeface="Arial"/>
                <a:cs typeface="Arial"/>
                <a:sym typeface="Arial"/>
              </a:rPr>
              <a:t>You observe demos in real time, so you can give feedback in the moment while it’s fresh.</a:t>
            </a:r>
            <a:endParaRPr b="0" i="0" sz="1400" u="none" cap="none" strike="noStrike">
              <a:solidFill>
                <a:schemeClr val="dk1"/>
              </a:solidFill>
              <a:latin typeface="Trebuchet MS"/>
              <a:ea typeface="Trebuchet MS"/>
              <a:cs typeface="Trebuchet MS"/>
              <a:sym typeface="Trebuchet MS"/>
            </a:endParaRPr>
          </a:p>
        </p:txBody>
      </p:sp>
      <p:sp>
        <p:nvSpPr>
          <p:cNvPr id="177" name="Google Shape;177;p6"/>
          <p:cNvSpPr/>
          <p:nvPr/>
        </p:nvSpPr>
        <p:spPr>
          <a:xfrm>
            <a:off x="502920" y="3657600"/>
            <a:ext cx="11155680" cy="1097280"/>
          </a:xfrm>
          <a:prstGeom prst="roundRect">
            <a:avLst>
              <a:gd fmla="val 6667" name="adj"/>
            </a:avLst>
          </a:prstGeom>
          <a:solidFill>
            <a:srgbClr val="F1F5F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6"/>
          <p:cNvSpPr/>
          <p:nvPr/>
        </p:nvSpPr>
        <p:spPr>
          <a:xfrm>
            <a:off x="731520" y="3886200"/>
            <a:ext cx="640080" cy="640080"/>
          </a:xfrm>
          <a:prstGeom prst="ellipse">
            <a:avLst/>
          </a:prstGeom>
          <a:solidFill>
            <a:srgbClr val="8B3A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6"/>
          <p:cNvSpPr/>
          <p:nvPr/>
        </p:nvSpPr>
        <p:spPr>
          <a:xfrm>
            <a:off x="731520" y="4005072"/>
            <a:ext cx="640080" cy="4114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3</a:t>
            </a:r>
            <a:endParaRPr b="0" i="0" sz="1800" u="none" cap="none" strike="noStrike">
              <a:solidFill>
                <a:schemeClr val="dk1"/>
              </a:solidFill>
              <a:latin typeface="Trebuchet MS"/>
              <a:ea typeface="Trebuchet MS"/>
              <a:cs typeface="Trebuchet MS"/>
              <a:sym typeface="Trebuchet MS"/>
            </a:endParaRPr>
          </a:p>
        </p:txBody>
      </p:sp>
      <p:sp>
        <p:nvSpPr>
          <p:cNvPr id="180" name="Google Shape;180;p6"/>
          <p:cNvSpPr/>
          <p:nvPr/>
        </p:nvSpPr>
        <p:spPr>
          <a:xfrm>
            <a:off x="1645920" y="3840480"/>
            <a:ext cx="96012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216"/>
              </a:buClr>
              <a:buSzPts val="1800"/>
              <a:buFont typeface="Arial"/>
              <a:buNone/>
            </a:pPr>
            <a:r>
              <a:rPr b="1" i="0" lang="en-US" sz="1800" u="none" cap="none" strike="noStrike">
                <a:solidFill>
                  <a:srgbClr val="1F1216"/>
                </a:solidFill>
                <a:latin typeface="Arial"/>
                <a:ea typeface="Arial"/>
                <a:cs typeface="Arial"/>
                <a:sym typeface="Arial"/>
              </a:rPr>
              <a:t>Targeted Development</a:t>
            </a:r>
            <a:endParaRPr b="0" i="0" sz="1800" u="none" cap="none" strike="noStrike">
              <a:solidFill>
                <a:schemeClr val="dk1"/>
              </a:solidFill>
              <a:latin typeface="Trebuchet MS"/>
              <a:ea typeface="Trebuchet MS"/>
              <a:cs typeface="Trebuchet MS"/>
              <a:sym typeface="Trebuchet MS"/>
            </a:endParaRPr>
          </a:p>
        </p:txBody>
      </p:sp>
      <p:sp>
        <p:nvSpPr>
          <p:cNvPr id="181" name="Google Shape;181;p6"/>
          <p:cNvSpPr/>
          <p:nvPr/>
        </p:nvSpPr>
        <p:spPr>
          <a:xfrm>
            <a:off x="1645920" y="4251960"/>
            <a:ext cx="96012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400"/>
              <a:buFont typeface="Arial"/>
              <a:buNone/>
            </a:pPr>
            <a:r>
              <a:rPr b="0" i="0" lang="en-US" sz="1400" u="none" cap="none" strike="noStrike">
                <a:solidFill>
                  <a:srgbClr val="64748B"/>
                </a:solidFill>
                <a:latin typeface="Arial"/>
                <a:ea typeface="Arial"/>
                <a:cs typeface="Arial"/>
                <a:sym typeface="Arial"/>
              </a:rPr>
              <a:t>Debriefs and observations reinforce skills in backroom coaching and weekly 1:1 touch-bases.</a:t>
            </a:r>
            <a:endParaRPr b="0" i="0" sz="1400" u="none" cap="none" strike="noStrike">
              <a:solidFill>
                <a:schemeClr val="dk1"/>
              </a:solidFill>
              <a:latin typeface="Trebuchet MS"/>
              <a:ea typeface="Trebuchet MS"/>
              <a:cs typeface="Trebuchet MS"/>
              <a:sym typeface="Trebuchet MS"/>
            </a:endParaRPr>
          </a:p>
        </p:txBody>
      </p:sp>
      <p:sp>
        <p:nvSpPr>
          <p:cNvPr id="182" name="Google Shape;182;p6"/>
          <p:cNvSpPr/>
          <p:nvPr/>
        </p:nvSpPr>
        <p:spPr>
          <a:xfrm>
            <a:off x="502920" y="4892040"/>
            <a:ext cx="11155680" cy="1097280"/>
          </a:xfrm>
          <a:prstGeom prst="roundRect">
            <a:avLst>
              <a:gd fmla="val 6667" name="adj"/>
            </a:avLst>
          </a:prstGeom>
          <a:solidFill>
            <a:srgbClr val="F8FA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6"/>
          <p:cNvSpPr/>
          <p:nvPr/>
        </p:nvSpPr>
        <p:spPr>
          <a:xfrm>
            <a:off x="731520" y="5120640"/>
            <a:ext cx="640080" cy="640080"/>
          </a:xfrm>
          <a:prstGeom prst="ellipse">
            <a:avLst/>
          </a:prstGeom>
          <a:solidFill>
            <a:srgbClr val="8B3A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6"/>
          <p:cNvSpPr/>
          <p:nvPr/>
        </p:nvSpPr>
        <p:spPr>
          <a:xfrm>
            <a:off x="731520" y="5239512"/>
            <a:ext cx="640080" cy="4114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4</a:t>
            </a:r>
            <a:endParaRPr b="0" i="0" sz="1800" u="none" cap="none" strike="noStrike">
              <a:solidFill>
                <a:schemeClr val="dk1"/>
              </a:solidFill>
              <a:latin typeface="Trebuchet MS"/>
              <a:ea typeface="Trebuchet MS"/>
              <a:cs typeface="Trebuchet MS"/>
              <a:sym typeface="Trebuchet MS"/>
            </a:endParaRPr>
          </a:p>
        </p:txBody>
      </p:sp>
      <p:sp>
        <p:nvSpPr>
          <p:cNvPr id="185" name="Google Shape;185;p6"/>
          <p:cNvSpPr/>
          <p:nvPr/>
        </p:nvSpPr>
        <p:spPr>
          <a:xfrm>
            <a:off x="1645920" y="5074920"/>
            <a:ext cx="96012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216"/>
              </a:buClr>
              <a:buSzPts val="1800"/>
              <a:buFont typeface="Arial"/>
              <a:buNone/>
            </a:pPr>
            <a:r>
              <a:rPr b="1" i="0" lang="en-US" sz="1800" u="none" cap="none" strike="noStrike">
                <a:solidFill>
                  <a:srgbClr val="1F1216"/>
                </a:solidFill>
                <a:latin typeface="Arial"/>
                <a:ea typeface="Arial"/>
                <a:cs typeface="Arial"/>
                <a:sym typeface="Arial"/>
              </a:rPr>
              <a:t>Team Support</a:t>
            </a:r>
            <a:endParaRPr b="0" i="0" sz="1800" u="none" cap="none" strike="noStrike">
              <a:solidFill>
                <a:schemeClr val="dk1"/>
              </a:solidFill>
              <a:latin typeface="Trebuchet MS"/>
              <a:ea typeface="Trebuchet MS"/>
              <a:cs typeface="Trebuchet MS"/>
              <a:sym typeface="Trebuchet MS"/>
            </a:endParaRPr>
          </a:p>
        </p:txBody>
      </p:sp>
      <p:sp>
        <p:nvSpPr>
          <p:cNvPr id="186" name="Google Shape;186;p6"/>
          <p:cNvSpPr/>
          <p:nvPr/>
        </p:nvSpPr>
        <p:spPr>
          <a:xfrm>
            <a:off x="1645920" y="5486400"/>
            <a:ext cx="96012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400"/>
              <a:buFont typeface="Arial"/>
              <a:buNone/>
            </a:pPr>
            <a:r>
              <a:rPr b="0" i="0" lang="en-US" sz="1400" u="none" cap="none" strike="noStrike">
                <a:solidFill>
                  <a:srgbClr val="64748B"/>
                </a:solidFill>
                <a:latin typeface="Arial"/>
                <a:ea typeface="Arial"/>
                <a:cs typeface="Arial"/>
                <a:sym typeface="Arial"/>
              </a:rPr>
              <a:t>Specialists feel guided and encouraged, which boosts confidence and results across the floor.</a:t>
            </a:r>
            <a:endParaRPr b="0" i="0" sz="1400" u="none" cap="none" strike="noStrike">
              <a:solidFill>
                <a:schemeClr val="dk1"/>
              </a:solidFill>
              <a:latin typeface="Trebuchet MS"/>
              <a:ea typeface="Trebuchet MS"/>
              <a:cs typeface="Trebuchet MS"/>
              <a:sym typeface="Trebuchet MS"/>
            </a:endParaRPr>
          </a:p>
        </p:txBody>
      </p:sp>
      <p:pic>
        <p:nvPicPr>
          <p:cNvPr id="187" name="Google Shape;187;p6" title="caprec-2026-07-28-17-16-52.webm">
            <a:hlinkClick r:id="rId3"/>
          </p:cNvPr>
          <p:cNvPicPr preferRelativeResize="0"/>
          <p:nvPr/>
        </p:nvPicPr>
        <p:blipFill>
          <a:blip r:embed="rId4">
            <a:alphaModFix/>
          </a:blip>
          <a:stretch>
            <a:fillRect/>
          </a:stretch>
        </p:blipFill>
        <p:spPr>
          <a:xfrm>
            <a:off x="3887775" y="1714500"/>
            <a:ext cx="9144" cy="9144"/>
          </a:xfrm>
          <a:prstGeom prst="rect">
            <a:avLst/>
          </a:prstGeom>
          <a:noFill/>
          <a:ln>
            <a:noFill/>
          </a:ln>
        </p:spPr>
      </p:pic>
      <p:pic>
        <p:nvPicPr>
          <p:cNvPr id="188" name="Google Shape;188;p6" title="Picture1.png"/>
          <p:cNvPicPr preferRelativeResize="0"/>
          <p:nvPr/>
        </p:nvPicPr>
        <p:blipFill>
          <a:blip r:embed="rId5">
            <a:alphaModFix/>
          </a:blip>
          <a:stretch>
            <a:fillRect/>
          </a:stretch>
        </p:blipFill>
        <p:spPr>
          <a:xfrm>
            <a:off x="11186625" y="5943600"/>
            <a:ext cx="822950" cy="822950"/>
          </a:xfrm>
          <a:prstGeom prst="rect">
            <a:avLst/>
          </a:prstGeom>
          <a:noFill/>
          <a:ln>
            <a:noFill/>
          </a:ln>
        </p:spPr>
      </p:pic>
      <p:pic>
        <p:nvPicPr>
          <p:cNvPr id="189" name="Google Shape;189;p6" title="grok-image-6bee5419-570b-4123-8542-27b02a1104ea.jpg"/>
          <p:cNvPicPr preferRelativeResize="0"/>
          <p:nvPr/>
        </p:nvPicPr>
        <p:blipFill>
          <a:blip r:embed="rId6">
            <a:alphaModFix/>
          </a:blip>
          <a:stretch>
            <a:fillRect/>
          </a:stretch>
        </p:blipFill>
        <p:spPr>
          <a:xfrm>
            <a:off x="77450" y="5943600"/>
            <a:ext cx="1234419" cy="8229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87"/>
                                        </p:tgtEl>
                                        <p:attrNameLst>
                                          <p:attrName>style.visibility</p:attrName>
                                        </p:attrNameLst>
                                      </p:cBhvr>
                                      <p:to>
                                        <p:strVal val="visible"/>
                                      </p:to>
                                    </p:set>
                                    <p:animEffect filter="fade" transition="in">
                                      <p:cBhvr>
                                        <p:cTn dur="1000"/>
                                        <p:tgtEl>
                                          <p:spTgt spid="1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4" name="Shape 194"/>
        <p:cNvGrpSpPr/>
        <p:nvPr/>
      </p:nvGrpSpPr>
      <p:grpSpPr>
        <a:xfrm>
          <a:off x="0" y="0"/>
          <a:ext cx="0" cy="0"/>
          <a:chOff x="0" y="0"/>
          <a:chExt cx="0" cy="0"/>
        </a:xfrm>
      </p:grpSpPr>
      <p:sp>
        <p:nvSpPr>
          <p:cNvPr id="195" name="Google Shape;195;p7"/>
          <p:cNvSpPr/>
          <p:nvPr/>
        </p:nvSpPr>
        <p:spPr>
          <a:xfrm>
            <a:off x="502920" y="256032"/>
            <a:ext cx="1115568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216"/>
              </a:buClr>
              <a:buSzPts val="2600"/>
              <a:buFont typeface="Arial"/>
              <a:buNone/>
            </a:pPr>
            <a:r>
              <a:rPr b="1" i="0" lang="en-US" sz="2600" u="none" cap="none" strike="noStrike">
                <a:solidFill>
                  <a:srgbClr val="1F1216"/>
                </a:solidFill>
                <a:latin typeface="Arial"/>
                <a:ea typeface="Arial"/>
                <a:cs typeface="Arial"/>
                <a:sym typeface="Arial"/>
              </a:rPr>
              <a:t>C — Connect</a:t>
            </a:r>
            <a:endParaRPr b="0" i="0" sz="2600" u="none" cap="none" strike="noStrike">
              <a:solidFill>
                <a:schemeClr val="dk1"/>
              </a:solidFill>
              <a:latin typeface="Trebuchet MS"/>
              <a:ea typeface="Trebuchet MS"/>
              <a:cs typeface="Trebuchet MS"/>
              <a:sym typeface="Trebuchet MS"/>
            </a:endParaRPr>
          </a:p>
        </p:txBody>
      </p:sp>
      <p:cxnSp>
        <p:nvCxnSpPr>
          <p:cNvPr id="196" name="Google Shape;196;p7"/>
          <p:cNvCxnSpPr/>
          <p:nvPr/>
        </p:nvCxnSpPr>
        <p:spPr>
          <a:xfrm>
            <a:off x="502920" y="896112"/>
            <a:ext cx="11155680" cy="0"/>
          </a:xfrm>
          <a:prstGeom prst="straightConnector1">
            <a:avLst/>
          </a:prstGeom>
          <a:noFill/>
          <a:ln cap="flat" cmpd="sng" w="25400">
            <a:solidFill>
              <a:srgbClr val="8B3A4F"/>
            </a:solidFill>
            <a:prstDash val="solid"/>
            <a:round/>
            <a:headEnd len="sm" w="sm" type="none"/>
            <a:tailEnd len="sm" w="sm" type="none"/>
          </a:ln>
        </p:spPr>
      </p:cxnSp>
      <p:sp>
        <p:nvSpPr>
          <p:cNvPr id="197" name="Google Shape;197;p7"/>
          <p:cNvSpPr/>
          <p:nvPr/>
        </p:nvSpPr>
        <p:spPr>
          <a:xfrm>
            <a:off x="5730240" y="6537960"/>
            <a:ext cx="73140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7</a:t>
            </a:r>
            <a:endParaRPr b="0" i="0" sz="1000" u="none" cap="none" strike="noStrike">
              <a:solidFill>
                <a:schemeClr val="dk1"/>
              </a:solidFill>
              <a:latin typeface="Trebuchet MS"/>
              <a:ea typeface="Trebuchet MS"/>
              <a:cs typeface="Trebuchet MS"/>
              <a:sym typeface="Trebuchet MS"/>
            </a:endParaRPr>
          </a:p>
        </p:txBody>
      </p:sp>
      <p:sp>
        <p:nvSpPr>
          <p:cNvPr id="198" name="Google Shape;198;p7"/>
          <p:cNvSpPr/>
          <p:nvPr/>
        </p:nvSpPr>
        <p:spPr>
          <a:xfrm>
            <a:off x="502920" y="1097280"/>
            <a:ext cx="1115568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500"/>
              <a:buFont typeface="Arial"/>
              <a:buNone/>
            </a:pPr>
            <a:r>
              <a:rPr b="0" i="0" lang="en-US" sz="1500" u="none" cap="none" strike="noStrike">
                <a:solidFill>
                  <a:srgbClr val="2A1A20"/>
                </a:solidFill>
                <a:latin typeface="Arial"/>
                <a:ea typeface="Arial"/>
                <a:cs typeface="Arial"/>
                <a:sym typeface="Arial"/>
              </a:rPr>
              <a:t>Making the Client feel chosen and cared for from the first moment — and carrying that feeling all the way to their Specialist.</a:t>
            </a:r>
            <a:endParaRPr b="0" i="0" sz="1500" u="none" cap="none" strike="noStrike">
              <a:solidFill>
                <a:schemeClr val="dk1"/>
              </a:solidFill>
              <a:latin typeface="Trebuchet MS"/>
              <a:ea typeface="Trebuchet MS"/>
              <a:cs typeface="Trebuchet MS"/>
              <a:sym typeface="Trebuchet MS"/>
            </a:endParaRPr>
          </a:p>
        </p:txBody>
      </p:sp>
      <p:sp>
        <p:nvSpPr>
          <p:cNvPr id="199" name="Google Shape;199;p7"/>
          <p:cNvSpPr/>
          <p:nvPr/>
        </p:nvSpPr>
        <p:spPr>
          <a:xfrm>
            <a:off x="502920" y="1691640"/>
            <a:ext cx="5486400" cy="4114800"/>
          </a:xfrm>
          <a:prstGeom prst="roundRect">
            <a:avLst>
              <a:gd fmla="val 2222" name="adj"/>
            </a:avLst>
          </a:prstGeom>
          <a:solidFill>
            <a:srgbClr val="F8FAFC"/>
          </a:solidFill>
          <a:ln>
            <a:noFill/>
          </a:ln>
          <a:effectLst>
            <a:outerShdw blurRad="76200" rotWithShape="0" algn="bl" dir="8100000" dist="25400">
              <a:srgbClr val="000000">
                <a:alpha val="705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7"/>
          <p:cNvSpPr/>
          <p:nvPr/>
        </p:nvSpPr>
        <p:spPr>
          <a:xfrm>
            <a:off x="502920" y="1691640"/>
            <a:ext cx="5486400" cy="502920"/>
          </a:xfrm>
          <a:prstGeom prst="rect">
            <a:avLst/>
          </a:prstGeom>
          <a:solidFill>
            <a:srgbClr val="8B3A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7"/>
          <p:cNvSpPr/>
          <p:nvPr/>
        </p:nvSpPr>
        <p:spPr>
          <a:xfrm>
            <a:off x="685800" y="1783080"/>
            <a:ext cx="51206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DO IT</a:t>
            </a:r>
            <a:endParaRPr b="0" i="0" sz="1600" u="none" cap="none" strike="noStrike">
              <a:solidFill>
                <a:schemeClr val="dk1"/>
              </a:solidFill>
              <a:latin typeface="Trebuchet MS"/>
              <a:ea typeface="Trebuchet MS"/>
              <a:cs typeface="Trebuchet MS"/>
              <a:sym typeface="Trebuchet MS"/>
            </a:endParaRPr>
          </a:p>
        </p:txBody>
      </p:sp>
      <p:sp>
        <p:nvSpPr>
          <p:cNvPr id="202" name="Google Shape;202;p7"/>
          <p:cNvSpPr/>
          <p:nvPr/>
        </p:nvSpPr>
        <p:spPr>
          <a:xfrm>
            <a:off x="731520" y="2377440"/>
            <a:ext cx="50292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300"/>
              <a:buFont typeface="Arial"/>
              <a:buNone/>
            </a:pPr>
            <a:r>
              <a:rPr b="0" i="0" lang="en-US" sz="1300" u="none" cap="none" strike="noStrike">
                <a:solidFill>
                  <a:srgbClr val="2A1A20"/>
                </a:solidFill>
                <a:latin typeface="Arial"/>
                <a:ea typeface="Arial"/>
                <a:cs typeface="Arial"/>
                <a:sym typeface="Arial"/>
              </a:rPr>
              <a:t>▸  Greet every Client at least twice — and again whenever you pass them.</a:t>
            </a:r>
            <a:endParaRPr b="0" i="0" sz="1300" u="none" cap="none" strike="noStrike">
              <a:solidFill>
                <a:schemeClr val="dk1"/>
              </a:solidFill>
              <a:latin typeface="Trebuchet MS"/>
              <a:ea typeface="Trebuchet MS"/>
              <a:cs typeface="Trebuchet MS"/>
              <a:sym typeface="Trebuchet MS"/>
            </a:endParaRPr>
          </a:p>
        </p:txBody>
      </p:sp>
      <p:sp>
        <p:nvSpPr>
          <p:cNvPr id="203" name="Google Shape;203;p7"/>
          <p:cNvSpPr/>
          <p:nvPr/>
        </p:nvSpPr>
        <p:spPr>
          <a:xfrm>
            <a:off x="731520" y="2971800"/>
            <a:ext cx="50292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300"/>
              <a:buFont typeface="Arial"/>
              <a:buNone/>
            </a:pPr>
            <a:r>
              <a:rPr b="0" i="0" lang="en-US" sz="1300" u="none" cap="none" strike="noStrike">
                <a:solidFill>
                  <a:srgbClr val="2A1A20"/>
                </a:solidFill>
                <a:latin typeface="Arial"/>
                <a:ea typeface="Arial"/>
                <a:cs typeface="Arial"/>
                <a:sym typeface="Arial"/>
              </a:rPr>
              <a:t>▸  In the in-between moments: smile, offer water, validate their excitement.</a:t>
            </a:r>
            <a:endParaRPr b="0" i="0" sz="1300" u="none" cap="none" strike="noStrike">
              <a:solidFill>
                <a:schemeClr val="dk1"/>
              </a:solidFill>
              <a:latin typeface="Trebuchet MS"/>
              <a:ea typeface="Trebuchet MS"/>
              <a:cs typeface="Trebuchet MS"/>
              <a:sym typeface="Trebuchet MS"/>
            </a:endParaRPr>
          </a:p>
        </p:txBody>
      </p:sp>
      <p:sp>
        <p:nvSpPr>
          <p:cNvPr id="204" name="Google Shape;204;p7"/>
          <p:cNvSpPr/>
          <p:nvPr/>
        </p:nvSpPr>
        <p:spPr>
          <a:xfrm>
            <a:off x="731520" y="3566160"/>
            <a:ext cx="50292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300"/>
              <a:buFont typeface="Arial"/>
              <a:buNone/>
            </a:pPr>
            <a:r>
              <a:rPr b="0" i="0" lang="en-US" sz="1300" u="none" cap="none" strike="noStrike">
                <a:solidFill>
                  <a:srgbClr val="2A1A20"/>
                </a:solidFill>
                <a:latin typeface="Arial"/>
                <a:ea typeface="Arial"/>
                <a:cs typeface="Arial"/>
                <a:sym typeface="Arial"/>
              </a:rPr>
              <a:t>▸  Confirm the next Specialist is prepared and available before you hand off.</a:t>
            </a:r>
            <a:endParaRPr b="0" i="0" sz="1300" u="none" cap="none" strike="noStrike">
              <a:solidFill>
                <a:schemeClr val="dk1"/>
              </a:solidFill>
              <a:latin typeface="Trebuchet MS"/>
              <a:ea typeface="Trebuchet MS"/>
              <a:cs typeface="Trebuchet MS"/>
              <a:sym typeface="Trebuchet MS"/>
            </a:endParaRPr>
          </a:p>
        </p:txBody>
      </p:sp>
      <p:sp>
        <p:nvSpPr>
          <p:cNvPr id="205" name="Google Shape;205;p7"/>
          <p:cNvSpPr/>
          <p:nvPr/>
        </p:nvSpPr>
        <p:spPr>
          <a:xfrm>
            <a:off x="731520" y="4160520"/>
            <a:ext cx="50292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300"/>
              <a:buFont typeface="Arial"/>
              <a:buNone/>
            </a:pPr>
            <a:r>
              <a:rPr b="0" i="0" lang="en-US" sz="1300" u="none" cap="none" strike="noStrike">
                <a:solidFill>
                  <a:srgbClr val="2A1A20"/>
                </a:solidFill>
                <a:latin typeface="Arial"/>
                <a:ea typeface="Arial"/>
                <a:cs typeface="Arial"/>
                <a:sym typeface="Arial"/>
              </a:rPr>
              <a:t>▸  Sit Clients down quickly with a warm introduction.</a:t>
            </a:r>
            <a:endParaRPr b="0" i="0" sz="1300" u="none" cap="none" strike="noStrike">
              <a:solidFill>
                <a:schemeClr val="dk1"/>
              </a:solidFill>
              <a:latin typeface="Trebuchet MS"/>
              <a:ea typeface="Trebuchet MS"/>
              <a:cs typeface="Trebuchet MS"/>
              <a:sym typeface="Trebuchet MS"/>
            </a:endParaRPr>
          </a:p>
        </p:txBody>
      </p:sp>
      <p:sp>
        <p:nvSpPr>
          <p:cNvPr id="206" name="Google Shape;206;p7"/>
          <p:cNvSpPr/>
          <p:nvPr/>
        </p:nvSpPr>
        <p:spPr>
          <a:xfrm>
            <a:off x="731520" y="4754880"/>
            <a:ext cx="50292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300"/>
              <a:buFont typeface="Arial"/>
              <a:buNone/>
            </a:pPr>
            <a:r>
              <a:rPr b="0" i="0" lang="en-US" sz="1300" u="none" cap="none" strike="noStrike">
                <a:solidFill>
                  <a:srgbClr val="2A1A20"/>
                </a:solidFill>
                <a:latin typeface="Arial"/>
                <a:ea typeface="Arial"/>
                <a:cs typeface="Arial"/>
                <a:sym typeface="Arial"/>
              </a:rPr>
              <a:t>▸  Watch your body language: upright, open gestures, lean in, smile.</a:t>
            </a:r>
            <a:endParaRPr b="0" i="0" sz="1300" u="none" cap="none" strike="noStrike">
              <a:solidFill>
                <a:schemeClr val="dk1"/>
              </a:solidFill>
              <a:latin typeface="Trebuchet MS"/>
              <a:ea typeface="Trebuchet MS"/>
              <a:cs typeface="Trebuchet MS"/>
              <a:sym typeface="Trebuchet MS"/>
            </a:endParaRPr>
          </a:p>
        </p:txBody>
      </p:sp>
      <p:sp>
        <p:nvSpPr>
          <p:cNvPr id="207" name="Google Shape;207;p7"/>
          <p:cNvSpPr/>
          <p:nvPr/>
        </p:nvSpPr>
        <p:spPr>
          <a:xfrm>
            <a:off x="6217920" y="1691640"/>
            <a:ext cx="5440680" cy="4114800"/>
          </a:xfrm>
          <a:prstGeom prst="roundRect">
            <a:avLst>
              <a:gd fmla="val 2222" name="adj"/>
            </a:avLst>
          </a:prstGeom>
          <a:solidFill>
            <a:srgbClr val="F5E6EA"/>
          </a:solidFill>
          <a:ln>
            <a:noFill/>
          </a:ln>
          <a:effectLst>
            <a:outerShdw blurRad="76200" rotWithShape="0" algn="bl" dir="8100000" dist="25400">
              <a:srgbClr val="000000">
                <a:alpha val="705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7"/>
          <p:cNvSpPr/>
          <p:nvPr/>
        </p:nvSpPr>
        <p:spPr>
          <a:xfrm>
            <a:off x="6217920" y="1691640"/>
            <a:ext cx="5440680" cy="502920"/>
          </a:xfrm>
          <a:prstGeom prst="rect">
            <a:avLst/>
          </a:prstGeom>
          <a:solidFill>
            <a:srgbClr val="8B3A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7"/>
          <p:cNvSpPr/>
          <p:nvPr/>
        </p:nvSpPr>
        <p:spPr>
          <a:xfrm>
            <a:off x="6400800" y="1783080"/>
            <a:ext cx="50292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SAY IT</a:t>
            </a:r>
            <a:endParaRPr b="0" i="0" sz="1600" u="none" cap="none" strike="noStrike">
              <a:solidFill>
                <a:schemeClr val="dk1"/>
              </a:solidFill>
              <a:latin typeface="Trebuchet MS"/>
              <a:ea typeface="Trebuchet MS"/>
              <a:cs typeface="Trebuchet MS"/>
              <a:sym typeface="Trebuchet MS"/>
            </a:endParaRPr>
          </a:p>
        </p:txBody>
      </p:sp>
      <p:sp>
        <p:nvSpPr>
          <p:cNvPr id="210" name="Google Shape;210;p7"/>
          <p:cNvSpPr/>
          <p:nvPr/>
        </p:nvSpPr>
        <p:spPr>
          <a:xfrm>
            <a:off x="6492240" y="2468880"/>
            <a:ext cx="50292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216"/>
              </a:buClr>
              <a:buSzPts val="1400"/>
              <a:buFont typeface="Arial"/>
              <a:buNone/>
            </a:pPr>
            <a:r>
              <a:rPr b="1" i="0" lang="en-US" sz="1400" u="none" cap="none" strike="noStrike">
                <a:solidFill>
                  <a:srgbClr val="1F1216"/>
                </a:solidFill>
                <a:latin typeface="Arial"/>
                <a:ea typeface="Arial"/>
                <a:cs typeface="Arial"/>
                <a:sym typeface="Arial"/>
              </a:rPr>
              <a:t>Make sure you greet every client as soon as you can </a:t>
            </a:r>
            <a:endParaRPr b="0" i="0" sz="1400" u="none" cap="none" strike="noStrike">
              <a:solidFill>
                <a:schemeClr val="dk1"/>
              </a:solidFill>
              <a:latin typeface="Trebuchet MS"/>
              <a:ea typeface="Trebuchet MS"/>
              <a:cs typeface="Trebuchet MS"/>
              <a:sym typeface="Trebuchet MS"/>
            </a:endParaRPr>
          </a:p>
        </p:txBody>
      </p:sp>
      <p:sp>
        <p:nvSpPr>
          <p:cNvPr id="211" name="Google Shape;211;p7"/>
          <p:cNvSpPr/>
          <p:nvPr/>
        </p:nvSpPr>
        <p:spPr>
          <a:xfrm>
            <a:off x="6492240" y="3017520"/>
            <a:ext cx="4937760" cy="1645920"/>
          </a:xfrm>
          <a:prstGeom prst="roundRect">
            <a:avLst>
              <a:gd fmla="val 4444" name="adj"/>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7"/>
          <p:cNvSpPr/>
          <p:nvPr/>
        </p:nvSpPr>
        <p:spPr>
          <a:xfrm>
            <a:off x="6675120" y="3246120"/>
            <a:ext cx="4572000" cy="12801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216"/>
              </a:buClr>
              <a:buSzPts val="1600"/>
              <a:buFont typeface="Arial"/>
              <a:buNone/>
            </a:pPr>
            <a:r>
              <a:rPr b="0" i="1" lang="en-US" sz="1600" u="none" cap="none" strike="noStrike">
                <a:solidFill>
                  <a:srgbClr val="1F1216"/>
                </a:solidFill>
                <a:latin typeface="Arial"/>
                <a:ea typeface="Arial"/>
                <a:cs typeface="Arial"/>
                <a:sym typeface="Arial"/>
              </a:rPr>
              <a:t>"Hey my name is (Name) the manager here and (Name) is an excellent Specialist, and they are going to take great care of you. Thank you for coming in.”</a:t>
            </a:r>
            <a:endParaRPr b="0" i="0" sz="1600" u="none" cap="none" strike="noStrike">
              <a:solidFill>
                <a:schemeClr val="dk1"/>
              </a:solidFill>
              <a:latin typeface="Trebuchet MS"/>
              <a:ea typeface="Trebuchet MS"/>
              <a:cs typeface="Trebuchet MS"/>
              <a:sym typeface="Trebuchet MS"/>
            </a:endParaRPr>
          </a:p>
        </p:txBody>
      </p:sp>
      <p:sp>
        <p:nvSpPr>
          <p:cNvPr id="213" name="Google Shape;213;p7"/>
          <p:cNvSpPr/>
          <p:nvPr/>
        </p:nvSpPr>
        <p:spPr>
          <a:xfrm>
            <a:off x="6492240" y="4937760"/>
            <a:ext cx="493776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300"/>
              <a:buFont typeface="Arial"/>
              <a:buNone/>
            </a:pPr>
            <a:r>
              <a:rPr b="0" i="0" lang="en-US" sz="1300" u="none" cap="none" strike="noStrike">
                <a:solidFill>
                  <a:srgbClr val="64748B"/>
                </a:solidFill>
                <a:latin typeface="Arial"/>
                <a:ea typeface="Arial"/>
                <a:cs typeface="Arial"/>
                <a:sym typeface="Arial"/>
              </a:rPr>
              <a:t>Make it warm, specific, and name the Specialist as someone worth trusting.</a:t>
            </a:r>
            <a:endParaRPr b="0" i="0" sz="1300" u="none" cap="none" strike="noStrike">
              <a:solidFill>
                <a:schemeClr val="dk1"/>
              </a:solidFill>
              <a:latin typeface="Trebuchet MS"/>
              <a:ea typeface="Trebuchet MS"/>
              <a:cs typeface="Trebuchet MS"/>
              <a:sym typeface="Trebuchet MS"/>
            </a:endParaRPr>
          </a:p>
        </p:txBody>
      </p:sp>
      <p:pic>
        <p:nvPicPr>
          <p:cNvPr id="214" name="Google Shape;214;p7" title="caprec-2026-07-28-17-12-32.webm">
            <a:hlinkClick r:id="rId3"/>
          </p:cNvPr>
          <p:cNvPicPr preferRelativeResize="0"/>
          <p:nvPr/>
        </p:nvPicPr>
        <p:blipFill>
          <a:blip r:embed="rId4">
            <a:alphaModFix/>
          </a:blip>
          <a:stretch>
            <a:fillRect/>
          </a:stretch>
        </p:blipFill>
        <p:spPr>
          <a:xfrm>
            <a:off x="3810000" y="1714500"/>
            <a:ext cx="9144" cy="9144"/>
          </a:xfrm>
          <a:prstGeom prst="rect">
            <a:avLst/>
          </a:prstGeom>
          <a:noFill/>
          <a:ln>
            <a:noFill/>
          </a:ln>
        </p:spPr>
      </p:pic>
      <p:pic>
        <p:nvPicPr>
          <p:cNvPr id="215" name="Google Shape;215;p7" title="Picture1.png"/>
          <p:cNvPicPr preferRelativeResize="0"/>
          <p:nvPr/>
        </p:nvPicPr>
        <p:blipFill>
          <a:blip r:embed="rId5">
            <a:alphaModFix/>
          </a:blip>
          <a:stretch>
            <a:fillRect/>
          </a:stretch>
        </p:blipFill>
        <p:spPr>
          <a:xfrm>
            <a:off x="11186625" y="5943600"/>
            <a:ext cx="822950" cy="822950"/>
          </a:xfrm>
          <a:prstGeom prst="rect">
            <a:avLst/>
          </a:prstGeom>
          <a:noFill/>
          <a:ln>
            <a:noFill/>
          </a:ln>
        </p:spPr>
      </p:pic>
      <p:pic>
        <p:nvPicPr>
          <p:cNvPr id="216" name="Google Shape;216;p7" title="grok-image-6bee5419-570b-4123-8542-27b02a1104ea.jpg"/>
          <p:cNvPicPr preferRelativeResize="0"/>
          <p:nvPr/>
        </p:nvPicPr>
        <p:blipFill>
          <a:blip r:embed="rId6">
            <a:alphaModFix/>
          </a:blip>
          <a:stretch>
            <a:fillRect/>
          </a:stretch>
        </p:blipFill>
        <p:spPr>
          <a:xfrm>
            <a:off x="77450" y="5943600"/>
            <a:ext cx="1234419" cy="8229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14"/>
                                        </p:tgtEl>
                                        <p:attrNameLst>
                                          <p:attrName>style.visibility</p:attrName>
                                        </p:attrNameLst>
                                      </p:cBhvr>
                                      <p:to>
                                        <p:strVal val="visible"/>
                                      </p:to>
                                    </p:set>
                                    <p:animEffect filter="fade" transition="in">
                                      <p:cBhvr>
                                        <p:cTn dur="1000"/>
                                        <p:tgtEl>
                                          <p:spTgt spid="2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1" name="Shape 221"/>
        <p:cNvGrpSpPr/>
        <p:nvPr/>
      </p:nvGrpSpPr>
      <p:grpSpPr>
        <a:xfrm>
          <a:off x="0" y="0"/>
          <a:ext cx="0" cy="0"/>
          <a:chOff x="0" y="0"/>
          <a:chExt cx="0" cy="0"/>
        </a:xfrm>
      </p:grpSpPr>
      <p:pic>
        <p:nvPicPr>
          <p:cNvPr id="222" name="Google Shape;222;p8" title="grok-image-6bee5419-570b-4123-8542-27b02a1104ea.jpg"/>
          <p:cNvPicPr preferRelativeResize="0"/>
          <p:nvPr/>
        </p:nvPicPr>
        <p:blipFill>
          <a:blip r:embed="rId3">
            <a:alphaModFix/>
          </a:blip>
          <a:stretch>
            <a:fillRect/>
          </a:stretch>
        </p:blipFill>
        <p:spPr>
          <a:xfrm>
            <a:off x="77450" y="5943600"/>
            <a:ext cx="1234419" cy="822950"/>
          </a:xfrm>
          <a:prstGeom prst="rect">
            <a:avLst/>
          </a:prstGeom>
          <a:noFill/>
          <a:ln>
            <a:noFill/>
          </a:ln>
        </p:spPr>
      </p:pic>
      <p:sp>
        <p:nvSpPr>
          <p:cNvPr id="223" name="Google Shape;223;p8"/>
          <p:cNvSpPr/>
          <p:nvPr/>
        </p:nvSpPr>
        <p:spPr>
          <a:xfrm>
            <a:off x="502920" y="256032"/>
            <a:ext cx="1115568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216"/>
              </a:buClr>
              <a:buSzPts val="2600"/>
              <a:buFont typeface="Arial"/>
              <a:buNone/>
            </a:pPr>
            <a:r>
              <a:rPr b="1" i="0" lang="en-US" sz="2600" u="none" cap="none" strike="noStrike">
                <a:solidFill>
                  <a:srgbClr val="1F1216"/>
                </a:solidFill>
                <a:latin typeface="Arial"/>
                <a:ea typeface="Arial"/>
                <a:cs typeface="Arial"/>
                <a:sym typeface="Arial"/>
              </a:rPr>
              <a:t>A — Assess</a:t>
            </a:r>
            <a:endParaRPr b="0" i="0" sz="2600" u="none" cap="none" strike="noStrike">
              <a:solidFill>
                <a:schemeClr val="dk1"/>
              </a:solidFill>
              <a:latin typeface="Trebuchet MS"/>
              <a:ea typeface="Trebuchet MS"/>
              <a:cs typeface="Trebuchet MS"/>
              <a:sym typeface="Trebuchet MS"/>
            </a:endParaRPr>
          </a:p>
        </p:txBody>
      </p:sp>
      <p:cxnSp>
        <p:nvCxnSpPr>
          <p:cNvPr id="224" name="Google Shape;224;p8"/>
          <p:cNvCxnSpPr/>
          <p:nvPr/>
        </p:nvCxnSpPr>
        <p:spPr>
          <a:xfrm>
            <a:off x="502920" y="896112"/>
            <a:ext cx="11155680" cy="0"/>
          </a:xfrm>
          <a:prstGeom prst="straightConnector1">
            <a:avLst/>
          </a:prstGeom>
          <a:noFill/>
          <a:ln cap="flat" cmpd="sng" w="25400">
            <a:solidFill>
              <a:srgbClr val="8B3A4F"/>
            </a:solidFill>
            <a:prstDash val="solid"/>
            <a:round/>
            <a:headEnd len="sm" w="sm" type="none"/>
            <a:tailEnd len="sm" w="sm" type="none"/>
          </a:ln>
        </p:spPr>
      </p:cxnSp>
      <p:sp>
        <p:nvSpPr>
          <p:cNvPr id="225" name="Google Shape;225;p8"/>
          <p:cNvSpPr/>
          <p:nvPr/>
        </p:nvSpPr>
        <p:spPr>
          <a:xfrm>
            <a:off x="5669270" y="6720835"/>
            <a:ext cx="73140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8</a:t>
            </a:r>
            <a:endParaRPr b="0" i="0" sz="1000" u="none" cap="none" strike="noStrike">
              <a:solidFill>
                <a:schemeClr val="dk1"/>
              </a:solidFill>
              <a:latin typeface="Trebuchet MS"/>
              <a:ea typeface="Trebuchet MS"/>
              <a:cs typeface="Trebuchet MS"/>
              <a:sym typeface="Trebuchet MS"/>
            </a:endParaRPr>
          </a:p>
        </p:txBody>
      </p:sp>
      <p:sp>
        <p:nvSpPr>
          <p:cNvPr id="226" name="Google Shape;226;p8"/>
          <p:cNvSpPr/>
          <p:nvPr/>
        </p:nvSpPr>
        <p:spPr>
          <a:xfrm>
            <a:off x="502920" y="1051560"/>
            <a:ext cx="1115568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500"/>
              <a:buFont typeface="Arial"/>
              <a:buNone/>
            </a:pPr>
            <a:r>
              <a:rPr b="0" i="0" lang="en-US" sz="1500" u="none" cap="none" strike="noStrike">
                <a:solidFill>
                  <a:srgbClr val="2A1A20"/>
                </a:solidFill>
                <a:latin typeface="Arial"/>
                <a:ea typeface="Arial"/>
                <a:cs typeface="Arial"/>
                <a:sym typeface="Arial"/>
              </a:rPr>
              <a:t>Reading the floor is the core skill. Green flags you protect. Red flags you answer.</a:t>
            </a:r>
            <a:endParaRPr b="0" i="0" sz="1500" u="none" cap="none" strike="noStrike">
              <a:solidFill>
                <a:schemeClr val="dk1"/>
              </a:solidFill>
              <a:latin typeface="Trebuchet MS"/>
              <a:ea typeface="Trebuchet MS"/>
              <a:cs typeface="Trebuchet MS"/>
              <a:sym typeface="Trebuchet MS"/>
            </a:endParaRPr>
          </a:p>
        </p:txBody>
      </p:sp>
      <p:sp>
        <p:nvSpPr>
          <p:cNvPr id="227" name="Google Shape;227;p8"/>
          <p:cNvSpPr/>
          <p:nvPr/>
        </p:nvSpPr>
        <p:spPr>
          <a:xfrm>
            <a:off x="502920" y="1508760"/>
            <a:ext cx="5486400" cy="4709160"/>
          </a:xfrm>
          <a:prstGeom prst="roundRect">
            <a:avLst>
              <a:gd fmla="val 1942" name="adj"/>
            </a:avLst>
          </a:prstGeom>
          <a:solidFill>
            <a:srgbClr val="ECFD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8"/>
          <p:cNvSpPr/>
          <p:nvPr/>
        </p:nvSpPr>
        <p:spPr>
          <a:xfrm>
            <a:off x="502920" y="1508760"/>
            <a:ext cx="5486400" cy="502920"/>
          </a:xfrm>
          <a:prstGeom prst="rect">
            <a:avLst/>
          </a:prstGeom>
          <a:solidFill>
            <a:srgbClr val="0596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8"/>
          <p:cNvSpPr/>
          <p:nvPr/>
        </p:nvSpPr>
        <p:spPr>
          <a:xfrm>
            <a:off x="685800" y="1600200"/>
            <a:ext cx="51206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GREEN FLAGS  ·  Keep Going</a:t>
            </a:r>
            <a:endParaRPr b="0" i="0" sz="1500" u="none" cap="none" strike="noStrike">
              <a:solidFill>
                <a:schemeClr val="dk1"/>
              </a:solidFill>
              <a:latin typeface="Trebuchet MS"/>
              <a:ea typeface="Trebuchet MS"/>
              <a:cs typeface="Trebuchet MS"/>
              <a:sym typeface="Trebuchet MS"/>
            </a:endParaRPr>
          </a:p>
        </p:txBody>
      </p:sp>
      <p:sp>
        <p:nvSpPr>
          <p:cNvPr id="230" name="Google Shape;230;p8"/>
          <p:cNvSpPr/>
          <p:nvPr/>
        </p:nvSpPr>
        <p:spPr>
          <a:xfrm>
            <a:off x="731520" y="2194560"/>
            <a:ext cx="50292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300"/>
              <a:buFont typeface="Arial"/>
              <a:buNone/>
            </a:pPr>
            <a:r>
              <a:rPr b="0" i="0" lang="en-US" sz="1300" u="none" cap="none" strike="noStrike">
                <a:solidFill>
                  <a:srgbClr val="2A1A20"/>
                </a:solidFill>
                <a:latin typeface="Arial"/>
                <a:ea typeface="Arial"/>
                <a:cs typeface="Arial"/>
                <a:sym typeface="Arial"/>
              </a:rPr>
              <a:t>✓  Smiles, surprise, or enthusiasm (a WOW moment)</a:t>
            </a:r>
            <a:endParaRPr b="0" i="0" sz="1300" u="none" cap="none" strike="noStrike">
              <a:solidFill>
                <a:schemeClr val="dk1"/>
              </a:solidFill>
              <a:latin typeface="Trebuchet MS"/>
              <a:ea typeface="Trebuchet MS"/>
              <a:cs typeface="Trebuchet MS"/>
              <a:sym typeface="Trebuchet MS"/>
            </a:endParaRPr>
          </a:p>
        </p:txBody>
      </p:sp>
      <p:sp>
        <p:nvSpPr>
          <p:cNvPr id="231" name="Google Shape;231;p8"/>
          <p:cNvSpPr/>
          <p:nvPr/>
        </p:nvSpPr>
        <p:spPr>
          <a:xfrm>
            <a:off x="731520" y="2697480"/>
            <a:ext cx="50292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300"/>
              <a:buFont typeface="Arial"/>
              <a:buNone/>
            </a:pPr>
            <a:r>
              <a:rPr b="0" i="0" lang="en-US" sz="1300" u="none" cap="none" strike="noStrike">
                <a:solidFill>
                  <a:srgbClr val="2A1A20"/>
                </a:solidFill>
                <a:latin typeface="Arial"/>
                <a:ea typeface="Arial"/>
                <a:cs typeface="Arial"/>
                <a:sym typeface="Arial"/>
              </a:rPr>
              <a:t>✓  Leaning forward, walking confidently, trying multiple steps</a:t>
            </a:r>
            <a:endParaRPr b="0" i="0" sz="1300" u="none" cap="none" strike="noStrike">
              <a:solidFill>
                <a:schemeClr val="dk1"/>
              </a:solidFill>
              <a:latin typeface="Trebuchet MS"/>
              <a:ea typeface="Trebuchet MS"/>
              <a:cs typeface="Trebuchet MS"/>
              <a:sym typeface="Trebuchet MS"/>
            </a:endParaRPr>
          </a:p>
        </p:txBody>
      </p:sp>
      <p:sp>
        <p:nvSpPr>
          <p:cNvPr id="232" name="Google Shape;232;p8"/>
          <p:cNvSpPr/>
          <p:nvPr/>
        </p:nvSpPr>
        <p:spPr>
          <a:xfrm>
            <a:off x="731520" y="3200400"/>
            <a:ext cx="50292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300"/>
              <a:buFont typeface="Arial"/>
              <a:buNone/>
            </a:pPr>
            <a:r>
              <a:rPr b="0" i="0" lang="en-US" sz="1300" u="none" cap="none" strike="noStrike">
                <a:solidFill>
                  <a:srgbClr val="2A1A20"/>
                </a:solidFill>
                <a:latin typeface="Arial"/>
                <a:ea typeface="Arial"/>
                <a:cs typeface="Arial"/>
                <a:sym typeface="Arial"/>
              </a:rPr>
              <a:t>✓  References their reason for visiting (pain, comfort, performance)</a:t>
            </a:r>
            <a:endParaRPr b="0" i="0" sz="1300" u="none" cap="none" strike="noStrike">
              <a:solidFill>
                <a:schemeClr val="dk1"/>
              </a:solidFill>
              <a:latin typeface="Trebuchet MS"/>
              <a:ea typeface="Trebuchet MS"/>
              <a:cs typeface="Trebuchet MS"/>
              <a:sym typeface="Trebuchet MS"/>
            </a:endParaRPr>
          </a:p>
        </p:txBody>
      </p:sp>
      <p:sp>
        <p:nvSpPr>
          <p:cNvPr id="233" name="Google Shape;233;p8"/>
          <p:cNvSpPr/>
          <p:nvPr/>
        </p:nvSpPr>
        <p:spPr>
          <a:xfrm>
            <a:off x="731520" y="3703320"/>
            <a:ext cx="50292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300"/>
              <a:buFont typeface="Arial"/>
              <a:buNone/>
            </a:pPr>
            <a:r>
              <a:rPr b="0" i="0" lang="en-US" sz="1300" u="none" cap="none" strike="noStrike">
                <a:solidFill>
                  <a:srgbClr val="2A1A20"/>
                </a:solidFill>
                <a:latin typeface="Arial"/>
                <a:ea typeface="Arial"/>
                <a:cs typeface="Arial"/>
                <a:sym typeface="Arial"/>
              </a:rPr>
              <a:t>✓  Balance technique lands as an aha moment</a:t>
            </a:r>
            <a:endParaRPr b="0" i="0" sz="1300" u="none" cap="none" strike="noStrike">
              <a:solidFill>
                <a:schemeClr val="dk1"/>
              </a:solidFill>
              <a:latin typeface="Trebuchet MS"/>
              <a:ea typeface="Trebuchet MS"/>
              <a:cs typeface="Trebuchet MS"/>
              <a:sym typeface="Trebuchet MS"/>
            </a:endParaRPr>
          </a:p>
        </p:txBody>
      </p:sp>
      <p:sp>
        <p:nvSpPr>
          <p:cNvPr id="234" name="Google Shape;234;p8"/>
          <p:cNvSpPr/>
          <p:nvPr/>
        </p:nvSpPr>
        <p:spPr>
          <a:xfrm>
            <a:off x="731520" y="4206240"/>
            <a:ext cx="50292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300"/>
              <a:buFont typeface="Arial"/>
              <a:buNone/>
            </a:pPr>
            <a:r>
              <a:rPr b="0" i="0" lang="en-US" sz="1300" u="none" cap="none" strike="noStrike">
                <a:solidFill>
                  <a:srgbClr val="2A1A20"/>
                </a:solidFill>
                <a:latin typeface="Arial"/>
                <a:ea typeface="Arial"/>
                <a:cs typeface="Arial"/>
                <a:sym typeface="Arial"/>
              </a:rPr>
              <a:t>✓  Walks the supports 5+ laps; Strengthener re-tested</a:t>
            </a:r>
            <a:endParaRPr b="0" i="0" sz="1300" u="none" cap="none" strike="noStrike">
              <a:solidFill>
                <a:schemeClr val="dk1"/>
              </a:solidFill>
              <a:latin typeface="Trebuchet MS"/>
              <a:ea typeface="Trebuchet MS"/>
              <a:cs typeface="Trebuchet MS"/>
              <a:sym typeface="Trebuchet MS"/>
            </a:endParaRPr>
          </a:p>
        </p:txBody>
      </p:sp>
      <p:sp>
        <p:nvSpPr>
          <p:cNvPr id="235" name="Google Shape;235;p8"/>
          <p:cNvSpPr/>
          <p:nvPr/>
        </p:nvSpPr>
        <p:spPr>
          <a:xfrm>
            <a:off x="731520" y="4709160"/>
            <a:ext cx="50292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300"/>
              <a:buFont typeface="Arial"/>
              <a:buNone/>
            </a:pPr>
            <a:r>
              <a:rPr b="0" i="0" lang="en-US" sz="1300" u="none" cap="none" strike="noStrike">
                <a:solidFill>
                  <a:srgbClr val="2A1A20"/>
                </a:solidFill>
                <a:latin typeface="Arial"/>
                <a:ea typeface="Arial"/>
                <a:cs typeface="Arial"/>
                <a:sym typeface="Arial"/>
              </a:rPr>
              <a:t>✓  Silence is respected on test walks and at the register</a:t>
            </a:r>
            <a:endParaRPr b="0" i="0" sz="1300" u="none" cap="none" strike="noStrike">
              <a:solidFill>
                <a:schemeClr val="dk1"/>
              </a:solidFill>
              <a:latin typeface="Trebuchet MS"/>
              <a:ea typeface="Trebuchet MS"/>
              <a:cs typeface="Trebuchet MS"/>
              <a:sym typeface="Trebuchet MS"/>
            </a:endParaRPr>
          </a:p>
        </p:txBody>
      </p:sp>
      <p:sp>
        <p:nvSpPr>
          <p:cNvPr id="236" name="Google Shape;236;p8"/>
          <p:cNvSpPr/>
          <p:nvPr/>
        </p:nvSpPr>
        <p:spPr>
          <a:xfrm>
            <a:off x="731520" y="5212080"/>
            <a:ext cx="50292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300"/>
              <a:buFont typeface="Arial"/>
              <a:buNone/>
            </a:pPr>
            <a:r>
              <a:rPr b="0" i="0" lang="en-US" sz="1300" u="none" cap="none" strike="noStrike">
                <a:solidFill>
                  <a:srgbClr val="2A1A20"/>
                </a:solidFill>
                <a:latin typeface="Arial"/>
                <a:ea typeface="Arial"/>
                <a:cs typeface="Arial"/>
                <a:sym typeface="Arial"/>
              </a:rPr>
              <a:t>✓  Puts the supports in their own shoes (ownership)</a:t>
            </a:r>
            <a:endParaRPr b="0" i="0" sz="1300" u="none" cap="none" strike="noStrike">
              <a:solidFill>
                <a:schemeClr val="dk1"/>
              </a:solidFill>
              <a:latin typeface="Trebuchet MS"/>
              <a:ea typeface="Trebuchet MS"/>
              <a:cs typeface="Trebuchet MS"/>
              <a:sym typeface="Trebuchet MS"/>
            </a:endParaRPr>
          </a:p>
        </p:txBody>
      </p:sp>
      <p:sp>
        <p:nvSpPr>
          <p:cNvPr id="237" name="Google Shape;237;p8"/>
          <p:cNvSpPr/>
          <p:nvPr/>
        </p:nvSpPr>
        <p:spPr>
          <a:xfrm>
            <a:off x="6172200" y="1508760"/>
            <a:ext cx="5486400" cy="4709160"/>
          </a:xfrm>
          <a:prstGeom prst="roundRect">
            <a:avLst>
              <a:gd fmla="val 1942" name="adj"/>
            </a:avLst>
          </a:prstGeom>
          <a:solidFill>
            <a:srgbClr val="FE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8"/>
          <p:cNvSpPr/>
          <p:nvPr/>
        </p:nvSpPr>
        <p:spPr>
          <a:xfrm>
            <a:off x="6172200" y="1508760"/>
            <a:ext cx="5486400" cy="502920"/>
          </a:xfrm>
          <a:prstGeom prst="rect">
            <a:avLst/>
          </a:prstGeom>
          <a:solidFill>
            <a:srgbClr val="DC262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8"/>
          <p:cNvSpPr/>
          <p:nvPr/>
        </p:nvSpPr>
        <p:spPr>
          <a:xfrm>
            <a:off x="6355080" y="1600200"/>
            <a:ext cx="51206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RED FLAGS  ·  Step In</a:t>
            </a:r>
            <a:endParaRPr b="0" i="0" sz="1500" u="none" cap="none" strike="noStrike">
              <a:solidFill>
                <a:schemeClr val="dk1"/>
              </a:solidFill>
              <a:latin typeface="Trebuchet MS"/>
              <a:ea typeface="Trebuchet MS"/>
              <a:cs typeface="Trebuchet MS"/>
              <a:sym typeface="Trebuchet MS"/>
            </a:endParaRPr>
          </a:p>
        </p:txBody>
      </p:sp>
      <p:sp>
        <p:nvSpPr>
          <p:cNvPr id="240" name="Google Shape;240;p8"/>
          <p:cNvSpPr/>
          <p:nvPr/>
        </p:nvSpPr>
        <p:spPr>
          <a:xfrm>
            <a:off x="6400800" y="2194560"/>
            <a:ext cx="50292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300"/>
              <a:buFont typeface="Arial"/>
              <a:buNone/>
            </a:pPr>
            <a:r>
              <a:rPr b="0" i="0" lang="en-US" sz="1300" u="none" cap="none" strike="noStrike">
                <a:solidFill>
                  <a:srgbClr val="2A1A20"/>
                </a:solidFill>
                <a:latin typeface="Arial"/>
                <a:ea typeface="Arial"/>
                <a:cs typeface="Arial"/>
                <a:sym typeface="Arial"/>
              </a:rPr>
              <a:t>△  Too much talking during test walks or at the register</a:t>
            </a:r>
            <a:endParaRPr b="0" i="0" sz="1300" u="none" cap="none" strike="noStrike">
              <a:solidFill>
                <a:schemeClr val="dk1"/>
              </a:solidFill>
              <a:latin typeface="Trebuchet MS"/>
              <a:ea typeface="Trebuchet MS"/>
              <a:cs typeface="Trebuchet MS"/>
              <a:sym typeface="Trebuchet MS"/>
            </a:endParaRPr>
          </a:p>
        </p:txBody>
      </p:sp>
      <p:sp>
        <p:nvSpPr>
          <p:cNvPr id="241" name="Google Shape;241;p8"/>
          <p:cNvSpPr/>
          <p:nvPr/>
        </p:nvSpPr>
        <p:spPr>
          <a:xfrm>
            <a:off x="6400800" y="2697480"/>
            <a:ext cx="50292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300"/>
              <a:buFont typeface="Arial"/>
              <a:buNone/>
            </a:pPr>
            <a:r>
              <a:rPr b="0" i="0" lang="en-US" sz="1300" u="none" cap="none" strike="noStrike">
                <a:solidFill>
                  <a:srgbClr val="2A1A20"/>
                </a:solidFill>
                <a:latin typeface="Arial"/>
                <a:ea typeface="Arial"/>
                <a:cs typeface="Arial"/>
                <a:sym typeface="Arial"/>
              </a:rPr>
              <a:t>△  Neutral language: “fine,” “maybe,” “hard to tell if it helps”</a:t>
            </a:r>
            <a:endParaRPr b="0" i="0" sz="1300" u="none" cap="none" strike="noStrike">
              <a:solidFill>
                <a:schemeClr val="dk1"/>
              </a:solidFill>
              <a:latin typeface="Trebuchet MS"/>
              <a:ea typeface="Trebuchet MS"/>
              <a:cs typeface="Trebuchet MS"/>
              <a:sym typeface="Trebuchet MS"/>
            </a:endParaRPr>
          </a:p>
        </p:txBody>
      </p:sp>
      <p:sp>
        <p:nvSpPr>
          <p:cNvPr id="242" name="Google Shape;242;p8"/>
          <p:cNvSpPr/>
          <p:nvPr/>
        </p:nvSpPr>
        <p:spPr>
          <a:xfrm>
            <a:off x="6400800" y="3200400"/>
            <a:ext cx="50292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300"/>
              <a:buFont typeface="Arial"/>
              <a:buNone/>
            </a:pPr>
            <a:r>
              <a:rPr b="0" i="0" lang="en-US" sz="1300" u="none" cap="none" strike="noStrike">
                <a:solidFill>
                  <a:srgbClr val="2A1A20"/>
                </a:solidFill>
                <a:latin typeface="Arial"/>
                <a:ea typeface="Arial"/>
                <a:cs typeface="Arial"/>
                <a:sym typeface="Arial"/>
              </a:rPr>
              <a:t>△  Puts their shoes back on early or avoids the supports</a:t>
            </a:r>
            <a:endParaRPr b="0" i="0" sz="1300" u="none" cap="none" strike="noStrike">
              <a:solidFill>
                <a:schemeClr val="dk1"/>
              </a:solidFill>
              <a:latin typeface="Trebuchet MS"/>
              <a:ea typeface="Trebuchet MS"/>
              <a:cs typeface="Trebuchet MS"/>
              <a:sym typeface="Trebuchet MS"/>
            </a:endParaRPr>
          </a:p>
        </p:txBody>
      </p:sp>
      <p:sp>
        <p:nvSpPr>
          <p:cNvPr id="243" name="Google Shape;243;p8"/>
          <p:cNvSpPr/>
          <p:nvPr/>
        </p:nvSpPr>
        <p:spPr>
          <a:xfrm>
            <a:off x="6400800" y="3703320"/>
            <a:ext cx="50292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300"/>
              <a:buFont typeface="Arial"/>
              <a:buNone/>
            </a:pPr>
            <a:r>
              <a:rPr b="0" i="0" lang="en-US" sz="1300" u="none" cap="none" strike="noStrike">
                <a:solidFill>
                  <a:srgbClr val="2A1A20"/>
                </a:solidFill>
                <a:latin typeface="Arial"/>
                <a:ea typeface="Arial"/>
                <a:cs typeface="Arial"/>
                <a:sym typeface="Arial"/>
              </a:rPr>
              <a:t>△  Repeatedly sits before completing full test walks</a:t>
            </a:r>
            <a:endParaRPr b="0" i="0" sz="1300" u="none" cap="none" strike="noStrike">
              <a:solidFill>
                <a:schemeClr val="dk1"/>
              </a:solidFill>
              <a:latin typeface="Trebuchet MS"/>
              <a:ea typeface="Trebuchet MS"/>
              <a:cs typeface="Trebuchet MS"/>
              <a:sym typeface="Trebuchet MS"/>
            </a:endParaRPr>
          </a:p>
        </p:txBody>
      </p:sp>
      <p:sp>
        <p:nvSpPr>
          <p:cNvPr id="244" name="Google Shape;244;p8"/>
          <p:cNvSpPr/>
          <p:nvPr/>
        </p:nvSpPr>
        <p:spPr>
          <a:xfrm>
            <a:off x="6400800" y="4206240"/>
            <a:ext cx="50292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300"/>
              <a:buFont typeface="Arial"/>
              <a:buNone/>
            </a:pPr>
            <a:r>
              <a:rPr b="0" i="0" lang="en-US" sz="1300" u="none" cap="none" strike="noStrike">
                <a:solidFill>
                  <a:srgbClr val="2A1A20"/>
                </a:solidFill>
                <a:latin typeface="Arial"/>
                <a:ea typeface="Arial"/>
                <a:cs typeface="Arial"/>
                <a:sym typeface="Arial"/>
              </a:rPr>
              <a:t>△  One-word answers, awkward giggles, or disengagement</a:t>
            </a:r>
            <a:endParaRPr b="0" i="0" sz="1300" u="none" cap="none" strike="noStrike">
              <a:solidFill>
                <a:schemeClr val="dk1"/>
              </a:solidFill>
              <a:latin typeface="Trebuchet MS"/>
              <a:ea typeface="Trebuchet MS"/>
              <a:cs typeface="Trebuchet MS"/>
              <a:sym typeface="Trebuchet MS"/>
            </a:endParaRPr>
          </a:p>
        </p:txBody>
      </p:sp>
      <p:sp>
        <p:nvSpPr>
          <p:cNvPr id="245" name="Google Shape;245;p8"/>
          <p:cNvSpPr/>
          <p:nvPr/>
        </p:nvSpPr>
        <p:spPr>
          <a:xfrm>
            <a:off x="6400800" y="4709160"/>
            <a:ext cx="50292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300"/>
              <a:buFont typeface="Arial"/>
              <a:buNone/>
            </a:pPr>
            <a:r>
              <a:rPr b="0" i="0" lang="en-US" sz="1300" u="none" cap="none" strike="noStrike">
                <a:solidFill>
                  <a:srgbClr val="2A1A20"/>
                </a:solidFill>
                <a:latin typeface="Arial"/>
                <a:ea typeface="Arial"/>
                <a:cs typeface="Arial"/>
                <a:sym typeface="Arial"/>
              </a:rPr>
              <a:t>△  Specialist oversharing personal history instead of focusing</a:t>
            </a:r>
            <a:endParaRPr b="0" i="0" sz="1300" u="none" cap="none" strike="noStrike">
              <a:solidFill>
                <a:schemeClr val="dk1"/>
              </a:solidFill>
              <a:latin typeface="Trebuchet MS"/>
              <a:ea typeface="Trebuchet MS"/>
              <a:cs typeface="Trebuchet MS"/>
              <a:sym typeface="Trebuchet MS"/>
            </a:endParaRPr>
          </a:p>
        </p:txBody>
      </p:sp>
      <p:sp>
        <p:nvSpPr>
          <p:cNvPr id="246" name="Google Shape;246;p8"/>
          <p:cNvSpPr/>
          <p:nvPr/>
        </p:nvSpPr>
        <p:spPr>
          <a:xfrm>
            <a:off x="6400800" y="5212080"/>
            <a:ext cx="50292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300"/>
              <a:buFont typeface="Arial"/>
              <a:buNone/>
            </a:pPr>
            <a:r>
              <a:rPr b="0" i="0" lang="en-US" sz="1300" u="none" cap="none" strike="noStrike">
                <a:solidFill>
                  <a:srgbClr val="2A1A20"/>
                </a:solidFill>
                <a:latin typeface="Arial"/>
                <a:ea typeface="Arial"/>
                <a:cs typeface="Arial"/>
                <a:sym typeface="Arial"/>
              </a:rPr>
              <a:t>△  Distracted: phone use, no eye contact</a:t>
            </a:r>
            <a:endParaRPr b="0" i="0" sz="1300" u="none" cap="none" strike="noStrike">
              <a:solidFill>
                <a:schemeClr val="dk1"/>
              </a:solidFill>
              <a:latin typeface="Trebuchet MS"/>
              <a:ea typeface="Trebuchet MS"/>
              <a:cs typeface="Trebuchet MS"/>
              <a:sym typeface="Trebuchet MS"/>
            </a:endParaRPr>
          </a:p>
        </p:txBody>
      </p:sp>
      <p:pic>
        <p:nvPicPr>
          <p:cNvPr id="247" name="Google Shape;247;p8" title="caprec-2026-07-28-17-19-40.webm">
            <a:hlinkClick r:id="rId4"/>
          </p:cNvPr>
          <p:cNvPicPr preferRelativeResize="0"/>
          <p:nvPr/>
        </p:nvPicPr>
        <p:blipFill>
          <a:blip r:embed="rId5">
            <a:alphaModFix/>
          </a:blip>
          <a:stretch>
            <a:fillRect/>
          </a:stretch>
        </p:blipFill>
        <p:spPr>
          <a:xfrm>
            <a:off x="3810000" y="1714500"/>
            <a:ext cx="9144" cy="9144"/>
          </a:xfrm>
          <a:prstGeom prst="rect">
            <a:avLst/>
          </a:prstGeom>
          <a:noFill/>
          <a:ln>
            <a:noFill/>
          </a:ln>
        </p:spPr>
      </p:pic>
      <p:pic>
        <p:nvPicPr>
          <p:cNvPr id="248" name="Google Shape;248;p8" title="Picture1.png"/>
          <p:cNvPicPr preferRelativeResize="0"/>
          <p:nvPr/>
        </p:nvPicPr>
        <p:blipFill>
          <a:blip r:embed="rId6">
            <a:alphaModFix/>
          </a:blip>
          <a:stretch>
            <a:fillRect/>
          </a:stretch>
        </p:blipFill>
        <p:spPr>
          <a:xfrm>
            <a:off x="11552375" y="6309350"/>
            <a:ext cx="457200" cy="457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47"/>
                                        </p:tgtEl>
                                        <p:attrNameLst>
                                          <p:attrName>style.visibility</p:attrName>
                                        </p:attrNameLst>
                                      </p:cBhvr>
                                      <p:to>
                                        <p:strVal val="visible"/>
                                      </p:to>
                                    </p:set>
                                    <p:animEffect filter="fade" transition="in">
                                      <p:cBhvr>
                                        <p:cTn dur="1000"/>
                                        <p:tgtEl>
                                          <p:spTgt spid="2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3" name="Shape 253"/>
        <p:cNvGrpSpPr/>
        <p:nvPr/>
      </p:nvGrpSpPr>
      <p:grpSpPr>
        <a:xfrm>
          <a:off x="0" y="0"/>
          <a:ext cx="0" cy="0"/>
          <a:chOff x="0" y="0"/>
          <a:chExt cx="0" cy="0"/>
        </a:xfrm>
      </p:grpSpPr>
      <p:sp>
        <p:nvSpPr>
          <p:cNvPr id="254" name="Google Shape;254;p11"/>
          <p:cNvSpPr/>
          <p:nvPr/>
        </p:nvSpPr>
        <p:spPr>
          <a:xfrm>
            <a:off x="502920" y="256032"/>
            <a:ext cx="1115568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216"/>
              </a:buClr>
              <a:buSzPts val="2600"/>
              <a:buFont typeface="Arial"/>
              <a:buNone/>
            </a:pPr>
            <a:r>
              <a:rPr b="1" i="0" lang="en-US" sz="2600" u="none" cap="none" strike="noStrike">
                <a:solidFill>
                  <a:srgbClr val="1F1216"/>
                </a:solidFill>
                <a:latin typeface="Arial"/>
                <a:ea typeface="Arial"/>
                <a:cs typeface="Arial"/>
                <a:sym typeface="Arial"/>
              </a:rPr>
              <a:t>AAH in Action</a:t>
            </a:r>
            <a:endParaRPr b="0" i="0" sz="2600" u="none" cap="none" strike="noStrike">
              <a:solidFill>
                <a:schemeClr val="dk1"/>
              </a:solidFill>
              <a:latin typeface="Trebuchet MS"/>
              <a:ea typeface="Trebuchet MS"/>
              <a:cs typeface="Trebuchet MS"/>
              <a:sym typeface="Trebuchet MS"/>
            </a:endParaRPr>
          </a:p>
        </p:txBody>
      </p:sp>
      <p:cxnSp>
        <p:nvCxnSpPr>
          <p:cNvPr id="255" name="Google Shape;255;p11"/>
          <p:cNvCxnSpPr/>
          <p:nvPr/>
        </p:nvCxnSpPr>
        <p:spPr>
          <a:xfrm>
            <a:off x="502920" y="896112"/>
            <a:ext cx="11155680" cy="0"/>
          </a:xfrm>
          <a:prstGeom prst="straightConnector1">
            <a:avLst/>
          </a:prstGeom>
          <a:noFill/>
          <a:ln cap="flat" cmpd="sng" w="25400">
            <a:solidFill>
              <a:srgbClr val="8B3A4F"/>
            </a:solidFill>
            <a:prstDash val="solid"/>
            <a:round/>
            <a:headEnd len="sm" w="sm" type="none"/>
            <a:tailEnd len="sm" w="sm" type="none"/>
          </a:ln>
        </p:spPr>
      </p:cxnSp>
      <p:sp>
        <p:nvSpPr>
          <p:cNvPr id="256" name="Google Shape;256;p11"/>
          <p:cNvSpPr/>
          <p:nvPr/>
        </p:nvSpPr>
        <p:spPr>
          <a:xfrm>
            <a:off x="5730240" y="6537960"/>
            <a:ext cx="73140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10</a:t>
            </a:r>
            <a:endParaRPr b="0" i="0" sz="1000" u="none" cap="none" strike="noStrike">
              <a:solidFill>
                <a:schemeClr val="dk1"/>
              </a:solidFill>
              <a:latin typeface="Trebuchet MS"/>
              <a:ea typeface="Trebuchet MS"/>
              <a:cs typeface="Trebuchet MS"/>
              <a:sym typeface="Trebuchet MS"/>
            </a:endParaRPr>
          </a:p>
        </p:txBody>
      </p:sp>
      <p:sp>
        <p:nvSpPr>
          <p:cNvPr id="257" name="Google Shape;257;p11"/>
          <p:cNvSpPr/>
          <p:nvPr/>
        </p:nvSpPr>
        <p:spPr>
          <a:xfrm>
            <a:off x="502920" y="1143000"/>
            <a:ext cx="3611880" cy="3200400"/>
          </a:xfrm>
          <a:prstGeom prst="roundRect">
            <a:avLst>
              <a:gd fmla="val 2857" name="adj"/>
            </a:avLst>
          </a:prstGeom>
          <a:solidFill>
            <a:srgbClr val="F8FAFC"/>
          </a:solidFill>
          <a:ln>
            <a:noFill/>
          </a:ln>
          <a:effectLst>
            <a:outerShdw blurRad="76200" rotWithShape="0" algn="bl" dir="8100000" dist="25400">
              <a:srgbClr val="000000">
                <a:alpha val="705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11"/>
          <p:cNvSpPr/>
          <p:nvPr/>
        </p:nvSpPr>
        <p:spPr>
          <a:xfrm>
            <a:off x="1828800" y="1371600"/>
            <a:ext cx="960120" cy="960120"/>
          </a:xfrm>
          <a:prstGeom prst="ellipse">
            <a:avLst/>
          </a:prstGeom>
          <a:solidFill>
            <a:srgbClr val="8B3A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11"/>
          <p:cNvSpPr/>
          <p:nvPr/>
        </p:nvSpPr>
        <p:spPr>
          <a:xfrm>
            <a:off x="1828800" y="1554480"/>
            <a:ext cx="960120"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800"/>
              <a:buFont typeface="Arial"/>
              <a:buNone/>
            </a:pPr>
            <a:r>
              <a:rPr b="1" i="0" lang="en-US" sz="2800" u="none" cap="none" strike="noStrike">
                <a:solidFill>
                  <a:srgbClr val="FFFFFF"/>
                </a:solidFill>
                <a:latin typeface="Arial"/>
                <a:ea typeface="Arial"/>
                <a:cs typeface="Arial"/>
                <a:sym typeface="Arial"/>
              </a:rPr>
              <a:t>A</a:t>
            </a:r>
            <a:endParaRPr b="0" i="0" sz="2800" u="none" cap="none" strike="noStrike">
              <a:solidFill>
                <a:schemeClr val="dk1"/>
              </a:solidFill>
              <a:latin typeface="Trebuchet MS"/>
              <a:ea typeface="Trebuchet MS"/>
              <a:cs typeface="Trebuchet MS"/>
              <a:sym typeface="Trebuchet MS"/>
            </a:endParaRPr>
          </a:p>
        </p:txBody>
      </p:sp>
      <p:sp>
        <p:nvSpPr>
          <p:cNvPr id="260" name="Google Shape;260;p11"/>
          <p:cNvSpPr/>
          <p:nvPr/>
        </p:nvSpPr>
        <p:spPr>
          <a:xfrm>
            <a:off x="685800" y="2514600"/>
            <a:ext cx="3246120" cy="3200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F1216"/>
              </a:buClr>
              <a:buSzPts val="1600"/>
              <a:buFont typeface="Arial"/>
              <a:buNone/>
            </a:pPr>
            <a:r>
              <a:rPr b="1" i="0" lang="en-US" sz="1600" u="none" cap="none" strike="noStrike">
                <a:solidFill>
                  <a:srgbClr val="1F1216"/>
                </a:solidFill>
                <a:latin typeface="Arial"/>
                <a:ea typeface="Arial"/>
                <a:cs typeface="Arial"/>
                <a:sym typeface="Arial"/>
              </a:rPr>
              <a:t>Acknowledge</a:t>
            </a:r>
            <a:endParaRPr b="0" i="0" sz="1600" u="none" cap="none" strike="noStrike">
              <a:solidFill>
                <a:schemeClr val="dk1"/>
              </a:solidFill>
              <a:latin typeface="Trebuchet MS"/>
              <a:ea typeface="Trebuchet MS"/>
              <a:cs typeface="Trebuchet MS"/>
              <a:sym typeface="Trebuchet MS"/>
            </a:endParaRPr>
          </a:p>
        </p:txBody>
      </p:sp>
      <p:sp>
        <p:nvSpPr>
          <p:cNvPr id="261" name="Google Shape;261;p11"/>
          <p:cNvSpPr/>
          <p:nvPr/>
        </p:nvSpPr>
        <p:spPr>
          <a:xfrm>
            <a:off x="731520" y="2971800"/>
            <a:ext cx="3154680"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B3A4F"/>
              </a:buClr>
              <a:buSzPts val="1300"/>
              <a:buFont typeface="Arial"/>
              <a:buNone/>
            </a:pPr>
            <a:r>
              <a:rPr b="0" i="1" lang="en-US" sz="1300" u="none" cap="none" strike="noStrike">
                <a:solidFill>
                  <a:srgbClr val="8B3A4F"/>
                </a:solidFill>
                <a:latin typeface="Arial"/>
                <a:ea typeface="Arial"/>
                <a:cs typeface="Arial"/>
                <a:sym typeface="Arial"/>
              </a:rPr>
              <a:t>"I want to add to what [Name] is showing you."</a:t>
            </a:r>
            <a:endParaRPr b="0" i="0" sz="1300" u="none" cap="none" strike="noStrike">
              <a:solidFill>
                <a:schemeClr val="dk1"/>
              </a:solidFill>
              <a:latin typeface="Trebuchet MS"/>
              <a:ea typeface="Trebuchet MS"/>
              <a:cs typeface="Trebuchet MS"/>
              <a:sym typeface="Trebuchet MS"/>
            </a:endParaRPr>
          </a:p>
        </p:txBody>
      </p:sp>
      <p:sp>
        <p:nvSpPr>
          <p:cNvPr id="262" name="Google Shape;262;p11"/>
          <p:cNvSpPr/>
          <p:nvPr/>
        </p:nvSpPr>
        <p:spPr>
          <a:xfrm>
            <a:off x="731520" y="3703320"/>
            <a:ext cx="315468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4748B"/>
              </a:buClr>
              <a:buSzPts val="1200"/>
              <a:buFont typeface="Arial"/>
              <a:buNone/>
            </a:pPr>
            <a:r>
              <a:rPr b="0" i="0" lang="en-US" sz="1200" u="none" cap="none" strike="noStrike">
                <a:solidFill>
                  <a:srgbClr val="64748B"/>
                </a:solidFill>
                <a:latin typeface="Arial"/>
                <a:ea typeface="Arial"/>
                <a:cs typeface="Arial"/>
                <a:sym typeface="Arial"/>
              </a:rPr>
              <a:t>Step in through the Specialist so the Client reads teamwork, not a rescue.</a:t>
            </a:r>
            <a:endParaRPr b="0" i="0" sz="1200" u="none" cap="none" strike="noStrike">
              <a:solidFill>
                <a:schemeClr val="dk1"/>
              </a:solidFill>
              <a:latin typeface="Trebuchet MS"/>
              <a:ea typeface="Trebuchet MS"/>
              <a:cs typeface="Trebuchet MS"/>
              <a:sym typeface="Trebuchet MS"/>
            </a:endParaRPr>
          </a:p>
        </p:txBody>
      </p:sp>
      <p:sp>
        <p:nvSpPr>
          <p:cNvPr id="263" name="Google Shape;263;p11"/>
          <p:cNvSpPr/>
          <p:nvPr/>
        </p:nvSpPr>
        <p:spPr>
          <a:xfrm>
            <a:off x="4297680" y="1143000"/>
            <a:ext cx="3611880" cy="3200400"/>
          </a:xfrm>
          <a:prstGeom prst="roundRect">
            <a:avLst>
              <a:gd fmla="val 2857" name="adj"/>
            </a:avLst>
          </a:prstGeom>
          <a:solidFill>
            <a:srgbClr val="F8FAFC"/>
          </a:solidFill>
          <a:ln>
            <a:noFill/>
          </a:ln>
          <a:effectLst>
            <a:outerShdw blurRad="76200" rotWithShape="0" algn="bl" dir="8100000" dist="25400">
              <a:srgbClr val="000000">
                <a:alpha val="705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11"/>
          <p:cNvSpPr/>
          <p:nvPr/>
        </p:nvSpPr>
        <p:spPr>
          <a:xfrm>
            <a:off x="5623560" y="1371600"/>
            <a:ext cx="960120" cy="960120"/>
          </a:xfrm>
          <a:prstGeom prst="ellipse">
            <a:avLst/>
          </a:prstGeom>
          <a:solidFill>
            <a:srgbClr val="8B3A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11"/>
          <p:cNvSpPr/>
          <p:nvPr/>
        </p:nvSpPr>
        <p:spPr>
          <a:xfrm>
            <a:off x="5623560" y="1554480"/>
            <a:ext cx="960120"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800"/>
              <a:buFont typeface="Arial"/>
              <a:buNone/>
            </a:pPr>
            <a:r>
              <a:rPr b="1" i="0" lang="en-US" sz="2800" u="none" cap="none" strike="noStrike">
                <a:solidFill>
                  <a:srgbClr val="FFFFFF"/>
                </a:solidFill>
                <a:latin typeface="Arial"/>
                <a:ea typeface="Arial"/>
                <a:cs typeface="Arial"/>
                <a:sym typeface="Arial"/>
              </a:rPr>
              <a:t>A</a:t>
            </a:r>
            <a:endParaRPr b="0" i="0" sz="2800" u="none" cap="none" strike="noStrike">
              <a:solidFill>
                <a:schemeClr val="dk1"/>
              </a:solidFill>
              <a:latin typeface="Trebuchet MS"/>
              <a:ea typeface="Trebuchet MS"/>
              <a:cs typeface="Trebuchet MS"/>
              <a:sym typeface="Trebuchet MS"/>
            </a:endParaRPr>
          </a:p>
        </p:txBody>
      </p:sp>
      <p:sp>
        <p:nvSpPr>
          <p:cNvPr id="266" name="Google Shape;266;p11"/>
          <p:cNvSpPr/>
          <p:nvPr/>
        </p:nvSpPr>
        <p:spPr>
          <a:xfrm>
            <a:off x="4480560" y="2514600"/>
            <a:ext cx="3246120" cy="3200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F1216"/>
              </a:buClr>
              <a:buSzPts val="1600"/>
              <a:buFont typeface="Arial"/>
              <a:buNone/>
            </a:pPr>
            <a:r>
              <a:rPr b="1" i="0" lang="en-US" sz="1600" u="none" cap="none" strike="noStrike">
                <a:solidFill>
                  <a:srgbClr val="1F1216"/>
                </a:solidFill>
                <a:latin typeface="Arial"/>
                <a:ea typeface="Arial"/>
                <a:cs typeface="Arial"/>
                <a:sym typeface="Arial"/>
              </a:rPr>
              <a:t>Add Value</a:t>
            </a:r>
            <a:endParaRPr b="0" i="0" sz="1600" u="none" cap="none" strike="noStrike">
              <a:solidFill>
                <a:schemeClr val="dk1"/>
              </a:solidFill>
              <a:latin typeface="Trebuchet MS"/>
              <a:ea typeface="Trebuchet MS"/>
              <a:cs typeface="Trebuchet MS"/>
              <a:sym typeface="Trebuchet MS"/>
            </a:endParaRPr>
          </a:p>
        </p:txBody>
      </p:sp>
      <p:sp>
        <p:nvSpPr>
          <p:cNvPr id="267" name="Google Shape;267;p11"/>
          <p:cNvSpPr/>
          <p:nvPr/>
        </p:nvSpPr>
        <p:spPr>
          <a:xfrm>
            <a:off x="4526280" y="2971800"/>
            <a:ext cx="3154680"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B3A4F"/>
              </a:buClr>
              <a:buSzPts val="1300"/>
              <a:buFont typeface="Arial"/>
              <a:buNone/>
            </a:pPr>
            <a:r>
              <a:rPr b="0" i="1" lang="en-US" sz="1300" u="none" cap="none" strike="noStrike">
                <a:solidFill>
                  <a:srgbClr val="8B3A4F"/>
                </a:solidFill>
                <a:latin typeface="Arial"/>
                <a:ea typeface="Arial"/>
                <a:cs typeface="Arial"/>
                <a:sym typeface="Arial"/>
              </a:rPr>
              <a:t>"I can see you are walking straighter, faster, without a limp."</a:t>
            </a:r>
            <a:endParaRPr b="0" i="0" sz="1300" u="none" cap="none" strike="noStrike">
              <a:solidFill>
                <a:schemeClr val="dk1"/>
              </a:solidFill>
              <a:latin typeface="Trebuchet MS"/>
              <a:ea typeface="Trebuchet MS"/>
              <a:cs typeface="Trebuchet MS"/>
              <a:sym typeface="Trebuchet MS"/>
            </a:endParaRPr>
          </a:p>
        </p:txBody>
      </p:sp>
      <p:sp>
        <p:nvSpPr>
          <p:cNvPr id="268" name="Google Shape;268;p11"/>
          <p:cNvSpPr/>
          <p:nvPr/>
        </p:nvSpPr>
        <p:spPr>
          <a:xfrm>
            <a:off x="4526280" y="3703320"/>
            <a:ext cx="315468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4748B"/>
              </a:buClr>
              <a:buSzPts val="1200"/>
              <a:buFont typeface="Arial"/>
              <a:buNone/>
            </a:pPr>
            <a:r>
              <a:rPr b="0" i="0" lang="en-US" sz="1200" u="none" cap="none" strike="noStrike">
                <a:solidFill>
                  <a:srgbClr val="64748B"/>
                </a:solidFill>
                <a:latin typeface="Arial"/>
                <a:ea typeface="Arial"/>
                <a:cs typeface="Arial"/>
                <a:sym typeface="Arial"/>
              </a:rPr>
              <a:t>Name the change you see, or supply the why behind the Specialist’s move.</a:t>
            </a:r>
            <a:endParaRPr b="0" i="0" sz="1200" u="none" cap="none" strike="noStrike">
              <a:solidFill>
                <a:schemeClr val="dk1"/>
              </a:solidFill>
              <a:latin typeface="Trebuchet MS"/>
              <a:ea typeface="Trebuchet MS"/>
              <a:cs typeface="Trebuchet MS"/>
              <a:sym typeface="Trebuchet MS"/>
            </a:endParaRPr>
          </a:p>
        </p:txBody>
      </p:sp>
      <p:sp>
        <p:nvSpPr>
          <p:cNvPr id="269" name="Google Shape;269;p11"/>
          <p:cNvSpPr/>
          <p:nvPr/>
        </p:nvSpPr>
        <p:spPr>
          <a:xfrm>
            <a:off x="8092440" y="1143000"/>
            <a:ext cx="3611880" cy="3200400"/>
          </a:xfrm>
          <a:prstGeom prst="roundRect">
            <a:avLst>
              <a:gd fmla="val 2857" name="adj"/>
            </a:avLst>
          </a:prstGeom>
          <a:solidFill>
            <a:srgbClr val="F8FAFC"/>
          </a:solidFill>
          <a:ln>
            <a:noFill/>
          </a:ln>
          <a:effectLst>
            <a:outerShdw blurRad="76200" rotWithShape="0" algn="bl" dir="8100000" dist="25400">
              <a:srgbClr val="000000">
                <a:alpha val="705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11"/>
          <p:cNvSpPr/>
          <p:nvPr/>
        </p:nvSpPr>
        <p:spPr>
          <a:xfrm>
            <a:off x="9418320" y="1371600"/>
            <a:ext cx="960120" cy="960120"/>
          </a:xfrm>
          <a:prstGeom prst="ellipse">
            <a:avLst/>
          </a:prstGeom>
          <a:solidFill>
            <a:srgbClr val="8B3A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11"/>
          <p:cNvSpPr/>
          <p:nvPr/>
        </p:nvSpPr>
        <p:spPr>
          <a:xfrm>
            <a:off x="9418320" y="1554480"/>
            <a:ext cx="960120"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800"/>
              <a:buFont typeface="Arial"/>
              <a:buNone/>
            </a:pPr>
            <a:r>
              <a:rPr b="1" i="0" lang="en-US" sz="2800" u="none" cap="none" strike="noStrike">
                <a:solidFill>
                  <a:srgbClr val="FFFFFF"/>
                </a:solidFill>
                <a:latin typeface="Arial"/>
                <a:ea typeface="Arial"/>
                <a:cs typeface="Arial"/>
                <a:sym typeface="Arial"/>
              </a:rPr>
              <a:t>H</a:t>
            </a:r>
            <a:endParaRPr b="0" i="0" sz="2800" u="none" cap="none" strike="noStrike">
              <a:solidFill>
                <a:schemeClr val="dk1"/>
              </a:solidFill>
              <a:latin typeface="Trebuchet MS"/>
              <a:ea typeface="Trebuchet MS"/>
              <a:cs typeface="Trebuchet MS"/>
              <a:sym typeface="Trebuchet MS"/>
            </a:endParaRPr>
          </a:p>
        </p:txBody>
      </p:sp>
      <p:sp>
        <p:nvSpPr>
          <p:cNvPr id="272" name="Google Shape;272;p11"/>
          <p:cNvSpPr/>
          <p:nvPr/>
        </p:nvSpPr>
        <p:spPr>
          <a:xfrm>
            <a:off x="8275320" y="2514600"/>
            <a:ext cx="3246120" cy="3200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F1216"/>
              </a:buClr>
              <a:buSzPts val="1600"/>
              <a:buFont typeface="Arial"/>
              <a:buNone/>
            </a:pPr>
            <a:r>
              <a:rPr b="1" i="0" lang="en-US" sz="1600" u="none" cap="none" strike="noStrike">
                <a:solidFill>
                  <a:srgbClr val="1F1216"/>
                </a:solidFill>
                <a:latin typeface="Arial"/>
                <a:ea typeface="Arial"/>
                <a:cs typeface="Arial"/>
                <a:sym typeface="Arial"/>
              </a:rPr>
              <a:t>Hand It Back</a:t>
            </a:r>
            <a:endParaRPr b="0" i="0" sz="1600" u="none" cap="none" strike="noStrike">
              <a:solidFill>
                <a:schemeClr val="dk1"/>
              </a:solidFill>
              <a:latin typeface="Trebuchet MS"/>
              <a:ea typeface="Trebuchet MS"/>
              <a:cs typeface="Trebuchet MS"/>
              <a:sym typeface="Trebuchet MS"/>
            </a:endParaRPr>
          </a:p>
        </p:txBody>
      </p:sp>
      <p:sp>
        <p:nvSpPr>
          <p:cNvPr id="273" name="Google Shape;273;p11"/>
          <p:cNvSpPr/>
          <p:nvPr/>
        </p:nvSpPr>
        <p:spPr>
          <a:xfrm>
            <a:off x="8321040" y="2971800"/>
            <a:ext cx="3154680"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B3A4F"/>
              </a:buClr>
              <a:buSzPts val="1300"/>
              <a:buFont typeface="Arial"/>
              <a:buNone/>
            </a:pPr>
            <a:r>
              <a:rPr b="0" i="1" lang="en-US" sz="1300" u="none" cap="none" strike="noStrike">
                <a:solidFill>
                  <a:srgbClr val="8B3A4F"/>
                </a:solidFill>
                <a:latin typeface="Arial"/>
                <a:ea typeface="Arial"/>
                <a:cs typeface="Arial"/>
                <a:sym typeface="Arial"/>
              </a:rPr>
              <a:t>"[Name] will walk you through the next step."</a:t>
            </a:r>
            <a:endParaRPr b="0" i="0" sz="1300" u="none" cap="none" strike="noStrike">
              <a:solidFill>
                <a:schemeClr val="dk1"/>
              </a:solidFill>
              <a:latin typeface="Trebuchet MS"/>
              <a:ea typeface="Trebuchet MS"/>
              <a:cs typeface="Trebuchet MS"/>
              <a:sym typeface="Trebuchet MS"/>
            </a:endParaRPr>
          </a:p>
        </p:txBody>
      </p:sp>
      <p:sp>
        <p:nvSpPr>
          <p:cNvPr id="274" name="Google Shape;274;p11"/>
          <p:cNvSpPr/>
          <p:nvPr/>
        </p:nvSpPr>
        <p:spPr>
          <a:xfrm>
            <a:off x="8321040" y="3703320"/>
            <a:ext cx="315468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4748B"/>
              </a:buClr>
              <a:buSzPts val="1200"/>
              <a:buFont typeface="Arial"/>
              <a:buNone/>
            </a:pPr>
            <a:r>
              <a:rPr b="0" i="0" lang="en-US" sz="1200" u="none" cap="none" strike="noStrike">
                <a:solidFill>
                  <a:srgbClr val="64748B"/>
                </a:solidFill>
                <a:latin typeface="Arial"/>
                <a:ea typeface="Arial"/>
                <a:cs typeface="Arial"/>
                <a:sym typeface="Arial"/>
              </a:rPr>
              <a:t>Return control on purpose so the Specialist finishes the sale and keeps the relationship.</a:t>
            </a:r>
            <a:endParaRPr b="0" i="0" sz="1200" u="none" cap="none" strike="noStrike">
              <a:solidFill>
                <a:schemeClr val="dk1"/>
              </a:solidFill>
              <a:latin typeface="Trebuchet MS"/>
              <a:ea typeface="Trebuchet MS"/>
              <a:cs typeface="Trebuchet MS"/>
              <a:sym typeface="Trebuchet MS"/>
            </a:endParaRPr>
          </a:p>
        </p:txBody>
      </p:sp>
      <p:sp>
        <p:nvSpPr>
          <p:cNvPr id="275" name="Google Shape;275;p11"/>
          <p:cNvSpPr/>
          <p:nvPr/>
        </p:nvSpPr>
        <p:spPr>
          <a:xfrm>
            <a:off x="502920" y="4572000"/>
            <a:ext cx="11155680" cy="1554480"/>
          </a:xfrm>
          <a:prstGeom prst="roundRect">
            <a:avLst>
              <a:gd fmla="val 5882" name="adj"/>
            </a:avLst>
          </a:prstGeom>
          <a:solidFill>
            <a:srgbClr val="FEF3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11"/>
          <p:cNvSpPr/>
          <p:nvPr/>
        </p:nvSpPr>
        <p:spPr>
          <a:xfrm>
            <a:off x="777240" y="4754880"/>
            <a:ext cx="1060704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64D63"/>
              </a:buClr>
              <a:buSzPts val="1400"/>
              <a:buFont typeface="Arial"/>
              <a:buNone/>
            </a:pPr>
            <a:r>
              <a:rPr b="1" i="0" lang="en-US" sz="1400" u="none" cap="none" strike="noStrike">
                <a:solidFill>
                  <a:srgbClr val="A64D63"/>
                </a:solidFill>
                <a:latin typeface="Arial"/>
                <a:ea typeface="Arial"/>
                <a:cs typeface="Arial"/>
                <a:sym typeface="Arial"/>
              </a:rPr>
              <a:t>WATCH OUT</a:t>
            </a:r>
            <a:endParaRPr b="0" i="0" sz="1400" u="none" cap="none" strike="noStrike">
              <a:solidFill>
                <a:schemeClr val="dk1"/>
              </a:solidFill>
              <a:latin typeface="Trebuchet MS"/>
              <a:ea typeface="Trebuchet MS"/>
              <a:cs typeface="Trebuchet MS"/>
              <a:sym typeface="Trebuchet MS"/>
            </a:endParaRPr>
          </a:p>
        </p:txBody>
      </p:sp>
      <p:sp>
        <p:nvSpPr>
          <p:cNvPr id="277" name="Google Shape;277;p11"/>
          <p:cNvSpPr/>
          <p:nvPr/>
        </p:nvSpPr>
        <p:spPr>
          <a:xfrm>
            <a:off x="777240" y="5166360"/>
            <a:ext cx="1060704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400"/>
              <a:buFont typeface="Arial"/>
              <a:buNone/>
            </a:pPr>
            <a:r>
              <a:rPr b="0" i="0" lang="en-US" sz="1400" u="none" cap="none" strike="noStrike">
                <a:solidFill>
                  <a:srgbClr val="2A1A20"/>
                </a:solidFill>
                <a:latin typeface="Arial"/>
                <a:ea typeface="Arial"/>
                <a:cs typeface="Arial"/>
                <a:sym typeface="Arial"/>
              </a:rPr>
              <a:t>Act quickly but subtly. Never cut in mid-sentence or mid-walk. Wait for a pause, add one play, then get off the field. Finish the demo for the Specialist and you teach the Client the Specialist was not enough — and teach the Specialist that you will always bail them out.</a:t>
            </a:r>
            <a:endParaRPr b="0" i="0" sz="1400" u="none" cap="none" strike="noStrike">
              <a:solidFill>
                <a:schemeClr val="dk1"/>
              </a:solidFill>
              <a:latin typeface="Trebuchet MS"/>
              <a:ea typeface="Trebuchet MS"/>
              <a:cs typeface="Trebuchet MS"/>
              <a:sym typeface="Trebuchet MS"/>
            </a:endParaRPr>
          </a:p>
        </p:txBody>
      </p:sp>
      <p:pic>
        <p:nvPicPr>
          <p:cNvPr id="278" name="Google Shape;278;p11" title="caprec-2026-07-28-17-21-40.webm">
            <a:hlinkClick r:id="rId3"/>
          </p:cNvPr>
          <p:cNvPicPr preferRelativeResize="0"/>
          <p:nvPr/>
        </p:nvPicPr>
        <p:blipFill>
          <a:blip r:embed="rId4">
            <a:alphaModFix/>
          </a:blip>
          <a:stretch>
            <a:fillRect/>
          </a:stretch>
        </p:blipFill>
        <p:spPr>
          <a:xfrm>
            <a:off x="3810000" y="1714500"/>
            <a:ext cx="9144" cy="9144"/>
          </a:xfrm>
          <a:prstGeom prst="rect">
            <a:avLst/>
          </a:prstGeom>
          <a:noFill/>
          <a:ln>
            <a:noFill/>
          </a:ln>
        </p:spPr>
      </p:pic>
      <p:pic>
        <p:nvPicPr>
          <p:cNvPr id="279" name="Google Shape;279;p11" title="Picture1.png"/>
          <p:cNvPicPr preferRelativeResize="0"/>
          <p:nvPr/>
        </p:nvPicPr>
        <p:blipFill>
          <a:blip r:embed="rId5">
            <a:alphaModFix/>
          </a:blip>
          <a:stretch>
            <a:fillRect/>
          </a:stretch>
        </p:blipFill>
        <p:spPr>
          <a:xfrm>
            <a:off x="11186625" y="5943600"/>
            <a:ext cx="822950" cy="8229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78"/>
                                        </p:tgtEl>
                                        <p:attrNameLst>
                                          <p:attrName>style.visibility</p:attrName>
                                        </p:attrNameLst>
                                      </p:cBhvr>
                                      <p:to>
                                        <p:strVal val="visible"/>
                                      </p:to>
                                    </p:set>
                                    <p:animEffect filter="fade" transition="in">
                                      <p:cBhvr>
                                        <p:cTn dur="1000"/>
                                        <p:tgtEl>
                                          <p:spTgt spid="2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4" name="Shape 284"/>
        <p:cNvGrpSpPr/>
        <p:nvPr/>
      </p:nvGrpSpPr>
      <p:grpSpPr>
        <a:xfrm>
          <a:off x="0" y="0"/>
          <a:ext cx="0" cy="0"/>
          <a:chOff x="0" y="0"/>
          <a:chExt cx="0" cy="0"/>
        </a:xfrm>
      </p:grpSpPr>
      <p:pic>
        <p:nvPicPr>
          <p:cNvPr id="285" name="Google Shape;285;p9" title="grok-image-6bee5419-570b-4123-8542-27b02a1104ea.jpg"/>
          <p:cNvPicPr preferRelativeResize="0"/>
          <p:nvPr/>
        </p:nvPicPr>
        <p:blipFill>
          <a:blip r:embed="rId3">
            <a:alphaModFix/>
          </a:blip>
          <a:stretch>
            <a:fillRect/>
          </a:stretch>
        </p:blipFill>
        <p:spPr>
          <a:xfrm>
            <a:off x="77450" y="5943600"/>
            <a:ext cx="1234419" cy="822950"/>
          </a:xfrm>
          <a:prstGeom prst="rect">
            <a:avLst/>
          </a:prstGeom>
          <a:noFill/>
          <a:ln>
            <a:noFill/>
          </a:ln>
        </p:spPr>
      </p:pic>
      <p:sp>
        <p:nvSpPr>
          <p:cNvPr id="286" name="Google Shape;286;p9"/>
          <p:cNvSpPr/>
          <p:nvPr/>
        </p:nvSpPr>
        <p:spPr>
          <a:xfrm>
            <a:off x="502920" y="256032"/>
            <a:ext cx="1115568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216"/>
              </a:buClr>
              <a:buSzPts val="2600"/>
              <a:buFont typeface="Arial"/>
              <a:buNone/>
            </a:pPr>
            <a:r>
              <a:rPr b="1" i="0" lang="en-US" sz="2600" u="none" cap="none" strike="noStrike">
                <a:solidFill>
                  <a:srgbClr val="1F1216"/>
                </a:solidFill>
                <a:latin typeface="Arial"/>
                <a:ea typeface="Arial"/>
                <a:cs typeface="Arial"/>
                <a:sym typeface="Arial"/>
              </a:rPr>
              <a:t>R — Respond</a:t>
            </a:r>
            <a:endParaRPr b="0" i="0" sz="2600" u="none" cap="none" strike="noStrike">
              <a:solidFill>
                <a:schemeClr val="dk1"/>
              </a:solidFill>
              <a:latin typeface="Trebuchet MS"/>
              <a:ea typeface="Trebuchet MS"/>
              <a:cs typeface="Trebuchet MS"/>
              <a:sym typeface="Trebuchet MS"/>
            </a:endParaRPr>
          </a:p>
        </p:txBody>
      </p:sp>
      <p:cxnSp>
        <p:nvCxnSpPr>
          <p:cNvPr id="287" name="Google Shape;287;p9"/>
          <p:cNvCxnSpPr/>
          <p:nvPr/>
        </p:nvCxnSpPr>
        <p:spPr>
          <a:xfrm>
            <a:off x="502920" y="896112"/>
            <a:ext cx="11155680" cy="0"/>
          </a:xfrm>
          <a:prstGeom prst="straightConnector1">
            <a:avLst/>
          </a:prstGeom>
          <a:noFill/>
          <a:ln cap="flat" cmpd="sng" w="25400">
            <a:solidFill>
              <a:srgbClr val="8B3A4F"/>
            </a:solidFill>
            <a:prstDash val="solid"/>
            <a:round/>
            <a:headEnd len="sm" w="sm" type="none"/>
            <a:tailEnd len="sm" w="sm" type="none"/>
          </a:ln>
        </p:spPr>
      </p:cxnSp>
      <p:sp>
        <p:nvSpPr>
          <p:cNvPr id="288" name="Google Shape;288;p9"/>
          <p:cNvSpPr/>
          <p:nvPr/>
        </p:nvSpPr>
        <p:spPr>
          <a:xfrm>
            <a:off x="5730240" y="6537960"/>
            <a:ext cx="73140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9</a:t>
            </a:r>
            <a:endParaRPr b="0" i="0" sz="1000" u="none" cap="none" strike="noStrike">
              <a:solidFill>
                <a:schemeClr val="dk1"/>
              </a:solidFill>
              <a:latin typeface="Trebuchet MS"/>
              <a:ea typeface="Trebuchet MS"/>
              <a:cs typeface="Trebuchet MS"/>
              <a:sym typeface="Trebuchet MS"/>
            </a:endParaRPr>
          </a:p>
        </p:txBody>
      </p:sp>
      <p:sp>
        <p:nvSpPr>
          <p:cNvPr id="289" name="Google Shape;289;p9"/>
          <p:cNvSpPr/>
          <p:nvPr/>
        </p:nvSpPr>
        <p:spPr>
          <a:xfrm>
            <a:off x="502920" y="1097280"/>
            <a:ext cx="111556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500"/>
              <a:buFont typeface="Arial"/>
              <a:buNone/>
            </a:pPr>
            <a:r>
              <a:rPr b="0" i="0" lang="en-US" sz="1500" u="none" cap="none" strike="noStrike">
                <a:solidFill>
                  <a:srgbClr val="2A1A20"/>
                </a:solidFill>
                <a:latin typeface="Arial"/>
                <a:ea typeface="Arial"/>
                <a:cs typeface="Arial"/>
                <a:sym typeface="Arial"/>
              </a:rPr>
              <a:t>You elevate the demo — you never take it over. Think of yourself as an assistant coach on the sideline.</a:t>
            </a:r>
            <a:endParaRPr b="0" i="0" sz="1500" u="none" cap="none" strike="noStrike">
              <a:solidFill>
                <a:schemeClr val="dk1"/>
              </a:solidFill>
              <a:latin typeface="Trebuchet MS"/>
              <a:ea typeface="Trebuchet MS"/>
              <a:cs typeface="Trebuchet MS"/>
              <a:sym typeface="Trebuchet MS"/>
            </a:endParaRPr>
          </a:p>
        </p:txBody>
      </p:sp>
      <p:sp>
        <p:nvSpPr>
          <p:cNvPr id="290" name="Google Shape;290;p9"/>
          <p:cNvSpPr/>
          <p:nvPr/>
        </p:nvSpPr>
        <p:spPr>
          <a:xfrm>
            <a:off x="502920" y="1600200"/>
            <a:ext cx="1115568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216"/>
              </a:buClr>
              <a:buSzPts val="1500"/>
              <a:buFont typeface="Arial"/>
              <a:buNone/>
            </a:pPr>
            <a:r>
              <a:rPr b="1" i="0" lang="en-US" sz="1500" u="none" cap="none" strike="noStrike">
                <a:solidFill>
                  <a:srgbClr val="1F1216"/>
                </a:solidFill>
                <a:latin typeface="Arial"/>
                <a:ea typeface="Arial"/>
                <a:cs typeface="Arial"/>
                <a:sym typeface="Arial"/>
              </a:rPr>
              <a:t>Only three moments worth stepping in for:</a:t>
            </a:r>
            <a:endParaRPr b="0" i="0" sz="1500" u="none" cap="none" strike="noStrike">
              <a:solidFill>
                <a:schemeClr val="dk1"/>
              </a:solidFill>
              <a:latin typeface="Trebuchet MS"/>
              <a:ea typeface="Trebuchet MS"/>
              <a:cs typeface="Trebuchet MS"/>
              <a:sym typeface="Trebuchet MS"/>
            </a:endParaRPr>
          </a:p>
        </p:txBody>
      </p:sp>
      <p:sp>
        <p:nvSpPr>
          <p:cNvPr id="291" name="Google Shape;291;p9"/>
          <p:cNvSpPr/>
          <p:nvPr/>
        </p:nvSpPr>
        <p:spPr>
          <a:xfrm>
            <a:off x="502920" y="2057400"/>
            <a:ext cx="3611880" cy="2194560"/>
          </a:xfrm>
          <a:prstGeom prst="roundRect">
            <a:avLst>
              <a:gd fmla="val 4167" name="adj"/>
            </a:avLst>
          </a:prstGeom>
          <a:solidFill>
            <a:srgbClr val="F8FAFC"/>
          </a:solidFill>
          <a:ln>
            <a:noFill/>
          </a:ln>
          <a:effectLst>
            <a:outerShdw blurRad="76200" rotWithShape="0" algn="bl" dir="8100000" dist="25400">
              <a:srgbClr val="000000">
                <a:alpha val="705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9"/>
          <p:cNvSpPr/>
          <p:nvPr/>
        </p:nvSpPr>
        <p:spPr>
          <a:xfrm>
            <a:off x="731520" y="2240280"/>
            <a:ext cx="548640" cy="548640"/>
          </a:xfrm>
          <a:prstGeom prst="ellipse">
            <a:avLst/>
          </a:prstGeom>
          <a:solidFill>
            <a:srgbClr val="8B3A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9"/>
          <p:cNvSpPr/>
          <p:nvPr/>
        </p:nvSpPr>
        <p:spPr>
          <a:xfrm>
            <a:off x="731520" y="2331720"/>
            <a:ext cx="548640" cy="4114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1</a:t>
            </a:r>
            <a:endParaRPr b="0" i="0" sz="1800" u="none" cap="none" strike="noStrike">
              <a:solidFill>
                <a:schemeClr val="dk1"/>
              </a:solidFill>
              <a:latin typeface="Trebuchet MS"/>
              <a:ea typeface="Trebuchet MS"/>
              <a:cs typeface="Trebuchet MS"/>
              <a:sym typeface="Trebuchet MS"/>
            </a:endParaRPr>
          </a:p>
        </p:txBody>
      </p:sp>
      <p:sp>
        <p:nvSpPr>
          <p:cNvPr id="294" name="Google Shape;294;p9"/>
          <p:cNvSpPr/>
          <p:nvPr/>
        </p:nvSpPr>
        <p:spPr>
          <a:xfrm>
            <a:off x="1417320" y="2331720"/>
            <a:ext cx="24688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216"/>
              </a:buClr>
              <a:buSzPts val="1500"/>
              <a:buFont typeface="Arial"/>
              <a:buNone/>
            </a:pPr>
            <a:r>
              <a:rPr b="1" i="0" lang="en-US" sz="1500" u="none" cap="none" strike="noStrike">
                <a:solidFill>
                  <a:srgbClr val="1F1216"/>
                </a:solidFill>
                <a:latin typeface="Arial"/>
                <a:ea typeface="Arial"/>
                <a:cs typeface="Arial"/>
                <a:sym typeface="Arial"/>
              </a:rPr>
              <a:t>A red flag appears</a:t>
            </a:r>
            <a:endParaRPr b="0" i="0" sz="1500" u="none" cap="none" strike="noStrike">
              <a:solidFill>
                <a:schemeClr val="dk1"/>
              </a:solidFill>
              <a:latin typeface="Trebuchet MS"/>
              <a:ea typeface="Trebuchet MS"/>
              <a:cs typeface="Trebuchet MS"/>
              <a:sym typeface="Trebuchet MS"/>
            </a:endParaRPr>
          </a:p>
        </p:txBody>
      </p:sp>
      <p:sp>
        <p:nvSpPr>
          <p:cNvPr id="295" name="Google Shape;295;p9"/>
          <p:cNvSpPr/>
          <p:nvPr/>
        </p:nvSpPr>
        <p:spPr>
          <a:xfrm>
            <a:off x="777240" y="3017520"/>
            <a:ext cx="3108960" cy="10058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300"/>
              <a:buFont typeface="Arial"/>
              <a:buNone/>
            </a:pPr>
            <a:r>
              <a:rPr b="0" i="0" lang="en-US" sz="1300" u="none" cap="none" strike="noStrike">
                <a:solidFill>
                  <a:srgbClr val="64748B"/>
                </a:solidFill>
                <a:latin typeface="Arial"/>
                <a:ea typeface="Arial"/>
                <a:cs typeface="Arial"/>
                <a:sym typeface="Arial"/>
              </a:rPr>
              <a:t>The Client is disengaging, the Specialist is struggling, or the demo is off track.</a:t>
            </a:r>
            <a:endParaRPr b="0" i="0" sz="1300" u="none" cap="none" strike="noStrike">
              <a:solidFill>
                <a:schemeClr val="dk1"/>
              </a:solidFill>
              <a:latin typeface="Trebuchet MS"/>
              <a:ea typeface="Trebuchet MS"/>
              <a:cs typeface="Trebuchet MS"/>
              <a:sym typeface="Trebuchet MS"/>
            </a:endParaRPr>
          </a:p>
        </p:txBody>
      </p:sp>
      <p:sp>
        <p:nvSpPr>
          <p:cNvPr id="296" name="Google Shape;296;p9"/>
          <p:cNvSpPr/>
          <p:nvPr/>
        </p:nvSpPr>
        <p:spPr>
          <a:xfrm>
            <a:off x="4297680" y="2057400"/>
            <a:ext cx="3611880" cy="2194560"/>
          </a:xfrm>
          <a:prstGeom prst="roundRect">
            <a:avLst>
              <a:gd fmla="val 4167" name="adj"/>
            </a:avLst>
          </a:prstGeom>
          <a:solidFill>
            <a:srgbClr val="F8FAFC"/>
          </a:solidFill>
          <a:ln>
            <a:noFill/>
          </a:ln>
          <a:effectLst>
            <a:outerShdw blurRad="76200" rotWithShape="0" algn="bl" dir="8100000" dist="25400">
              <a:srgbClr val="000000">
                <a:alpha val="705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9"/>
          <p:cNvSpPr/>
          <p:nvPr/>
        </p:nvSpPr>
        <p:spPr>
          <a:xfrm>
            <a:off x="4526280" y="2240280"/>
            <a:ext cx="548640" cy="548640"/>
          </a:xfrm>
          <a:prstGeom prst="ellipse">
            <a:avLst/>
          </a:prstGeom>
          <a:solidFill>
            <a:srgbClr val="8B3A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9"/>
          <p:cNvSpPr/>
          <p:nvPr/>
        </p:nvSpPr>
        <p:spPr>
          <a:xfrm>
            <a:off x="4526280" y="2331720"/>
            <a:ext cx="548640" cy="4114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2</a:t>
            </a:r>
            <a:endParaRPr b="0" i="0" sz="1800" u="none" cap="none" strike="noStrike">
              <a:solidFill>
                <a:schemeClr val="dk1"/>
              </a:solidFill>
              <a:latin typeface="Trebuchet MS"/>
              <a:ea typeface="Trebuchet MS"/>
              <a:cs typeface="Trebuchet MS"/>
              <a:sym typeface="Trebuchet MS"/>
            </a:endParaRPr>
          </a:p>
        </p:txBody>
      </p:sp>
      <p:sp>
        <p:nvSpPr>
          <p:cNvPr id="299" name="Google Shape;299;p9"/>
          <p:cNvSpPr/>
          <p:nvPr/>
        </p:nvSpPr>
        <p:spPr>
          <a:xfrm>
            <a:off x="5212080" y="2331720"/>
            <a:ext cx="24688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216"/>
              </a:buClr>
              <a:buSzPts val="1500"/>
              <a:buFont typeface="Arial"/>
              <a:buNone/>
            </a:pPr>
            <a:r>
              <a:rPr b="1" i="0" lang="en-US" sz="1500" u="none" cap="none" strike="noStrike">
                <a:solidFill>
                  <a:srgbClr val="1F1216"/>
                </a:solidFill>
                <a:latin typeface="Arial"/>
                <a:ea typeface="Arial"/>
                <a:cs typeface="Arial"/>
                <a:sym typeface="Arial"/>
              </a:rPr>
              <a:t>A WOW is building</a:t>
            </a:r>
            <a:endParaRPr b="0" i="0" sz="1500" u="none" cap="none" strike="noStrike">
              <a:solidFill>
                <a:schemeClr val="dk1"/>
              </a:solidFill>
              <a:latin typeface="Trebuchet MS"/>
              <a:ea typeface="Trebuchet MS"/>
              <a:cs typeface="Trebuchet MS"/>
              <a:sym typeface="Trebuchet MS"/>
            </a:endParaRPr>
          </a:p>
        </p:txBody>
      </p:sp>
      <p:sp>
        <p:nvSpPr>
          <p:cNvPr id="300" name="Google Shape;300;p9"/>
          <p:cNvSpPr/>
          <p:nvPr/>
        </p:nvSpPr>
        <p:spPr>
          <a:xfrm>
            <a:off x="4572000" y="3017520"/>
            <a:ext cx="3108960" cy="10058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300"/>
              <a:buFont typeface="Arial"/>
              <a:buNone/>
            </a:pPr>
            <a:r>
              <a:rPr b="0" i="0" lang="en-US" sz="1300" u="none" cap="none" strike="noStrike">
                <a:solidFill>
                  <a:srgbClr val="64748B"/>
                </a:solidFill>
                <a:latin typeface="Arial"/>
                <a:ea typeface="Arial"/>
                <a:cs typeface="Arial"/>
                <a:sym typeface="Arial"/>
              </a:rPr>
              <a:t>A balance-technique moment, visible excitement, or strong body language to amplify.</a:t>
            </a:r>
            <a:endParaRPr b="0" i="0" sz="1300" u="none" cap="none" strike="noStrike">
              <a:solidFill>
                <a:schemeClr val="dk1"/>
              </a:solidFill>
              <a:latin typeface="Trebuchet MS"/>
              <a:ea typeface="Trebuchet MS"/>
              <a:cs typeface="Trebuchet MS"/>
              <a:sym typeface="Trebuchet MS"/>
            </a:endParaRPr>
          </a:p>
        </p:txBody>
      </p:sp>
      <p:sp>
        <p:nvSpPr>
          <p:cNvPr id="301" name="Google Shape;301;p9"/>
          <p:cNvSpPr/>
          <p:nvPr/>
        </p:nvSpPr>
        <p:spPr>
          <a:xfrm>
            <a:off x="8092440" y="2057400"/>
            <a:ext cx="3611880" cy="2194560"/>
          </a:xfrm>
          <a:prstGeom prst="roundRect">
            <a:avLst>
              <a:gd fmla="val 4167" name="adj"/>
            </a:avLst>
          </a:prstGeom>
          <a:solidFill>
            <a:srgbClr val="F8FAFC"/>
          </a:solidFill>
          <a:ln>
            <a:noFill/>
          </a:ln>
          <a:effectLst>
            <a:outerShdw blurRad="76200" rotWithShape="0" algn="bl" dir="8100000" dist="25400">
              <a:srgbClr val="000000">
                <a:alpha val="705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9"/>
          <p:cNvSpPr/>
          <p:nvPr/>
        </p:nvSpPr>
        <p:spPr>
          <a:xfrm>
            <a:off x="8321040" y="2240280"/>
            <a:ext cx="548640" cy="548640"/>
          </a:xfrm>
          <a:prstGeom prst="ellipse">
            <a:avLst/>
          </a:prstGeom>
          <a:solidFill>
            <a:srgbClr val="8B3A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9"/>
          <p:cNvSpPr/>
          <p:nvPr/>
        </p:nvSpPr>
        <p:spPr>
          <a:xfrm>
            <a:off x="8321040" y="2331720"/>
            <a:ext cx="548640" cy="4114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3</a:t>
            </a:r>
            <a:endParaRPr b="0" i="0" sz="1800" u="none" cap="none" strike="noStrike">
              <a:solidFill>
                <a:schemeClr val="dk1"/>
              </a:solidFill>
              <a:latin typeface="Trebuchet MS"/>
              <a:ea typeface="Trebuchet MS"/>
              <a:cs typeface="Trebuchet MS"/>
              <a:sym typeface="Trebuchet MS"/>
            </a:endParaRPr>
          </a:p>
        </p:txBody>
      </p:sp>
      <p:sp>
        <p:nvSpPr>
          <p:cNvPr id="304" name="Google Shape;304;p9"/>
          <p:cNvSpPr/>
          <p:nvPr/>
        </p:nvSpPr>
        <p:spPr>
          <a:xfrm>
            <a:off x="9006840" y="2331720"/>
            <a:ext cx="24688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216"/>
              </a:buClr>
              <a:buSzPts val="1500"/>
              <a:buFont typeface="Arial"/>
              <a:buNone/>
            </a:pPr>
            <a:r>
              <a:rPr b="1" i="0" lang="en-US" sz="1500" u="none" cap="none" strike="noStrike">
                <a:solidFill>
                  <a:srgbClr val="1F1216"/>
                </a:solidFill>
                <a:latin typeface="Arial"/>
                <a:ea typeface="Arial"/>
                <a:cs typeface="Arial"/>
                <a:sym typeface="Arial"/>
              </a:rPr>
              <a:t>The Client is closing</a:t>
            </a:r>
            <a:endParaRPr b="0" i="0" sz="1500" u="none" cap="none" strike="noStrike">
              <a:solidFill>
                <a:schemeClr val="dk1"/>
              </a:solidFill>
              <a:latin typeface="Trebuchet MS"/>
              <a:ea typeface="Trebuchet MS"/>
              <a:cs typeface="Trebuchet MS"/>
              <a:sym typeface="Trebuchet MS"/>
            </a:endParaRPr>
          </a:p>
        </p:txBody>
      </p:sp>
      <p:sp>
        <p:nvSpPr>
          <p:cNvPr id="305" name="Google Shape;305;p9"/>
          <p:cNvSpPr/>
          <p:nvPr/>
        </p:nvSpPr>
        <p:spPr>
          <a:xfrm>
            <a:off x="8366760" y="3017520"/>
            <a:ext cx="3108960" cy="10058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300"/>
              <a:buFont typeface="Arial"/>
              <a:buNone/>
            </a:pPr>
            <a:r>
              <a:rPr b="0" i="0" lang="en-US" sz="1300" u="none" cap="none" strike="noStrike">
                <a:solidFill>
                  <a:srgbClr val="64748B"/>
                </a:solidFill>
                <a:latin typeface="Arial"/>
                <a:ea typeface="Arial"/>
                <a:cs typeface="Arial"/>
                <a:sym typeface="Arial"/>
              </a:rPr>
              <a:t>Connect why they came in to how the supports just helped — right at the register.</a:t>
            </a:r>
            <a:endParaRPr b="0" i="0" sz="1300" u="none" cap="none" strike="noStrike">
              <a:solidFill>
                <a:schemeClr val="dk1"/>
              </a:solidFill>
              <a:latin typeface="Trebuchet MS"/>
              <a:ea typeface="Trebuchet MS"/>
              <a:cs typeface="Trebuchet MS"/>
              <a:sym typeface="Trebuchet MS"/>
            </a:endParaRPr>
          </a:p>
        </p:txBody>
      </p:sp>
      <p:sp>
        <p:nvSpPr>
          <p:cNvPr id="306" name="Google Shape;306;p9"/>
          <p:cNvSpPr/>
          <p:nvPr/>
        </p:nvSpPr>
        <p:spPr>
          <a:xfrm>
            <a:off x="502920" y="4480560"/>
            <a:ext cx="11155680" cy="1554480"/>
          </a:xfrm>
          <a:prstGeom prst="roundRect">
            <a:avLst>
              <a:gd fmla="val 5882" name="adj"/>
            </a:avLst>
          </a:prstGeom>
          <a:solidFill>
            <a:srgbClr val="F5E6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9"/>
          <p:cNvSpPr/>
          <p:nvPr/>
        </p:nvSpPr>
        <p:spPr>
          <a:xfrm>
            <a:off x="777240" y="4663440"/>
            <a:ext cx="1060704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216"/>
              </a:buClr>
              <a:buSzPts val="1600"/>
              <a:buFont typeface="Arial"/>
              <a:buNone/>
            </a:pPr>
            <a:r>
              <a:rPr b="1" i="0" lang="en-US" sz="1600" u="none" cap="none" strike="noStrike">
                <a:solidFill>
                  <a:srgbClr val="1F1216"/>
                </a:solidFill>
                <a:latin typeface="Arial"/>
                <a:ea typeface="Arial"/>
                <a:cs typeface="Arial"/>
                <a:sym typeface="Arial"/>
              </a:rPr>
              <a:t>How to step in: AAH</a:t>
            </a:r>
            <a:endParaRPr b="0" i="0" sz="1600" u="none" cap="none" strike="noStrike">
              <a:solidFill>
                <a:schemeClr val="dk1"/>
              </a:solidFill>
              <a:latin typeface="Trebuchet MS"/>
              <a:ea typeface="Trebuchet MS"/>
              <a:cs typeface="Trebuchet MS"/>
              <a:sym typeface="Trebuchet MS"/>
            </a:endParaRPr>
          </a:p>
        </p:txBody>
      </p:sp>
      <p:sp>
        <p:nvSpPr>
          <p:cNvPr id="308" name="Google Shape;308;p9"/>
          <p:cNvSpPr/>
          <p:nvPr/>
        </p:nvSpPr>
        <p:spPr>
          <a:xfrm>
            <a:off x="777240" y="5074920"/>
            <a:ext cx="1060704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3A4F"/>
              </a:buClr>
              <a:buSzPts val="1500"/>
              <a:buFont typeface="Arial"/>
              <a:buNone/>
            </a:pPr>
            <a:r>
              <a:rPr b="1" i="0" lang="en-US" sz="1500" u="none" cap="none" strike="noStrike">
                <a:solidFill>
                  <a:srgbClr val="8B3A4F"/>
                </a:solidFill>
                <a:latin typeface="Arial"/>
                <a:ea typeface="Arial"/>
                <a:cs typeface="Arial"/>
                <a:sym typeface="Arial"/>
              </a:rPr>
              <a:t>A — Acknowledge the Specialist   ·   A — Add value or validate   ·   H — Hand it back</a:t>
            </a:r>
            <a:endParaRPr b="0" i="0" sz="1500" u="none" cap="none" strike="noStrike">
              <a:solidFill>
                <a:schemeClr val="dk1"/>
              </a:solidFill>
              <a:latin typeface="Trebuchet MS"/>
              <a:ea typeface="Trebuchet MS"/>
              <a:cs typeface="Trebuchet MS"/>
              <a:sym typeface="Trebuchet MS"/>
            </a:endParaRPr>
          </a:p>
        </p:txBody>
      </p:sp>
      <p:sp>
        <p:nvSpPr>
          <p:cNvPr id="309" name="Google Shape;309;p9"/>
          <p:cNvSpPr/>
          <p:nvPr/>
        </p:nvSpPr>
        <p:spPr>
          <a:xfrm>
            <a:off x="777240" y="5532120"/>
            <a:ext cx="1060704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300"/>
              <a:buFont typeface="Arial"/>
              <a:buNone/>
            </a:pPr>
            <a:r>
              <a:rPr b="0" i="0" lang="en-US" sz="1300" u="none" cap="none" strike="noStrike">
                <a:solidFill>
                  <a:srgbClr val="2A1A20"/>
                </a:solidFill>
                <a:latin typeface="Arial"/>
                <a:ea typeface="Arial"/>
                <a:cs typeface="Arial"/>
                <a:sym typeface="Arial"/>
              </a:rPr>
              <a:t>Step in through them, give the Client something only a second voice can, then return control so the Specialist finishes the sale.</a:t>
            </a:r>
            <a:endParaRPr b="0" i="0" sz="1300" u="none" cap="none" strike="noStrike">
              <a:solidFill>
                <a:schemeClr val="dk1"/>
              </a:solidFill>
              <a:latin typeface="Trebuchet MS"/>
              <a:ea typeface="Trebuchet MS"/>
              <a:cs typeface="Trebuchet MS"/>
              <a:sym typeface="Trebuchet MS"/>
            </a:endParaRPr>
          </a:p>
        </p:txBody>
      </p:sp>
      <p:pic>
        <p:nvPicPr>
          <p:cNvPr id="310" name="Google Shape;310;p9" title="caprec-2026-07-28-17-23-04.webm">
            <a:hlinkClick r:id="rId4"/>
          </p:cNvPr>
          <p:cNvPicPr preferRelativeResize="0"/>
          <p:nvPr/>
        </p:nvPicPr>
        <p:blipFill>
          <a:blip r:embed="rId5">
            <a:alphaModFix/>
          </a:blip>
          <a:stretch>
            <a:fillRect/>
          </a:stretch>
        </p:blipFill>
        <p:spPr>
          <a:xfrm>
            <a:off x="3810000" y="1714500"/>
            <a:ext cx="9144" cy="9144"/>
          </a:xfrm>
          <a:prstGeom prst="rect">
            <a:avLst/>
          </a:prstGeom>
          <a:noFill/>
          <a:ln>
            <a:noFill/>
          </a:ln>
        </p:spPr>
      </p:pic>
      <p:pic>
        <p:nvPicPr>
          <p:cNvPr id="311" name="Google Shape;311;p9" title="Picture1.png"/>
          <p:cNvPicPr preferRelativeResize="0"/>
          <p:nvPr/>
        </p:nvPicPr>
        <p:blipFill>
          <a:blip r:embed="rId6">
            <a:alphaModFix/>
          </a:blip>
          <a:stretch>
            <a:fillRect/>
          </a:stretch>
        </p:blipFill>
        <p:spPr>
          <a:xfrm>
            <a:off x="11186625" y="5943600"/>
            <a:ext cx="822950" cy="8229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10"/>
                                        </p:tgtEl>
                                        <p:attrNameLst>
                                          <p:attrName>style.visibility</p:attrName>
                                        </p:attrNameLst>
                                      </p:cBhvr>
                                      <p:to>
                                        <p:strVal val="visible"/>
                                      </p:to>
                                    </p:set>
                                    <p:animEffect filter="fade" transition="in">
                                      <p:cBhvr>
                                        <p:cTn dur="1000"/>
                                        <p:tgtEl>
                                          <p:spTgt spid="3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6" name="Shape 316"/>
        <p:cNvGrpSpPr/>
        <p:nvPr/>
      </p:nvGrpSpPr>
      <p:grpSpPr>
        <a:xfrm>
          <a:off x="0" y="0"/>
          <a:ext cx="0" cy="0"/>
          <a:chOff x="0" y="0"/>
          <a:chExt cx="0" cy="0"/>
        </a:xfrm>
      </p:grpSpPr>
      <p:pic>
        <p:nvPicPr>
          <p:cNvPr id="317" name="Google Shape;317;p10" title="grok-image-6bee5419-570b-4123-8542-27b02a1104ea.jpg"/>
          <p:cNvPicPr preferRelativeResize="0"/>
          <p:nvPr/>
        </p:nvPicPr>
        <p:blipFill>
          <a:blip r:embed="rId3">
            <a:alphaModFix/>
          </a:blip>
          <a:stretch>
            <a:fillRect/>
          </a:stretch>
        </p:blipFill>
        <p:spPr>
          <a:xfrm>
            <a:off x="77450" y="5943600"/>
            <a:ext cx="1234419" cy="822950"/>
          </a:xfrm>
          <a:prstGeom prst="rect">
            <a:avLst/>
          </a:prstGeom>
          <a:noFill/>
          <a:ln>
            <a:noFill/>
          </a:ln>
        </p:spPr>
      </p:pic>
      <p:sp>
        <p:nvSpPr>
          <p:cNvPr id="318" name="Google Shape;318;p10"/>
          <p:cNvSpPr/>
          <p:nvPr/>
        </p:nvSpPr>
        <p:spPr>
          <a:xfrm>
            <a:off x="502920" y="256032"/>
            <a:ext cx="1115568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216"/>
              </a:buClr>
              <a:buSzPts val="2600"/>
              <a:buFont typeface="Arial"/>
              <a:buNone/>
            </a:pPr>
            <a:r>
              <a:rPr b="1" i="0" lang="en-US" sz="2600" u="none" cap="none" strike="noStrike">
                <a:solidFill>
                  <a:srgbClr val="1F1216"/>
                </a:solidFill>
                <a:latin typeface="Arial"/>
                <a:ea typeface="Arial"/>
                <a:cs typeface="Arial"/>
                <a:sym typeface="Arial"/>
              </a:rPr>
              <a:t>E — Elevate</a:t>
            </a:r>
            <a:endParaRPr b="0" i="0" sz="2600" u="none" cap="none" strike="noStrike">
              <a:solidFill>
                <a:schemeClr val="dk1"/>
              </a:solidFill>
              <a:latin typeface="Trebuchet MS"/>
              <a:ea typeface="Trebuchet MS"/>
              <a:cs typeface="Trebuchet MS"/>
              <a:sym typeface="Trebuchet MS"/>
            </a:endParaRPr>
          </a:p>
        </p:txBody>
      </p:sp>
      <p:cxnSp>
        <p:nvCxnSpPr>
          <p:cNvPr id="319" name="Google Shape;319;p10"/>
          <p:cNvCxnSpPr/>
          <p:nvPr/>
        </p:nvCxnSpPr>
        <p:spPr>
          <a:xfrm>
            <a:off x="502920" y="896112"/>
            <a:ext cx="11155680" cy="0"/>
          </a:xfrm>
          <a:prstGeom prst="straightConnector1">
            <a:avLst/>
          </a:prstGeom>
          <a:noFill/>
          <a:ln cap="flat" cmpd="sng" w="25400">
            <a:solidFill>
              <a:srgbClr val="8B3A4F"/>
            </a:solidFill>
            <a:prstDash val="solid"/>
            <a:round/>
            <a:headEnd len="sm" w="sm" type="none"/>
            <a:tailEnd len="sm" w="sm" type="none"/>
          </a:ln>
        </p:spPr>
      </p:cxnSp>
      <p:sp>
        <p:nvSpPr>
          <p:cNvPr id="320" name="Google Shape;320;p10"/>
          <p:cNvSpPr/>
          <p:nvPr/>
        </p:nvSpPr>
        <p:spPr>
          <a:xfrm>
            <a:off x="5730240" y="6537960"/>
            <a:ext cx="73140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13</a:t>
            </a:r>
            <a:endParaRPr b="0" i="0" sz="1000" u="none" cap="none" strike="noStrike">
              <a:solidFill>
                <a:schemeClr val="dk1"/>
              </a:solidFill>
              <a:latin typeface="Trebuchet MS"/>
              <a:ea typeface="Trebuchet MS"/>
              <a:cs typeface="Trebuchet MS"/>
              <a:sym typeface="Trebuchet MS"/>
            </a:endParaRPr>
          </a:p>
        </p:txBody>
      </p:sp>
      <p:sp>
        <p:nvSpPr>
          <p:cNvPr id="321" name="Google Shape;321;p10"/>
          <p:cNvSpPr/>
          <p:nvPr/>
        </p:nvSpPr>
        <p:spPr>
          <a:xfrm>
            <a:off x="502920" y="1097280"/>
            <a:ext cx="1115568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500"/>
              <a:buFont typeface="Arial"/>
              <a:buNone/>
            </a:pPr>
            <a:r>
              <a:rPr b="0" i="0" lang="en-US" sz="1500" u="none" cap="none" strike="noStrike">
                <a:solidFill>
                  <a:srgbClr val="2A1A20"/>
                </a:solidFill>
                <a:latin typeface="Arial"/>
                <a:ea typeface="Arial"/>
                <a:cs typeface="Arial"/>
                <a:sym typeface="Arial"/>
              </a:rPr>
              <a:t>Elevate turns every sale into development. Every demo you watched is coaching material — but only if you do something with it.</a:t>
            </a:r>
            <a:endParaRPr b="0" i="0" sz="1500" u="none" cap="none" strike="noStrike">
              <a:solidFill>
                <a:schemeClr val="dk1"/>
              </a:solidFill>
              <a:latin typeface="Trebuchet MS"/>
              <a:ea typeface="Trebuchet MS"/>
              <a:cs typeface="Trebuchet MS"/>
              <a:sym typeface="Trebuchet MS"/>
            </a:endParaRPr>
          </a:p>
        </p:txBody>
      </p:sp>
      <p:sp>
        <p:nvSpPr>
          <p:cNvPr id="322" name="Google Shape;322;p10"/>
          <p:cNvSpPr/>
          <p:nvPr/>
        </p:nvSpPr>
        <p:spPr>
          <a:xfrm>
            <a:off x="502920" y="1691640"/>
            <a:ext cx="11155680" cy="1325880"/>
          </a:xfrm>
          <a:prstGeom prst="roundRect">
            <a:avLst>
              <a:gd fmla="val 5517" name="adj"/>
            </a:avLst>
          </a:prstGeom>
          <a:solidFill>
            <a:srgbClr val="F1F5F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10"/>
          <p:cNvSpPr/>
          <p:nvPr/>
        </p:nvSpPr>
        <p:spPr>
          <a:xfrm>
            <a:off x="731520" y="2011680"/>
            <a:ext cx="640080" cy="640080"/>
          </a:xfrm>
          <a:prstGeom prst="ellipse">
            <a:avLst/>
          </a:prstGeom>
          <a:solidFill>
            <a:srgbClr val="8B3A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10"/>
          <p:cNvSpPr/>
          <p:nvPr/>
        </p:nvSpPr>
        <p:spPr>
          <a:xfrm>
            <a:off x="731520" y="2130552"/>
            <a:ext cx="640080" cy="4114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1</a:t>
            </a:r>
            <a:endParaRPr b="0" i="0" sz="1800" u="none" cap="none" strike="noStrike">
              <a:solidFill>
                <a:schemeClr val="dk1"/>
              </a:solidFill>
              <a:latin typeface="Trebuchet MS"/>
              <a:ea typeface="Trebuchet MS"/>
              <a:cs typeface="Trebuchet MS"/>
              <a:sym typeface="Trebuchet MS"/>
            </a:endParaRPr>
          </a:p>
        </p:txBody>
      </p:sp>
      <p:sp>
        <p:nvSpPr>
          <p:cNvPr id="325" name="Google Shape;325;p10"/>
          <p:cNvSpPr/>
          <p:nvPr/>
        </p:nvSpPr>
        <p:spPr>
          <a:xfrm>
            <a:off x="1645920" y="1874520"/>
            <a:ext cx="96012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216"/>
              </a:buClr>
              <a:buSzPts val="1700"/>
              <a:buFont typeface="Arial"/>
              <a:buNone/>
            </a:pPr>
            <a:r>
              <a:rPr b="1" i="0" lang="en-US" sz="1700" u="none" cap="none" strike="noStrike">
                <a:solidFill>
                  <a:srgbClr val="1F1216"/>
                </a:solidFill>
                <a:latin typeface="Arial"/>
                <a:ea typeface="Arial"/>
                <a:cs typeface="Arial"/>
                <a:sym typeface="Arial"/>
              </a:rPr>
              <a:t>In the Moment</a:t>
            </a:r>
            <a:endParaRPr b="0" i="0" sz="1700" u="none" cap="none" strike="noStrike">
              <a:solidFill>
                <a:schemeClr val="dk1"/>
              </a:solidFill>
              <a:latin typeface="Trebuchet MS"/>
              <a:ea typeface="Trebuchet MS"/>
              <a:cs typeface="Trebuchet MS"/>
              <a:sym typeface="Trebuchet MS"/>
            </a:endParaRPr>
          </a:p>
        </p:txBody>
      </p:sp>
      <p:sp>
        <p:nvSpPr>
          <p:cNvPr id="326" name="Google Shape;326;p10"/>
          <p:cNvSpPr/>
          <p:nvPr/>
        </p:nvSpPr>
        <p:spPr>
          <a:xfrm>
            <a:off x="1645920" y="2286000"/>
            <a:ext cx="960120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400"/>
              <a:buFont typeface="Arial"/>
              <a:buNone/>
            </a:pPr>
            <a:r>
              <a:rPr b="0" i="0" lang="en-US" sz="1400" u="none" cap="none" strike="noStrike">
                <a:solidFill>
                  <a:srgbClr val="64748B"/>
                </a:solidFill>
                <a:latin typeface="Arial"/>
                <a:ea typeface="Arial"/>
                <a:cs typeface="Arial"/>
                <a:sym typeface="Arial"/>
              </a:rPr>
              <a:t>Your three-move step-in (AAH) is live coaching. When you model a clean close or a strong test walk in front of the Client, the Specialist learns by watching — with no risk to the sale.</a:t>
            </a:r>
            <a:endParaRPr b="0" i="0" sz="1400" u="none" cap="none" strike="noStrike">
              <a:solidFill>
                <a:schemeClr val="dk1"/>
              </a:solidFill>
              <a:latin typeface="Trebuchet MS"/>
              <a:ea typeface="Trebuchet MS"/>
              <a:cs typeface="Trebuchet MS"/>
              <a:sym typeface="Trebuchet MS"/>
            </a:endParaRPr>
          </a:p>
        </p:txBody>
      </p:sp>
      <p:sp>
        <p:nvSpPr>
          <p:cNvPr id="327" name="Google Shape;327;p10"/>
          <p:cNvSpPr/>
          <p:nvPr/>
        </p:nvSpPr>
        <p:spPr>
          <a:xfrm>
            <a:off x="502920" y="3154680"/>
            <a:ext cx="11155680" cy="1325880"/>
          </a:xfrm>
          <a:prstGeom prst="roundRect">
            <a:avLst>
              <a:gd fmla="val 5517" name="adj"/>
            </a:avLst>
          </a:prstGeom>
          <a:solidFill>
            <a:srgbClr val="F8FA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p10"/>
          <p:cNvSpPr/>
          <p:nvPr/>
        </p:nvSpPr>
        <p:spPr>
          <a:xfrm>
            <a:off x="731520" y="3474720"/>
            <a:ext cx="640080" cy="640080"/>
          </a:xfrm>
          <a:prstGeom prst="ellipse">
            <a:avLst/>
          </a:prstGeom>
          <a:solidFill>
            <a:srgbClr val="8B3A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10"/>
          <p:cNvSpPr/>
          <p:nvPr/>
        </p:nvSpPr>
        <p:spPr>
          <a:xfrm>
            <a:off x="731520" y="3593592"/>
            <a:ext cx="640080" cy="4114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2</a:t>
            </a:r>
            <a:endParaRPr b="0" i="0" sz="1800" u="none" cap="none" strike="noStrike">
              <a:solidFill>
                <a:schemeClr val="dk1"/>
              </a:solidFill>
              <a:latin typeface="Trebuchet MS"/>
              <a:ea typeface="Trebuchet MS"/>
              <a:cs typeface="Trebuchet MS"/>
              <a:sym typeface="Trebuchet MS"/>
            </a:endParaRPr>
          </a:p>
        </p:txBody>
      </p:sp>
      <p:sp>
        <p:nvSpPr>
          <p:cNvPr id="330" name="Google Shape;330;p10"/>
          <p:cNvSpPr/>
          <p:nvPr/>
        </p:nvSpPr>
        <p:spPr>
          <a:xfrm>
            <a:off x="1645920" y="3337560"/>
            <a:ext cx="96012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216"/>
              </a:buClr>
              <a:buSzPts val="1700"/>
              <a:buFont typeface="Arial"/>
              <a:buNone/>
            </a:pPr>
            <a:r>
              <a:rPr b="1" i="0" lang="en-US" sz="1700" u="none" cap="none" strike="noStrike">
                <a:solidFill>
                  <a:srgbClr val="1F1216"/>
                </a:solidFill>
                <a:latin typeface="Arial"/>
                <a:ea typeface="Arial"/>
                <a:cs typeface="Arial"/>
                <a:sym typeface="Arial"/>
              </a:rPr>
              <a:t>In the Backroom</a:t>
            </a:r>
            <a:endParaRPr b="0" i="0" sz="1700" u="none" cap="none" strike="noStrike">
              <a:solidFill>
                <a:schemeClr val="dk1"/>
              </a:solidFill>
              <a:latin typeface="Trebuchet MS"/>
              <a:ea typeface="Trebuchet MS"/>
              <a:cs typeface="Trebuchet MS"/>
              <a:sym typeface="Trebuchet MS"/>
            </a:endParaRPr>
          </a:p>
        </p:txBody>
      </p:sp>
      <p:sp>
        <p:nvSpPr>
          <p:cNvPr id="331" name="Google Shape;331;p10"/>
          <p:cNvSpPr/>
          <p:nvPr/>
        </p:nvSpPr>
        <p:spPr>
          <a:xfrm>
            <a:off x="1645920" y="3749040"/>
            <a:ext cx="960120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400"/>
              <a:buFont typeface="Arial"/>
              <a:buNone/>
            </a:pPr>
            <a:r>
              <a:rPr b="0" i="0" lang="en-US" sz="1400" u="none" cap="none" strike="noStrike">
                <a:solidFill>
                  <a:srgbClr val="64748B"/>
                </a:solidFill>
                <a:latin typeface="Arial"/>
                <a:ea typeface="Arial"/>
                <a:cs typeface="Arial"/>
                <a:sym typeface="Arial"/>
              </a:rPr>
              <a:t>Right after the demo, while it is still fresh. Lead with what went well, then name one opportunity. One, not five. This is the richest coaching window of the day.</a:t>
            </a:r>
            <a:endParaRPr b="0" i="0" sz="1400" u="none" cap="none" strike="noStrike">
              <a:solidFill>
                <a:schemeClr val="dk1"/>
              </a:solidFill>
              <a:latin typeface="Trebuchet MS"/>
              <a:ea typeface="Trebuchet MS"/>
              <a:cs typeface="Trebuchet MS"/>
              <a:sym typeface="Trebuchet MS"/>
            </a:endParaRPr>
          </a:p>
        </p:txBody>
      </p:sp>
      <p:sp>
        <p:nvSpPr>
          <p:cNvPr id="332" name="Google Shape;332;p10"/>
          <p:cNvSpPr/>
          <p:nvPr/>
        </p:nvSpPr>
        <p:spPr>
          <a:xfrm>
            <a:off x="502920" y="4617720"/>
            <a:ext cx="11155680" cy="1325880"/>
          </a:xfrm>
          <a:prstGeom prst="roundRect">
            <a:avLst>
              <a:gd fmla="val 5517" name="adj"/>
            </a:avLst>
          </a:prstGeom>
          <a:solidFill>
            <a:srgbClr val="F1F5F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10"/>
          <p:cNvSpPr/>
          <p:nvPr/>
        </p:nvSpPr>
        <p:spPr>
          <a:xfrm>
            <a:off x="731520" y="4937760"/>
            <a:ext cx="640080" cy="640080"/>
          </a:xfrm>
          <a:prstGeom prst="ellipse">
            <a:avLst/>
          </a:prstGeom>
          <a:solidFill>
            <a:srgbClr val="8B3A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10"/>
          <p:cNvSpPr/>
          <p:nvPr/>
        </p:nvSpPr>
        <p:spPr>
          <a:xfrm>
            <a:off x="731520" y="5056632"/>
            <a:ext cx="640080" cy="4114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3</a:t>
            </a:r>
            <a:endParaRPr b="0" i="0" sz="1800" u="none" cap="none" strike="noStrike">
              <a:solidFill>
                <a:schemeClr val="dk1"/>
              </a:solidFill>
              <a:latin typeface="Trebuchet MS"/>
              <a:ea typeface="Trebuchet MS"/>
              <a:cs typeface="Trebuchet MS"/>
              <a:sym typeface="Trebuchet MS"/>
            </a:endParaRPr>
          </a:p>
        </p:txBody>
      </p:sp>
      <p:sp>
        <p:nvSpPr>
          <p:cNvPr id="335" name="Google Shape;335;p10"/>
          <p:cNvSpPr/>
          <p:nvPr/>
        </p:nvSpPr>
        <p:spPr>
          <a:xfrm>
            <a:off x="1645920" y="4800600"/>
            <a:ext cx="96012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216"/>
              </a:buClr>
              <a:buSzPts val="1700"/>
              <a:buFont typeface="Arial"/>
              <a:buNone/>
            </a:pPr>
            <a:r>
              <a:rPr b="1" i="0" lang="en-US" sz="1700" u="none" cap="none" strike="noStrike">
                <a:solidFill>
                  <a:srgbClr val="1F1216"/>
                </a:solidFill>
                <a:latin typeface="Arial"/>
                <a:ea typeface="Arial"/>
                <a:cs typeface="Arial"/>
                <a:sym typeface="Arial"/>
              </a:rPr>
              <a:t>In the Weekly 1:1</a:t>
            </a:r>
            <a:endParaRPr b="0" i="0" sz="1700" u="none" cap="none" strike="noStrike">
              <a:solidFill>
                <a:schemeClr val="dk1"/>
              </a:solidFill>
              <a:latin typeface="Trebuchet MS"/>
              <a:ea typeface="Trebuchet MS"/>
              <a:cs typeface="Trebuchet MS"/>
              <a:sym typeface="Trebuchet MS"/>
            </a:endParaRPr>
          </a:p>
        </p:txBody>
      </p:sp>
      <p:sp>
        <p:nvSpPr>
          <p:cNvPr id="336" name="Google Shape;336;p10"/>
          <p:cNvSpPr/>
          <p:nvPr/>
        </p:nvSpPr>
        <p:spPr>
          <a:xfrm>
            <a:off x="1645920" y="5212080"/>
            <a:ext cx="960120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400"/>
              <a:buFont typeface="Arial"/>
              <a:buNone/>
            </a:pPr>
            <a:r>
              <a:rPr b="0" i="0" lang="en-US" sz="1400" u="none" cap="none" strike="noStrike">
                <a:solidFill>
                  <a:srgbClr val="64748B"/>
                </a:solidFill>
                <a:latin typeface="Arial"/>
                <a:ea typeface="Arial"/>
                <a:cs typeface="Arial"/>
                <a:sym typeface="Arial"/>
              </a:rPr>
              <a:t>Patterns across many demos become the coaching theme. A single short walk is a moment. A Specialist who rushes every test walk is a theme worth a real conversation.</a:t>
            </a:r>
            <a:endParaRPr b="0" i="0" sz="1400" u="none" cap="none" strike="noStrike">
              <a:solidFill>
                <a:schemeClr val="dk1"/>
              </a:solidFill>
              <a:latin typeface="Trebuchet MS"/>
              <a:ea typeface="Trebuchet MS"/>
              <a:cs typeface="Trebuchet MS"/>
              <a:sym typeface="Trebuchet MS"/>
            </a:endParaRPr>
          </a:p>
        </p:txBody>
      </p:sp>
      <p:pic>
        <p:nvPicPr>
          <p:cNvPr id="337" name="Google Shape;337;p10" title="caprec-2026-07-28-17-24-37.webm">
            <a:hlinkClick r:id="rId4"/>
          </p:cNvPr>
          <p:cNvPicPr preferRelativeResize="0"/>
          <p:nvPr/>
        </p:nvPicPr>
        <p:blipFill>
          <a:blip r:embed="rId5">
            <a:alphaModFix/>
          </a:blip>
          <a:stretch>
            <a:fillRect/>
          </a:stretch>
        </p:blipFill>
        <p:spPr>
          <a:xfrm>
            <a:off x="3810000" y="1714500"/>
            <a:ext cx="9144" cy="9144"/>
          </a:xfrm>
          <a:prstGeom prst="rect">
            <a:avLst/>
          </a:prstGeom>
          <a:noFill/>
          <a:ln>
            <a:noFill/>
          </a:ln>
        </p:spPr>
      </p:pic>
      <p:pic>
        <p:nvPicPr>
          <p:cNvPr id="338" name="Google Shape;338;p10" title="Picture1.png"/>
          <p:cNvPicPr preferRelativeResize="0"/>
          <p:nvPr/>
        </p:nvPicPr>
        <p:blipFill>
          <a:blip r:embed="rId6">
            <a:alphaModFix/>
          </a:blip>
          <a:stretch>
            <a:fillRect/>
          </a:stretch>
        </p:blipFill>
        <p:spPr>
          <a:xfrm>
            <a:off x="11186625" y="5943600"/>
            <a:ext cx="822950" cy="8229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37"/>
                                        </p:tgtEl>
                                        <p:attrNameLst>
                                          <p:attrName>style.visibility</p:attrName>
                                        </p:attrNameLst>
                                      </p:cBhvr>
                                      <p:to>
                                        <p:strVal val="visible"/>
                                      </p:to>
                                    </p:set>
                                    <p:animEffect filter="fade" transition="in">
                                      <p:cBhvr>
                                        <p:cTn dur="1000"/>
                                        <p:tgtEl>
                                          <p:spTgt spid="3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3" name="Shape 343"/>
        <p:cNvGrpSpPr/>
        <p:nvPr/>
      </p:nvGrpSpPr>
      <p:grpSpPr>
        <a:xfrm>
          <a:off x="0" y="0"/>
          <a:ext cx="0" cy="0"/>
          <a:chOff x="0" y="0"/>
          <a:chExt cx="0" cy="0"/>
        </a:xfrm>
      </p:grpSpPr>
      <p:pic>
        <p:nvPicPr>
          <p:cNvPr id="344" name="Google Shape;344;p12" title="grok-image-6bee5419-570b-4123-8542-27b02a1104ea.jpg"/>
          <p:cNvPicPr preferRelativeResize="0"/>
          <p:nvPr/>
        </p:nvPicPr>
        <p:blipFill>
          <a:blip r:embed="rId3">
            <a:alphaModFix/>
          </a:blip>
          <a:stretch>
            <a:fillRect/>
          </a:stretch>
        </p:blipFill>
        <p:spPr>
          <a:xfrm>
            <a:off x="77450" y="5943600"/>
            <a:ext cx="1234419" cy="822950"/>
          </a:xfrm>
          <a:prstGeom prst="rect">
            <a:avLst/>
          </a:prstGeom>
          <a:noFill/>
          <a:ln>
            <a:noFill/>
          </a:ln>
        </p:spPr>
      </p:pic>
      <p:sp>
        <p:nvSpPr>
          <p:cNvPr id="345" name="Google Shape;345;p12"/>
          <p:cNvSpPr/>
          <p:nvPr/>
        </p:nvSpPr>
        <p:spPr>
          <a:xfrm>
            <a:off x="502920" y="256032"/>
            <a:ext cx="1115568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216"/>
              </a:buClr>
              <a:buSzPts val="2600"/>
              <a:buFont typeface="Arial"/>
              <a:buNone/>
            </a:pPr>
            <a:r>
              <a:rPr b="1" i="0" lang="en-US" sz="2600" u="none" cap="none" strike="noStrike">
                <a:solidFill>
                  <a:srgbClr val="1F1216"/>
                </a:solidFill>
                <a:latin typeface="Arial"/>
                <a:ea typeface="Arial"/>
                <a:cs typeface="Arial"/>
                <a:sym typeface="Arial"/>
              </a:rPr>
              <a:t>Saving the Sale — Common Red-Flag Plays</a:t>
            </a:r>
            <a:endParaRPr b="0" i="0" sz="2600" u="none" cap="none" strike="noStrike">
              <a:solidFill>
                <a:schemeClr val="dk1"/>
              </a:solidFill>
              <a:latin typeface="Trebuchet MS"/>
              <a:ea typeface="Trebuchet MS"/>
              <a:cs typeface="Trebuchet MS"/>
              <a:sym typeface="Trebuchet MS"/>
            </a:endParaRPr>
          </a:p>
        </p:txBody>
      </p:sp>
      <p:cxnSp>
        <p:nvCxnSpPr>
          <p:cNvPr id="346" name="Google Shape;346;p12"/>
          <p:cNvCxnSpPr/>
          <p:nvPr/>
        </p:nvCxnSpPr>
        <p:spPr>
          <a:xfrm>
            <a:off x="502920" y="896112"/>
            <a:ext cx="11155680" cy="0"/>
          </a:xfrm>
          <a:prstGeom prst="straightConnector1">
            <a:avLst/>
          </a:prstGeom>
          <a:noFill/>
          <a:ln cap="flat" cmpd="sng" w="25400">
            <a:solidFill>
              <a:srgbClr val="8B3A4F"/>
            </a:solidFill>
            <a:prstDash val="solid"/>
            <a:round/>
            <a:headEnd len="sm" w="sm" type="none"/>
            <a:tailEnd len="sm" w="sm" type="none"/>
          </a:ln>
        </p:spPr>
      </p:cxnSp>
      <p:sp>
        <p:nvSpPr>
          <p:cNvPr id="347" name="Google Shape;347;p12"/>
          <p:cNvSpPr/>
          <p:nvPr/>
        </p:nvSpPr>
        <p:spPr>
          <a:xfrm>
            <a:off x="5730240" y="6537960"/>
            <a:ext cx="73140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11</a:t>
            </a:r>
            <a:endParaRPr b="0" i="0" sz="1000" u="none" cap="none" strike="noStrike">
              <a:solidFill>
                <a:schemeClr val="dk1"/>
              </a:solidFill>
              <a:latin typeface="Trebuchet MS"/>
              <a:ea typeface="Trebuchet MS"/>
              <a:cs typeface="Trebuchet MS"/>
              <a:sym typeface="Trebuchet MS"/>
            </a:endParaRPr>
          </a:p>
        </p:txBody>
      </p:sp>
      <p:sp>
        <p:nvSpPr>
          <p:cNvPr id="348" name="Google Shape;348;p12"/>
          <p:cNvSpPr/>
          <p:nvPr/>
        </p:nvSpPr>
        <p:spPr>
          <a:xfrm>
            <a:off x="502920" y="1143000"/>
            <a:ext cx="3291840" cy="457200"/>
          </a:xfrm>
          <a:prstGeom prst="rect">
            <a:avLst/>
          </a:prstGeom>
          <a:solidFill>
            <a:srgbClr val="8B3A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12"/>
          <p:cNvSpPr/>
          <p:nvPr/>
        </p:nvSpPr>
        <p:spPr>
          <a:xfrm>
            <a:off x="640080" y="1234440"/>
            <a:ext cx="301752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When you see…</a:t>
            </a:r>
            <a:endParaRPr b="0" i="0" sz="1300" u="none" cap="none" strike="noStrike">
              <a:solidFill>
                <a:schemeClr val="dk1"/>
              </a:solidFill>
              <a:latin typeface="Trebuchet MS"/>
              <a:ea typeface="Trebuchet MS"/>
              <a:cs typeface="Trebuchet MS"/>
              <a:sym typeface="Trebuchet MS"/>
            </a:endParaRPr>
          </a:p>
        </p:txBody>
      </p:sp>
      <p:sp>
        <p:nvSpPr>
          <p:cNvPr id="350" name="Google Shape;350;p12"/>
          <p:cNvSpPr/>
          <p:nvPr/>
        </p:nvSpPr>
        <p:spPr>
          <a:xfrm>
            <a:off x="3794760" y="1143000"/>
            <a:ext cx="3291840" cy="457200"/>
          </a:xfrm>
          <a:prstGeom prst="rect">
            <a:avLst/>
          </a:prstGeom>
          <a:solidFill>
            <a:srgbClr val="8B3A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12"/>
          <p:cNvSpPr/>
          <p:nvPr/>
        </p:nvSpPr>
        <p:spPr>
          <a:xfrm>
            <a:off x="3931920" y="1234440"/>
            <a:ext cx="301752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Your move</a:t>
            </a:r>
            <a:endParaRPr b="0" i="0" sz="1300" u="none" cap="none" strike="noStrike">
              <a:solidFill>
                <a:schemeClr val="dk1"/>
              </a:solidFill>
              <a:latin typeface="Trebuchet MS"/>
              <a:ea typeface="Trebuchet MS"/>
              <a:cs typeface="Trebuchet MS"/>
              <a:sym typeface="Trebuchet MS"/>
            </a:endParaRPr>
          </a:p>
        </p:txBody>
      </p:sp>
      <p:sp>
        <p:nvSpPr>
          <p:cNvPr id="352" name="Google Shape;352;p12"/>
          <p:cNvSpPr/>
          <p:nvPr/>
        </p:nvSpPr>
        <p:spPr>
          <a:xfrm>
            <a:off x="7086600" y="1143000"/>
            <a:ext cx="4389120" cy="457200"/>
          </a:xfrm>
          <a:prstGeom prst="rect">
            <a:avLst/>
          </a:prstGeom>
          <a:solidFill>
            <a:srgbClr val="8B3A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p12"/>
          <p:cNvSpPr/>
          <p:nvPr/>
        </p:nvSpPr>
        <p:spPr>
          <a:xfrm>
            <a:off x="7223760" y="1234440"/>
            <a:ext cx="41148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Say it</a:t>
            </a:r>
            <a:endParaRPr b="0" i="0" sz="1300" u="none" cap="none" strike="noStrike">
              <a:solidFill>
                <a:schemeClr val="dk1"/>
              </a:solidFill>
              <a:latin typeface="Trebuchet MS"/>
              <a:ea typeface="Trebuchet MS"/>
              <a:cs typeface="Trebuchet MS"/>
              <a:sym typeface="Trebuchet MS"/>
            </a:endParaRPr>
          </a:p>
        </p:txBody>
      </p:sp>
      <p:sp>
        <p:nvSpPr>
          <p:cNvPr id="354" name="Google Shape;354;p12"/>
          <p:cNvSpPr/>
          <p:nvPr/>
        </p:nvSpPr>
        <p:spPr>
          <a:xfrm>
            <a:off x="502920" y="1600200"/>
            <a:ext cx="3291840" cy="868680"/>
          </a:xfrm>
          <a:prstGeom prst="rect">
            <a:avLst/>
          </a:prstGeom>
          <a:solidFill>
            <a:srgbClr val="F1F5F9"/>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12"/>
          <p:cNvSpPr/>
          <p:nvPr/>
        </p:nvSpPr>
        <p:spPr>
          <a:xfrm>
            <a:off x="612648" y="1737360"/>
            <a:ext cx="3072384"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200"/>
              <a:buFont typeface="Arial"/>
              <a:buNone/>
            </a:pPr>
            <a:r>
              <a:rPr b="0" i="0" lang="en-US" sz="1200" u="none" cap="none" strike="noStrike">
                <a:solidFill>
                  <a:srgbClr val="2A1A20"/>
                </a:solidFill>
                <a:latin typeface="Arial"/>
                <a:ea typeface="Arial"/>
                <a:cs typeface="Arial"/>
                <a:sym typeface="Arial"/>
              </a:rPr>
              <a:t>Client puts shoes back on early</a:t>
            </a:r>
            <a:endParaRPr b="0" i="0" sz="1200" u="none" cap="none" strike="noStrike">
              <a:solidFill>
                <a:schemeClr val="dk1"/>
              </a:solidFill>
              <a:latin typeface="Trebuchet MS"/>
              <a:ea typeface="Trebuchet MS"/>
              <a:cs typeface="Trebuchet MS"/>
              <a:sym typeface="Trebuchet MS"/>
            </a:endParaRPr>
          </a:p>
        </p:txBody>
      </p:sp>
      <p:sp>
        <p:nvSpPr>
          <p:cNvPr id="356" name="Google Shape;356;p12"/>
          <p:cNvSpPr/>
          <p:nvPr/>
        </p:nvSpPr>
        <p:spPr>
          <a:xfrm>
            <a:off x="3794760" y="1600200"/>
            <a:ext cx="3291840" cy="868680"/>
          </a:xfrm>
          <a:prstGeom prst="rect">
            <a:avLst/>
          </a:prstGeom>
          <a:solidFill>
            <a:srgbClr val="F1F5F9"/>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12"/>
          <p:cNvSpPr/>
          <p:nvPr/>
        </p:nvSpPr>
        <p:spPr>
          <a:xfrm>
            <a:off x="3904488" y="1737360"/>
            <a:ext cx="3072384"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200"/>
              <a:buFont typeface="Arial"/>
              <a:buNone/>
            </a:pPr>
            <a:r>
              <a:rPr b="0" i="0" lang="en-US" sz="1200" u="none" cap="none" strike="noStrike">
                <a:solidFill>
                  <a:srgbClr val="2A1A20"/>
                </a:solidFill>
                <a:latin typeface="Arial"/>
                <a:ea typeface="Arial"/>
                <a:cs typeface="Arial"/>
                <a:sym typeface="Arial"/>
              </a:rPr>
              <a:t>One more short walk in the supports</a:t>
            </a:r>
            <a:endParaRPr b="0" i="0" sz="1200" u="none" cap="none" strike="noStrike">
              <a:solidFill>
                <a:schemeClr val="dk1"/>
              </a:solidFill>
              <a:latin typeface="Trebuchet MS"/>
              <a:ea typeface="Trebuchet MS"/>
              <a:cs typeface="Trebuchet MS"/>
              <a:sym typeface="Trebuchet MS"/>
            </a:endParaRPr>
          </a:p>
        </p:txBody>
      </p:sp>
      <p:sp>
        <p:nvSpPr>
          <p:cNvPr id="358" name="Google Shape;358;p12"/>
          <p:cNvSpPr/>
          <p:nvPr/>
        </p:nvSpPr>
        <p:spPr>
          <a:xfrm>
            <a:off x="7086600" y="1600200"/>
            <a:ext cx="4389120" cy="868680"/>
          </a:xfrm>
          <a:prstGeom prst="rect">
            <a:avLst/>
          </a:prstGeom>
          <a:solidFill>
            <a:srgbClr val="F1F5F9"/>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p12"/>
          <p:cNvSpPr/>
          <p:nvPr/>
        </p:nvSpPr>
        <p:spPr>
          <a:xfrm>
            <a:off x="7196328" y="1737360"/>
            <a:ext cx="4169664"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200"/>
              <a:buFont typeface="Arial"/>
              <a:buNone/>
            </a:pPr>
            <a:r>
              <a:rPr b="0" i="0" lang="en-US" sz="1200" u="none" cap="none" strike="noStrike">
                <a:solidFill>
                  <a:srgbClr val="2A1A20"/>
                </a:solidFill>
                <a:latin typeface="Arial"/>
                <a:ea typeface="Arial"/>
                <a:cs typeface="Arial"/>
                <a:sym typeface="Arial"/>
              </a:rPr>
              <a:t>"Let's try one more short walk… I want you to really feel the difference."</a:t>
            </a:r>
            <a:endParaRPr b="0" i="0" sz="1200" u="none" cap="none" strike="noStrike">
              <a:solidFill>
                <a:schemeClr val="dk1"/>
              </a:solidFill>
              <a:latin typeface="Trebuchet MS"/>
              <a:ea typeface="Trebuchet MS"/>
              <a:cs typeface="Trebuchet MS"/>
              <a:sym typeface="Trebuchet MS"/>
            </a:endParaRPr>
          </a:p>
        </p:txBody>
      </p:sp>
      <p:sp>
        <p:nvSpPr>
          <p:cNvPr id="360" name="Google Shape;360;p12"/>
          <p:cNvSpPr/>
          <p:nvPr/>
        </p:nvSpPr>
        <p:spPr>
          <a:xfrm>
            <a:off x="502920" y="2468880"/>
            <a:ext cx="3291840" cy="868680"/>
          </a:xfrm>
          <a:prstGeom prst="rect">
            <a:avLst/>
          </a:prstGeom>
          <a:solidFill>
            <a:srgbClr val="FFFFFF"/>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p12"/>
          <p:cNvSpPr/>
          <p:nvPr/>
        </p:nvSpPr>
        <p:spPr>
          <a:xfrm>
            <a:off x="612648" y="2606040"/>
            <a:ext cx="3072384"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200"/>
              <a:buFont typeface="Arial"/>
              <a:buNone/>
            </a:pPr>
            <a:r>
              <a:rPr b="0" i="0" lang="en-US" sz="1200" u="none" cap="none" strike="noStrike">
                <a:solidFill>
                  <a:srgbClr val="2A1A20"/>
                </a:solidFill>
                <a:latin typeface="Arial"/>
                <a:ea typeface="Arial"/>
                <a:cs typeface="Arial"/>
                <a:sym typeface="Arial"/>
              </a:rPr>
              <a:t>Specialist struggling to close</a:t>
            </a:r>
            <a:endParaRPr b="0" i="0" sz="1200" u="none" cap="none" strike="noStrike">
              <a:solidFill>
                <a:schemeClr val="dk1"/>
              </a:solidFill>
              <a:latin typeface="Trebuchet MS"/>
              <a:ea typeface="Trebuchet MS"/>
              <a:cs typeface="Trebuchet MS"/>
              <a:sym typeface="Trebuchet MS"/>
            </a:endParaRPr>
          </a:p>
        </p:txBody>
      </p:sp>
      <p:sp>
        <p:nvSpPr>
          <p:cNvPr id="362" name="Google Shape;362;p12"/>
          <p:cNvSpPr/>
          <p:nvPr/>
        </p:nvSpPr>
        <p:spPr>
          <a:xfrm>
            <a:off x="3794760" y="2468880"/>
            <a:ext cx="3291840" cy="868680"/>
          </a:xfrm>
          <a:prstGeom prst="rect">
            <a:avLst/>
          </a:prstGeom>
          <a:solidFill>
            <a:srgbClr val="FFFFFF"/>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p12"/>
          <p:cNvSpPr/>
          <p:nvPr/>
        </p:nvSpPr>
        <p:spPr>
          <a:xfrm>
            <a:off x="3904488" y="2606040"/>
            <a:ext cx="3072384"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200"/>
              <a:buFont typeface="Arial"/>
              <a:buNone/>
            </a:pPr>
            <a:r>
              <a:rPr b="0" i="0" lang="en-US" sz="1200" u="none" cap="none" strike="noStrike">
                <a:solidFill>
                  <a:srgbClr val="2A1A20"/>
                </a:solidFill>
                <a:latin typeface="Arial"/>
                <a:ea typeface="Arial"/>
                <a:cs typeface="Arial"/>
                <a:sym typeface="Arial"/>
              </a:rPr>
              <a:t>Reinforce the Client’s own result, then go silent</a:t>
            </a:r>
            <a:endParaRPr b="0" i="0" sz="1200" u="none" cap="none" strike="noStrike">
              <a:solidFill>
                <a:schemeClr val="dk1"/>
              </a:solidFill>
              <a:latin typeface="Trebuchet MS"/>
              <a:ea typeface="Trebuchet MS"/>
              <a:cs typeface="Trebuchet MS"/>
              <a:sym typeface="Trebuchet MS"/>
            </a:endParaRPr>
          </a:p>
        </p:txBody>
      </p:sp>
      <p:sp>
        <p:nvSpPr>
          <p:cNvPr id="364" name="Google Shape;364;p12"/>
          <p:cNvSpPr/>
          <p:nvPr/>
        </p:nvSpPr>
        <p:spPr>
          <a:xfrm>
            <a:off x="7086600" y="2468880"/>
            <a:ext cx="4389120" cy="868680"/>
          </a:xfrm>
          <a:prstGeom prst="rect">
            <a:avLst/>
          </a:prstGeom>
          <a:solidFill>
            <a:srgbClr val="FFFFFF"/>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p12"/>
          <p:cNvSpPr/>
          <p:nvPr/>
        </p:nvSpPr>
        <p:spPr>
          <a:xfrm>
            <a:off x="7196328" y="2606040"/>
            <a:ext cx="4169664"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200"/>
              <a:buFont typeface="Arial"/>
              <a:buNone/>
            </a:pPr>
            <a:r>
              <a:rPr b="0" i="0" lang="en-US" sz="1200" u="none" cap="none" strike="noStrike">
                <a:solidFill>
                  <a:srgbClr val="2A1A20"/>
                </a:solidFill>
                <a:latin typeface="Arial"/>
                <a:ea typeface="Arial"/>
                <a:cs typeface="Arial"/>
                <a:sym typeface="Arial"/>
              </a:rPr>
              <a:t>"You are in your Strengthener now. This took you from a pain level of 8 to a 3."</a:t>
            </a:r>
            <a:endParaRPr b="0" i="0" sz="1200" u="none" cap="none" strike="noStrike">
              <a:solidFill>
                <a:schemeClr val="dk1"/>
              </a:solidFill>
              <a:latin typeface="Trebuchet MS"/>
              <a:ea typeface="Trebuchet MS"/>
              <a:cs typeface="Trebuchet MS"/>
              <a:sym typeface="Trebuchet MS"/>
            </a:endParaRPr>
          </a:p>
        </p:txBody>
      </p:sp>
      <p:sp>
        <p:nvSpPr>
          <p:cNvPr id="366" name="Google Shape;366;p12"/>
          <p:cNvSpPr/>
          <p:nvPr/>
        </p:nvSpPr>
        <p:spPr>
          <a:xfrm>
            <a:off x="502920" y="3337560"/>
            <a:ext cx="3291840" cy="868680"/>
          </a:xfrm>
          <a:prstGeom prst="rect">
            <a:avLst/>
          </a:prstGeom>
          <a:solidFill>
            <a:srgbClr val="F1F5F9"/>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 name="Google Shape;367;p12"/>
          <p:cNvSpPr/>
          <p:nvPr/>
        </p:nvSpPr>
        <p:spPr>
          <a:xfrm>
            <a:off x="612648" y="3474720"/>
            <a:ext cx="3072384"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200"/>
              <a:buFont typeface="Arial"/>
              <a:buNone/>
            </a:pPr>
            <a:r>
              <a:rPr b="0" i="0" lang="en-US" sz="1200" u="none" cap="none" strike="noStrike">
                <a:solidFill>
                  <a:srgbClr val="2A1A20"/>
                </a:solidFill>
                <a:latin typeface="Arial"/>
                <a:ea typeface="Arial"/>
                <a:cs typeface="Arial"/>
                <a:sym typeface="Arial"/>
              </a:rPr>
              <a:t>Client distracted on their phone</a:t>
            </a:r>
            <a:endParaRPr b="0" i="0" sz="1200" u="none" cap="none" strike="noStrike">
              <a:solidFill>
                <a:schemeClr val="dk1"/>
              </a:solidFill>
              <a:latin typeface="Trebuchet MS"/>
              <a:ea typeface="Trebuchet MS"/>
              <a:cs typeface="Trebuchet MS"/>
              <a:sym typeface="Trebuchet MS"/>
            </a:endParaRPr>
          </a:p>
        </p:txBody>
      </p:sp>
      <p:sp>
        <p:nvSpPr>
          <p:cNvPr id="368" name="Google Shape;368;p12"/>
          <p:cNvSpPr/>
          <p:nvPr/>
        </p:nvSpPr>
        <p:spPr>
          <a:xfrm>
            <a:off x="3794760" y="3337560"/>
            <a:ext cx="3291840" cy="868680"/>
          </a:xfrm>
          <a:prstGeom prst="rect">
            <a:avLst/>
          </a:prstGeom>
          <a:solidFill>
            <a:srgbClr val="F1F5F9"/>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p12"/>
          <p:cNvSpPr/>
          <p:nvPr/>
        </p:nvSpPr>
        <p:spPr>
          <a:xfrm>
            <a:off x="3904488" y="3474720"/>
            <a:ext cx="3072384"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200"/>
              <a:buFont typeface="Arial"/>
              <a:buNone/>
            </a:pPr>
            <a:r>
              <a:rPr b="0" i="0" lang="en-US" sz="1200" u="none" cap="none" strike="noStrike">
                <a:solidFill>
                  <a:srgbClr val="2A1A20"/>
                </a:solidFill>
                <a:latin typeface="Arial"/>
                <a:ea typeface="Arial"/>
                <a:cs typeface="Arial"/>
                <a:sym typeface="Arial"/>
              </a:rPr>
              <a:t>Re-engage with movement, walk beside them</a:t>
            </a:r>
            <a:endParaRPr b="0" i="0" sz="1200" u="none" cap="none" strike="noStrike">
              <a:solidFill>
                <a:schemeClr val="dk1"/>
              </a:solidFill>
              <a:latin typeface="Trebuchet MS"/>
              <a:ea typeface="Trebuchet MS"/>
              <a:cs typeface="Trebuchet MS"/>
              <a:sym typeface="Trebuchet MS"/>
            </a:endParaRPr>
          </a:p>
        </p:txBody>
      </p:sp>
      <p:sp>
        <p:nvSpPr>
          <p:cNvPr id="370" name="Google Shape;370;p12"/>
          <p:cNvSpPr/>
          <p:nvPr/>
        </p:nvSpPr>
        <p:spPr>
          <a:xfrm>
            <a:off x="7086600" y="3337560"/>
            <a:ext cx="4389120" cy="868680"/>
          </a:xfrm>
          <a:prstGeom prst="rect">
            <a:avLst/>
          </a:prstGeom>
          <a:solidFill>
            <a:srgbClr val="F1F5F9"/>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12"/>
          <p:cNvSpPr/>
          <p:nvPr/>
        </p:nvSpPr>
        <p:spPr>
          <a:xfrm>
            <a:off x="7196328" y="3474720"/>
            <a:ext cx="4169664"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200"/>
              <a:buFont typeface="Arial"/>
              <a:buNone/>
            </a:pPr>
            <a:r>
              <a:rPr b="0" i="0" lang="en-US" sz="1200" u="none" cap="none" strike="noStrike">
                <a:solidFill>
                  <a:srgbClr val="2A1A20"/>
                </a:solidFill>
                <a:latin typeface="Arial"/>
                <a:ea typeface="Arial"/>
                <a:cs typeface="Arial"/>
                <a:sym typeface="Arial"/>
              </a:rPr>
              <a:t>"Take a quick walk with me while [Name] gets your next pair ready…"</a:t>
            </a:r>
            <a:endParaRPr b="0" i="0" sz="1200" u="none" cap="none" strike="noStrike">
              <a:solidFill>
                <a:schemeClr val="dk1"/>
              </a:solidFill>
              <a:latin typeface="Trebuchet MS"/>
              <a:ea typeface="Trebuchet MS"/>
              <a:cs typeface="Trebuchet MS"/>
              <a:sym typeface="Trebuchet MS"/>
            </a:endParaRPr>
          </a:p>
        </p:txBody>
      </p:sp>
      <p:sp>
        <p:nvSpPr>
          <p:cNvPr id="372" name="Google Shape;372;p12"/>
          <p:cNvSpPr/>
          <p:nvPr/>
        </p:nvSpPr>
        <p:spPr>
          <a:xfrm>
            <a:off x="502920" y="4206240"/>
            <a:ext cx="3291840" cy="868680"/>
          </a:xfrm>
          <a:prstGeom prst="rect">
            <a:avLst/>
          </a:prstGeom>
          <a:solidFill>
            <a:srgbClr val="FFFFFF"/>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12"/>
          <p:cNvSpPr/>
          <p:nvPr/>
        </p:nvSpPr>
        <p:spPr>
          <a:xfrm>
            <a:off x="612648" y="4343400"/>
            <a:ext cx="3072384"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200"/>
              <a:buFont typeface="Arial"/>
              <a:buNone/>
            </a:pPr>
            <a:r>
              <a:rPr b="0" i="0" lang="en-US" sz="1200" u="none" cap="none" strike="noStrike">
                <a:solidFill>
                  <a:srgbClr val="2A1A20"/>
                </a:solidFill>
                <a:latin typeface="Arial"/>
                <a:ea typeface="Arial"/>
                <a:cs typeface="Arial"/>
                <a:sym typeface="Arial"/>
              </a:rPr>
              <a:t>Client uses neutral language</a:t>
            </a:r>
            <a:endParaRPr b="0" i="0" sz="1200" u="none" cap="none" strike="noStrike">
              <a:solidFill>
                <a:schemeClr val="dk1"/>
              </a:solidFill>
              <a:latin typeface="Trebuchet MS"/>
              <a:ea typeface="Trebuchet MS"/>
              <a:cs typeface="Trebuchet MS"/>
              <a:sym typeface="Trebuchet MS"/>
            </a:endParaRPr>
          </a:p>
        </p:txBody>
      </p:sp>
      <p:sp>
        <p:nvSpPr>
          <p:cNvPr id="374" name="Google Shape;374;p12"/>
          <p:cNvSpPr/>
          <p:nvPr/>
        </p:nvSpPr>
        <p:spPr>
          <a:xfrm>
            <a:off x="3794760" y="4206240"/>
            <a:ext cx="3291840" cy="868680"/>
          </a:xfrm>
          <a:prstGeom prst="rect">
            <a:avLst/>
          </a:prstGeom>
          <a:solidFill>
            <a:srgbClr val="FFFFFF"/>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p12"/>
          <p:cNvSpPr/>
          <p:nvPr/>
        </p:nvSpPr>
        <p:spPr>
          <a:xfrm>
            <a:off x="3904488" y="4343400"/>
            <a:ext cx="3072384"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200"/>
              <a:buFont typeface="Arial"/>
              <a:buNone/>
            </a:pPr>
            <a:r>
              <a:rPr b="0" i="0" lang="en-US" sz="1200" u="none" cap="none" strike="noStrike">
                <a:solidFill>
                  <a:srgbClr val="2A1A20"/>
                </a:solidFill>
                <a:latin typeface="Arial"/>
                <a:ea typeface="Arial"/>
                <a:cs typeface="Arial"/>
                <a:sym typeface="Arial"/>
              </a:rPr>
              <a:t>Add energy, normalize, earn one more lap</a:t>
            </a:r>
            <a:endParaRPr b="0" i="0" sz="1200" u="none" cap="none" strike="noStrike">
              <a:solidFill>
                <a:schemeClr val="dk1"/>
              </a:solidFill>
              <a:latin typeface="Trebuchet MS"/>
              <a:ea typeface="Trebuchet MS"/>
              <a:cs typeface="Trebuchet MS"/>
              <a:sym typeface="Trebuchet MS"/>
            </a:endParaRPr>
          </a:p>
        </p:txBody>
      </p:sp>
      <p:sp>
        <p:nvSpPr>
          <p:cNvPr id="376" name="Google Shape;376;p12"/>
          <p:cNvSpPr/>
          <p:nvPr/>
        </p:nvSpPr>
        <p:spPr>
          <a:xfrm>
            <a:off x="7086600" y="4206240"/>
            <a:ext cx="4389120" cy="868680"/>
          </a:xfrm>
          <a:prstGeom prst="rect">
            <a:avLst/>
          </a:prstGeom>
          <a:solidFill>
            <a:srgbClr val="FFFFFF"/>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p12"/>
          <p:cNvSpPr/>
          <p:nvPr/>
        </p:nvSpPr>
        <p:spPr>
          <a:xfrm>
            <a:off x="7196328" y="4343400"/>
            <a:ext cx="4169664"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200"/>
              <a:buFont typeface="Arial"/>
              <a:buNone/>
            </a:pPr>
            <a:r>
              <a:rPr b="0" i="0" lang="en-US" sz="1200" u="none" cap="none" strike="noStrike">
                <a:solidFill>
                  <a:srgbClr val="2A1A20"/>
                </a:solidFill>
                <a:latin typeface="Arial"/>
                <a:ea typeface="Arial"/>
                <a:cs typeface="Arial"/>
                <a:sym typeface="Arial"/>
              </a:rPr>
              <a:t>"I remember my first time… Let’s give it one more lap."</a:t>
            </a:r>
            <a:endParaRPr b="0" i="0" sz="1200" u="none" cap="none" strike="noStrike">
              <a:solidFill>
                <a:schemeClr val="dk1"/>
              </a:solidFill>
              <a:latin typeface="Trebuchet MS"/>
              <a:ea typeface="Trebuchet MS"/>
              <a:cs typeface="Trebuchet MS"/>
              <a:sym typeface="Trebuchet MS"/>
            </a:endParaRPr>
          </a:p>
        </p:txBody>
      </p:sp>
      <p:sp>
        <p:nvSpPr>
          <p:cNvPr id="378" name="Google Shape;378;p12"/>
          <p:cNvSpPr/>
          <p:nvPr/>
        </p:nvSpPr>
        <p:spPr>
          <a:xfrm>
            <a:off x="502920" y="5074920"/>
            <a:ext cx="3291840" cy="868680"/>
          </a:xfrm>
          <a:prstGeom prst="rect">
            <a:avLst/>
          </a:prstGeom>
          <a:solidFill>
            <a:srgbClr val="F1F5F9"/>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12"/>
          <p:cNvSpPr/>
          <p:nvPr/>
        </p:nvSpPr>
        <p:spPr>
          <a:xfrm>
            <a:off x="612648" y="5212080"/>
            <a:ext cx="3072384"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200"/>
              <a:buFont typeface="Arial"/>
              <a:buNone/>
            </a:pPr>
            <a:r>
              <a:rPr b="0" i="0" lang="en-US" sz="1200" u="none" cap="none" strike="noStrike">
                <a:solidFill>
                  <a:srgbClr val="2A1A20"/>
                </a:solidFill>
                <a:latin typeface="Arial"/>
                <a:ea typeface="Arial"/>
                <a:cs typeface="Arial"/>
                <a:sym typeface="Arial"/>
              </a:rPr>
              <a:t>Specialist oversharing stories</a:t>
            </a:r>
            <a:endParaRPr b="0" i="0" sz="1200" u="none" cap="none" strike="noStrike">
              <a:solidFill>
                <a:schemeClr val="dk1"/>
              </a:solidFill>
              <a:latin typeface="Trebuchet MS"/>
              <a:ea typeface="Trebuchet MS"/>
              <a:cs typeface="Trebuchet MS"/>
              <a:sym typeface="Trebuchet MS"/>
            </a:endParaRPr>
          </a:p>
        </p:txBody>
      </p:sp>
      <p:sp>
        <p:nvSpPr>
          <p:cNvPr id="380" name="Google Shape;380;p12"/>
          <p:cNvSpPr/>
          <p:nvPr/>
        </p:nvSpPr>
        <p:spPr>
          <a:xfrm>
            <a:off x="3794760" y="5074920"/>
            <a:ext cx="3291840" cy="868680"/>
          </a:xfrm>
          <a:prstGeom prst="rect">
            <a:avLst/>
          </a:prstGeom>
          <a:solidFill>
            <a:srgbClr val="F1F5F9"/>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p12"/>
          <p:cNvSpPr/>
          <p:nvPr/>
        </p:nvSpPr>
        <p:spPr>
          <a:xfrm>
            <a:off x="3904488" y="5212080"/>
            <a:ext cx="3072384"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200"/>
              <a:buFont typeface="Arial"/>
              <a:buNone/>
            </a:pPr>
            <a:r>
              <a:rPr b="0" i="0" lang="en-US" sz="1200" u="none" cap="none" strike="noStrike">
                <a:solidFill>
                  <a:srgbClr val="2A1A20"/>
                </a:solidFill>
                <a:latin typeface="Arial"/>
                <a:ea typeface="Arial"/>
                <a:cs typeface="Arial"/>
                <a:sym typeface="Arial"/>
              </a:rPr>
              <a:t>Redirect to the Client’s goals</a:t>
            </a:r>
            <a:endParaRPr b="0" i="0" sz="1200" u="none" cap="none" strike="noStrike">
              <a:solidFill>
                <a:schemeClr val="dk1"/>
              </a:solidFill>
              <a:latin typeface="Trebuchet MS"/>
              <a:ea typeface="Trebuchet MS"/>
              <a:cs typeface="Trebuchet MS"/>
              <a:sym typeface="Trebuchet MS"/>
            </a:endParaRPr>
          </a:p>
        </p:txBody>
      </p:sp>
      <p:sp>
        <p:nvSpPr>
          <p:cNvPr id="382" name="Google Shape;382;p12"/>
          <p:cNvSpPr/>
          <p:nvPr/>
        </p:nvSpPr>
        <p:spPr>
          <a:xfrm>
            <a:off x="7086600" y="5074920"/>
            <a:ext cx="4389120" cy="868680"/>
          </a:xfrm>
          <a:prstGeom prst="rect">
            <a:avLst/>
          </a:prstGeom>
          <a:solidFill>
            <a:srgbClr val="F1F5F9"/>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p12"/>
          <p:cNvSpPr/>
          <p:nvPr/>
        </p:nvSpPr>
        <p:spPr>
          <a:xfrm>
            <a:off x="7196328" y="5212080"/>
            <a:ext cx="4169664"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200"/>
              <a:buFont typeface="Arial"/>
              <a:buNone/>
            </a:pPr>
            <a:r>
              <a:rPr b="0" i="0" lang="en-US" sz="1200" u="none" cap="none" strike="noStrike">
                <a:solidFill>
                  <a:srgbClr val="2A1A20"/>
                </a:solidFill>
                <a:latin typeface="Arial"/>
                <a:ea typeface="Arial"/>
                <a:cs typeface="Arial"/>
                <a:sym typeface="Arial"/>
              </a:rPr>
              <a:t>"What do you aspire to do once you are fully broken in with your system?"</a:t>
            </a:r>
            <a:endParaRPr b="0" i="0" sz="1200" u="none" cap="none" strike="noStrike">
              <a:solidFill>
                <a:schemeClr val="dk1"/>
              </a:solidFill>
              <a:latin typeface="Trebuchet MS"/>
              <a:ea typeface="Trebuchet MS"/>
              <a:cs typeface="Trebuchet MS"/>
              <a:sym typeface="Trebuchet MS"/>
            </a:endParaRPr>
          </a:p>
        </p:txBody>
      </p:sp>
      <p:pic>
        <p:nvPicPr>
          <p:cNvPr id="384" name="Google Shape;384;p12" title="caprec-2026-07-28-17-26-11.webm">
            <a:hlinkClick r:id="rId4"/>
          </p:cNvPr>
          <p:cNvPicPr preferRelativeResize="0"/>
          <p:nvPr/>
        </p:nvPicPr>
        <p:blipFill>
          <a:blip r:embed="rId5">
            <a:alphaModFix/>
          </a:blip>
          <a:stretch>
            <a:fillRect/>
          </a:stretch>
        </p:blipFill>
        <p:spPr>
          <a:xfrm>
            <a:off x="3810000" y="1714500"/>
            <a:ext cx="91440" cy="91440"/>
          </a:xfrm>
          <a:prstGeom prst="rect">
            <a:avLst/>
          </a:prstGeom>
          <a:noFill/>
          <a:ln>
            <a:noFill/>
          </a:ln>
        </p:spPr>
      </p:pic>
      <p:pic>
        <p:nvPicPr>
          <p:cNvPr id="385" name="Google Shape;385;p12" title="Picture1.png"/>
          <p:cNvPicPr preferRelativeResize="0"/>
          <p:nvPr/>
        </p:nvPicPr>
        <p:blipFill>
          <a:blip r:embed="rId6">
            <a:alphaModFix/>
          </a:blip>
          <a:stretch>
            <a:fillRect/>
          </a:stretch>
        </p:blipFill>
        <p:spPr>
          <a:xfrm>
            <a:off x="11186625" y="5943600"/>
            <a:ext cx="822950" cy="8229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84"/>
                                        </p:tgtEl>
                                        <p:attrNameLst>
                                          <p:attrName>style.visibility</p:attrName>
                                        </p:attrNameLst>
                                      </p:cBhvr>
                                      <p:to>
                                        <p:strVal val="visible"/>
                                      </p:to>
                                    </p:set>
                                    <p:animEffect filter="fade" transition="in">
                                      <p:cBhvr>
                                        <p:cTn dur="1000"/>
                                        <p:tgtEl>
                                          <p:spTgt spid="3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0" name="Shape 390"/>
        <p:cNvGrpSpPr/>
        <p:nvPr/>
      </p:nvGrpSpPr>
      <p:grpSpPr>
        <a:xfrm>
          <a:off x="0" y="0"/>
          <a:ext cx="0" cy="0"/>
          <a:chOff x="0" y="0"/>
          <a:chExt cx="0" cy="0"/>
        </a:xfrm>
      </p:grpSpPr>
      <p:sp>
        <p:nvSpPr>
          <p:cNvPr id="391" name="Google Shape;391;p13"/>
          <p:cNvSpPr/>
          <p:nvPr/>
        </p:nvSpPr>
        <p:spPr>
          <a:xfrm>
            <a:off x="502920" y="256032"/>
            <a:ext cx="1115568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216"/>
              </a:buClr>
              <a:buSzPts val="2600"/>
              <a:buFont typeface="Arial"/>
              <a:buNone/>
            </a:pPr>
            <a:r>
              <a:rPr b="1" i="0" lang="en-US" sz="2600" u="none" cap="none" strike="noStrike">
                <a:solidFill>
                  <a:srgbClr val="1F1216"/>
                </a:solidFill>
                <a:latin typeface="Arial"/>
                <a:ea typeface="Arial"/>
                <a:cs typeface="Arial"/>
                <a:sym typeface="Arial"/>
              </a:rPr>
              <a:t>Amplify the WOW</a:t>
            </a:r>
            <a:endParaRPr b="0" i="0" sz="2600" u="none" cap="none" strike="noStrike">
              <a:solidFill>
                <a:schemeClr val="dk1"/>
              </a:solidFill>
              <a:latin typeface="Trebuchet MS"/>
              <a:ea typeface="Trebuchet MS"/>
              <a:cs typeface="Trebuchet MS"/>
              <a:sym typeface="Trebuchet MS"/>
            </a:endParaRPr>
          </a:p>
        </p:txBody>
      </p:sp>
      <p:cxnSp>
        <p:nvCxnSpPr>
          <p:cNvPr id="392" name="Google Shape;392;p13"/>
          <p:cNvCxnSpPr/>
          <p:nvPr/>
        </p:nvCxnSpPr>
        <p:spPr>
          <a:xfrm>
            <a:off x="502920" y="896112"/>
            <a:ext cx="11155680" cy="0"/>
          </a:xfrm>
          <a:prstGeom prst="straightConnector1">
            <a:avLst/>
          </a:prstGeom>
          <a:noFill/>
          <a:ln cap="flat" cmpd="sng" w="25400">
            <a:solidFill>
              <a:srgbClr val="8B3A4F"/>
            </a:solidFill>
            <a:prstDash val="solid"/>
            <a:round/>
            <a:headEnd len="sm" w="sm" type="none"/>
            <a:tailEnd len="sm" w="sm" type="none"/>
          </a:ln>
        </p:spPr>
      </p:cxnSp>
      <p:sp>
        <p:nvSpPr>
          <p:cNvPr id="393" name="Google Shape;393;p13"/>
          <p:cNvSpPr/>
          <p:nvPr/>
        </p:nvSpPr>
        <p:spPr>
          <a:xfrm>
            <a:off x="5730240" y="6537960"/>
            <a:ext cx="73140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12</a:t>
            </a:r>
            <a:endParaRPr b="0" i="0" sz="1000" u="none" cap="none" strike="noStrike">
              <a:solidFill>
                <a:schemeClr val="dk1"/>
              </a:solidFill>
              <a:latin typeface="Trebuchet MS"/>
              <a:ea typeface="Trebuchet MS"/>
              <a:cs typeface="Trebuchet MS"/>
              <a:sym typeface="Trebuchet MS"/>
            </a:endParaRPr>
          </a:p>
        </p:txBody>
      </p:sp>
      <p:sp>
        <p:nvSpPr>
          <p:cNvPr id="394" name="Google Shape;394;p13"/>
          <p:cNvSpPr/>
          <p:nvPr/>
        </p:nvSpPr>
        <p:spPr>
          <a:xfrm>
            <a:off x="502920" y="1188720"/>
            <a:ext cx="11155680" cy="2103120"/>
          </a:xfrm>
          <a:prstGeom prst="roundRect">
            <a:avLst>
              <a:gd fmla="val 4348" name="adj"/>
            </a:avLst>
          </a:prstGeom>
          <a:solidFill>
            <a:srgbClr val="FEF3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13"/>
          <p:cNvSpPr/>
          <p:nvPr/>
        </p:nvSpPr>
        <p:spPr>
          <a:xfrm>
            <a:off x="777240" y="1371600"/>
            <a:ext cx="106070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64D63"/>
              </a:buClr>
              <a:buSzPts val="1600"/>
              <a:buFont typeface="Arial"/>
              <a:buNone/>
            </a:pPr>
            <a:r>
              <a:rPr b="1" i="0" lang="en-US" sz="1600" u="none" cap="none" strike="noStrike">
                <a:solidFill>
                  <a:srgbClr val="A64D63"/>
                </a:solidFill>
                <a:latin typeface="Arial"/>
                <a:ea typeface="Arial"/>
                <a:cs typeface="Arial"/>
                <a:sym typeface="Arial"/>
              </a:rPr>
              <a:t>WOW MOMENT</a:t>
            </a:r>
            <a:endParaRPr b="0" i="0" sz="1600" u="none" cap="none" strike="noStrike">
              <a:solidFill>
                <a:schemeClr val="dk1"/>
              </a:solidFill>
              <a:latin typeface="Trebuchet MS"/>
              <a:ea typeface="Trebuchet MS"/>
              <a:cs typeface="Trebuchet MS"/>
              <a:sym typeface="Trebuchet MS"/>
            </a:endParaRPr>
          </a:p>
        </p:txBody>
      </p:sp>
      <p:sp>
        <p:nvSpPr>
          <p:cNvPr id="396" name="Google Shape;396;p13"/>
          <p:cNvSpPr/>
          <p:nvPr/>
        </p:nvSpPr>
        <p:spPr>
          <a:xfrm>
            <a:off x="777240" y="1874520"/>
            <a:ext cx="10607040" cy="11887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600"/>
              <a:buFont typeface="Arial"/>
              <a:buNone/>
            </a:pPr>
            <a:r>
              <a:rPr b="0" i="0" lang="en-US" sz="1600" u="none" cap="none" strike="noStrike">
                <a:solidFill>
                  <a:srgbClr val="2A1A20"/>
                </a:solidFill>
                <a:latin typeface="Arial"/>
                <a:ea typeface="Arial"/>
                <a:cs typeface="Arial"/>
                <a:sym typeface="Arial"/>
              </a:rPr>
              <a:t>When the balance technique lands, join it and name the win out loud — then let the silence do the rest.</a:t>
            </a:r>
            <a:endParaRPr b="0" i="0" sz="1600" u="none" cap="none" strike="noStrike">
              <a:solidFill>
                <a:schemeClr val="dk1"/>
              </a:solidFill>
              <a:latin typeface="Trebuchet MS"/>
              <a:ea typeface="Trebuchet MS"/>
              <a:cs typeface="Trebuchet MS"/>
              <a:sym typeface="Trebuchet MS"/>
            </a:endParaRPr>
          </a:p>
          <a:p>
            <a:pPr indent="0" lvl="0" marL="0" marR="0" rtl="0" algn="l">
              <a:lnSpc>
                <a:spcPct val="100000"/>
              </a:lnSpc>
              <a:spcBef>
                <a:spcPts val="0"/>
              </a:spcBef>
              <a:spcAft>
                <a:spcPts val="0"/>
              </a:spcAft>
              <a:buClr>
                <a:schemeClr val="dk1"/>
              </a:buClr>
              <a:buSzPts val="1600"/>
              <a:buFont typeface="Trebuchet MS"/>
              <a:buNone/>
            </a:pPr>
            <a:r>
              <a:t/>
            </a:r>
            <a:endParaRPr b="0" i="0" sz="1600" u="none" cap="none" strike="noStrike">
              <a:solidFill>
                <a:schemeClr val="dk1"/>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2A1A20"/>
              </a:buClr>
              <a:buSzPts val="1600"/>
              <a:buFont typeface="Arial"/>
              <a:buNone/>
            </a:pPr>
            <a:r>
              <a:rPr b="0" i="0" lang="en-US" sz="1600" u="none" cap="none" strike="noStrike">
                <a:solidFill>
                  <a:srgbClr val="2A1A20"/>
                </a:solidFill>
                <a:latin typeface="Arial"/>
                <a:ea typeface="Arial"/>
                <a:cs typeface="Arial"/>
                <a:sym typeface="Arial"/>
              </a:rPr>
              <a:t>Help the Client put the supports into their own shoes. Ownership starts the moment the supports go into their life.</a:t>
            </a:r>
            <a:endParaRPr b="0" i="0" sz="1600" u="none" cap="none" strike="noStrike">
              <a:solidFill>
                <a:schemeClr val="dk1"/>
              </a:solidFill>
              <a:latin typeface="Trebuchet MS"/>
              <a:ea typeface="Trebuchet MS"/>
              <a:cs typeface="Trebuchet MS"/>
              <a:sym typeface="Trebuchet MS"/>
            </a:endParaRPr>
          </a:p>
        </p:txBody>
      </p:sp>
      <p:sp>
        <p:nvSpPr>
          <p:cNvPr id="397" name="Google Shape;397;p13"/>
          <p:cNvSpPr/>
          <p:nvPr/>
        </p:nvSpPr>
        <p:spPr>
          <a:xfrm>
            <a:off x="502920" y="3566160"/>
            <a:ext cx="5532120" cy="2286000"/>
          </a:xfrm>
          <a:prstGeom prst="roundRect">
            <a:avLst>
              <a:gd fmla="val 4000" name="adj"/>
            </a:avLst>
          </a:prstGeom>
          <a:solidFill>
            <a:srgbClr val="F8FAFC"/>
          </a:solidFill>
          <a:ln>
            <a:noFill/>
          </a:ln>
          <a:effectLst>
            <a:outerShdw blurRad="76200" rotWithShape="0" algn="bl" dir="8100000" dist="25400">
              <a:srgbClr val="000000">
                <a:alpha val="705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p13"/>
          <p:cNvSpPr/>
          <p:nvPr/>
        </p:nvSpPr>
        <p:spPr>
          <a:xfrm>
            <a:off x="777240" y="3794760"/>
            <a:ext cx="498348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3A4F"/>
              </a:buClr>
              <a:buSzPts val="1800"/>
              <a:buFont typeface="Arial"/>
              <a:buNone/>
            </a:pPr>
            <a:r>
              <a:rPr b="1" i="0" lang="en-US" sz="1800" u="none" cap="none" strike="noStrike">
                <a:solidFill>
                  <a:srgbClr val="8B3A4F"/>
                </a:solidFill>
                <a:latin typeface="Arial"/>
                <a:ea typeface="Arial"/>
                <a:cs typeface="Arial"/>
                <a:sym typeface="Arial"/>
              </a:rPr>
              <a:t>Name the Win</a:t>
            </a:r>
            <a:endParaRPr b="0" i="0" sz="1800" u="none" cap="none" strike="noStrike">
              <a:solidFill>
                <a:schemeClr val="dk1"/>
              </a:solidFill>
              <a:latin typeface="Trebuchet MS"/>
              <a:ea typeface="Trebuchet MS"/>
              <a:cs typeface="Trebuchet MS"/>
              <a:sym typeface="Trebuchet MS"/>
            </a:endParaRPr>
          </a:p>
        </p:txBody>
      </p:sp>
      <p:sp>
        <p:nvSpPr>
          <p:cNvPr id="399" name="Google Shape;399;p13"/>
          <p:cNvSpPr/>
          <p:nvPr/>
        </p:nvSpPr>
        <p:spPr>
          <a:xfrm>
            <a:off x="777240" y="4343400"/>
            <a:ext cx="4983480" cy="12801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500"/>
              <a:buFont typeface="Arial"/>
              <a:buNone/>
            </a:pPr>
            <a:r>
              <a:rPr b="0" i="0" lang="en-US" sz="1500" u="none" cap="none" strike="noStrike">
                <a:solidFill>
                  <a:srgbClr val="2A1A20"/>
                </a:solidFill>
                <a:latin typeface="Arial"/>
                <a:ea typeface="Arial"/>
                <a:cs typeface="Arial"/>
                <a:sym typeface="Arial"/>
              </a:rPr>
              <a:t>Join the moment. Say what you see: the posture change, the smile, the “aha.” Then stop talking and let the Client feel it.</a:t>
            </a:r>
            <a:endParaRPr b="0" i="0" sz="1500" u="none" cap="none" strike="noStrike">
              <a:solidFill>
                <a:schemeClr val="dk1"/>
              </a:solidFill>
              <a:latin typeface="Trebuchet MS"/>
              <a:ea typeface="Trebuchet MS"/>
              <a:cs typeface="Trebuchet MS"/>
              <a:sym typeface="Trebuchet MS"/>
            </a:endParaRPr>
          </a:p>
        </p:txBody>
      </p:sp>
      <p:sp>
        <p:nvSpPr>
          <p:cNvPr id="400" name="Google Shape;400;p13"/>
          <p:cNvSpPr/>
          <p:nvPr/>
        </p:nvSpPr>
        <p:spPr>
          <a:xfrm>
            <a:off x="6263640" y="3566160"/>
            <a:ext cx="5532120" cy="2286000"/>
          </a:xfrm>
          <a:prstGeom prst="roundRect">
            <a:avLst>
              <a:gd fmla="val 4000" name="adj"/>
            </a:avLst>
          </a:prstGeom>
          <a:solidFill>
            <a:srgbClr val="F8FAFC"/>
          </a:solidFill>
          <a:ln>
            <a:noFill/>
          </a:ln>
          <a:effectLst>
            <a:outerShdw blurRad="76200" rotWithShape="0" algn="bl" dir="8100000" dist="25400">
              <a:srgbClr val="000000">
                <a:alpha val="705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 name="Google Shape;401;p13"/>
          <p:cNvSpPr/>
          <p:nvPr/>
        </p:nvSpPr>
        <p:spPr>
          <a:xfrm>
            <a:off x="6537960" y="3794760"/>
            <a:ext cx="498348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3A4F"/>
              </a:buClr>
              <a:buSzPts val="1800"/>
              <a:buFont typeface="Arial"/>
              <a:buNone/>
            </a:pPr>
            <a:r>
              <a:rPr b="1" i="0" lang="en-US" sz="1800" u="none" cap="none" strike="noStrike">
                <a:solidFill>
                  <a:srgbClr val="8B3A4F"/>
                </a:solidFill>
                <a:latin typeface="Arial"/>
                <a:ea typeface="Arial"/>
                <a:cs typeface="Arial"/>
                <a:sym typeface="Arial"/>
              </a:rPr>
              <a:t>Create Ownership</a:t>
            </a:r>
            <a:endParaRPr b="0" i="0" sz="1800" u="none" cap="none" strike="noStrike">
              <a:solidFill>
                <a:schemeClr val="dk1"/>
              </a:solidFill>
              <a:latin typeface="Trebuchet MS"/>
              <a:ea typeface="Trebuchet MS"/>
              <a:cs typeface="Trebuchet MS"/>
              <a:sym typeface="Trebuchet MS"/>
            </a:endParaRPr>
          </a:p>
        </p:txBody>
      </p:sp>
      <p:sp>
        <p:nvSpPr>
          <p:cNvPr id="402" name="Google Shape;402;p13"/>
          <p:cNvSpPr/>
          <p:nvPr/>
        </p:nvSpPr>
        <p:spPr>
          <a:xfrm>
            <a:off x="6537960" y="4343400"/>
            <a:ext cx="4983480" cy="12801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500"/>
              <a:buFont typeface="Arial"/>
              <a:buNone/>
            </a:pPr>
            <a:r>
              <a:rPr b="0" i="0" lang="en-US" sz="1500" u="none" cap="none" strike="noStrike">
                <a:solidFill>
                  <a:srgbClr val="2A1A20"/>
                </a:solidFill>
                <a:latin typeface="Arial"/>
                <a:ea typeface="Arial"/>
                <a:cs typeface="Arial"/>
                <a:sym typeface="Arial"/>
              </a:rPr>
              <a:t>Help them put the supports into their own shoes. The moment the supports leave the booth and enter their life, ownership begins.</a:t>
            </a:r>
            <a:endParaRPr b="0" i="0" sz="1500" u="none" cap="none" strike="noStrike">
              <a:solidFill>
                <a:schemeClr val="dk1"/>
              </a:solidFill>
              <a:latin typeface="Trebuchet MS"/>
              <a:ea typeface="Trebuchet MS"/>
              <a:cs typeface="Trebuchet MS"/>
              <a:sym typeface="Trebuchet MS"/>
            </a:endParaRPr>
          </a:p>
        </p:txBody>
      </p:sp>
      <p:pic>
        <p:nvPicPr>
          <p:cNvPr id="403" name="Google Shape;403;p13" title="caprec-2026-07-28-17-27-36.webm">
            <a:hlinkClick r:id="rId3"/>
          </p:cNvPr>
          <p:cNvPicPr preferRelativeResize="0"/>
          <p:nvPr/>
        </p:nvPicPr>
        <p:blipFill>
          <a:blip r:embed="rId4">
            <a:alphaModFix/>
          </a:blip>
          <a:stretch>
            <a:fillRect/>
          </a:stretch>
        </p:blipFill>
        <p:spPr>
          <a:xfrm>
            <a:off x="3810000" y="1714500"/>
            <a:ext cx="9144" cy="9144"/>
          </a:xfrm>
          <a:prstGeom prst="rect">
            <a:avLst/>
          </a:prstGeom>
          <a:noFill/>
          <a:ln>
            <a:noFill/>
          </a:ln>
        </p:spPr>
      </p:pic>
      <p:pic>
        <p:nvPicPr>
          <p:cNvPr id="404" name="Google Shape;404;p13" title="Picture1.png"/>
          <p:cNvPicPr preferRelativeResize="0"/>
          <p:nvPr/>
        </p:nvPicPr>
        <p:blipFill>
          <a:blip r:embed="rId5">
            <a:alphaModFix/>
          </a:blip>
          <a:stretch>
            <a:fillRect/>
          </a:stretch>
        </p:blipFill>
        <p:spPr>
          <a:xfrm>
            <a:off x="11186625" y="5943600"/>
            <a:ext cx="822950" cy="822950"/>
          </a:xfrm>
          <a:prstGeom prst="rect">
            <a:avLst/>
          </a:prstGeom>
          <a:noFill/>
          <a:ln>
            <a:noFill/>
          </a:ln>
        </p:spPr>
      </p:pic>
      <p:pic>
        <p:nvPicPr>
          <p:cNvPr id="405" name="Google Shape;405;p13" title="grok-image-6bee5419-570b-4123-8542-27b02a1104ea.jpg"/>
          <p:cNvPicPr preferRelativeResize="0"/>
          <p:nvPr/>
        </p:nvPicPr>
        <p:blipFill>
          <a:blip r:embed="rId6">
            <a:alphaModFix/>
          </a:blip>
          <a:stretch>
            <a:fillRect/>
          </a:stretch>
        </p:blipFill>
        <p:spPr>
          <a:xfrm>
            <a:off x="77450" y="5943600"/>
            <a:ext cx="1234419" cy="8229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03"/>
                                        </p:tgtEl>
                                        <p:attrNameLst>
                                          <p:attrName>style.visibility</p:attrName>
                                        </p:attrNameLst>
                                      </p:cBhvr>
                                      <p:to>
                                        <p:strVal val="visible"/>
                                      </p:to>
                                    </p:set>
                                    <p:animEffect filter="fade" transition="in">
                                      <p:cBhvr>
                                        <p:cTn dur="1000"/>
                                        <p:tgtEl>
                                          <p:spTgt spid="4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0" name="Shape 410"/>
        <p:cNvGrpSpPr/>
        <p:nvPr/>
      </p:nvGrpSpPr>
      <p:grpSpPr>
        <a:xfrm>
          <a:off x="0" y="0"/>
          <a:ext cx="0" cy="0"/>
          <a:chOff x="0" y="0"/>
          <a:chExt cx="0" cy="0"/>
        </a:xfrm>
      </p:grpSpPr>
      <p:sp>
        <p:nvSpPr>
          <p:cNvPr id="411" name="Google Shape;411;p14"/>
          <p:cNvSpPr/>
          <p:nvPr/>
        </p:nvSpPr>
        <p:spPr>
          <a:xfrm>
            <a:off x="502920" y="256032"/>
            <a:ext cx="1115568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216"/>
              </a:buClr>
              <a:buSzPts val="2600"/>
              <a:buFont typeface="Arial"/>
              <a:buNone/>
            </a:pPr>
            <a:r>
              <a:rPr b="1" i="0" lang="en-US" sz="2600" u="none" cap="none" strike="noStrike">
                <a:solidFill>
                  <a:srgbClr val="1F1216"/>
                </a:solidFill>
                <a:latin typeface="Arial"/>
                <a:ea typeface="Arial"/>
                <a:cs typeface="Arial"/>
                <a:sym typeface="Arial"/>
              </a:rPr>
              <a:t>Backroom Coaching</a:t>
            </a:r>
            <a:endParaRPr b="0" i="0" sz="2600" u="none" cap="none" strike="noStrike">
              <a:solidFill>
                <a:schemeClr val="dk1"/>
              </a:solidFill>
              <a:latin typeface="Trebuchet MS"/>
              <a:ea typeface="Trebuchet MS"/>
              <a:cs typeface="Trebuchet MS"/>
              <a:sym typeface="Trebuchet MS"/>
            </a:endParaRPr>
          </a:p>
        </p:txBody>
      </p:sp>
      <p:cxnSp>
        <p:nvCxnSpPr>
          <p:cNvPr id="412" name="Google Shape;412;p14"/>
          <p:cNvCxnSpPr/>
          <p:nvPr/>
        </p:nvCxnSpPr>
        <p:spPr>
          <a:xfrm>
            <a:off x="502920" y="896112"/>
            <a:ext cx="11155680" cy="0"/>
          </a:xfrm>
          <a:prstGeom prst="straightConnector1">
            <a:avLst/>
          </a:prstGeom>
          <a:noFill/>
          <a:ln cap="flat" cmpd="sng" w="25400">
            <a:solidFill>
              <a:srgbClr val="8B3A4F"/>
            </a:solidFill>
            <a:prstDash val="solid"/>
            <a:round/>
            <a:headEnd len="sm" w="sm" type="none"/>
            <a:tailEnd len="sm" w="sm" type="none"/>
          </a:ln>
        </p:spPr>
      </p:cxnSp>
      <p:sp>
        <p:nvSpPr>
          <p:cNvPr id="413" name="Google Shape;413;p14"/>
          <p:cNvSpPr/>
          <p:nvPr/>
        </p:nvSpPr>
        <p:spPr>
          <a:xfrm>
            <a:off x="5730240" y="6537960"/>
            <a:ext cx="73140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14</a:t>
            </a:r>
            <a:endParaRPr b="1" i="0" sz="1000" u="none" cap="none" strike="noStrike">
              <a:solidFill>
                <a:schemeClr val="dk1"/>
              </a:solidFill>
            </a:endParaRPr>
          </a:p>
        </p:txBody>
      </p:sp>
      <p:sp>
        <p:nvSpPr>
          <p:cNvPr id="414" name="Google Shape;414;p14"/>
          <p:cNvSpPr/>
          <p:nvPr/>
        </p:nvSpPr>
        <p:spPr>
          <a:xfrm>
            <a:off x="502920" y="1097280"/>
            <a:ext cx="1115568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500"/>
              <a:buFont typeface="Arial"/>
              <a:buNone/>
            </a:pPr>
            <a:r>
              <a:rPr b="0" i="0" lang="en-US" sz="1500" u="none" cap="none" strike="noStrike">
                <a:solidFill>
                  <a:srgbClr val="2A1A20"/>
                </a:solidFill>
                <a:latin typeface="Arial"/>
                <a:ea typeface="Arial"/>
                <a:cs typeface="Arial"/>
                <a:sym typeface="Arial"/>
              </a:rPr>
              <a:t>The richest coaching window is often in the middle of a demo — when a Specialist steps into the backroom to pull product or ask for help.</a:t>
            </a:r>
            <a:endParaRPr b="0" i="0" sz="1500" u="none" cap="none" strike="noStrike">
              <a:solidFill>
                <a:schemeClr val="dk1"/>
              </a:solidFill>
              <a:latin typeface="Trebuchet MS"/>
              <a:ea typeface="Trebuchet MS"/>
              <a:cs typeface="Trebuchet MS"/>
              <a:sym typeface="Trebuchet MS"/>
            </a:endParaRPr>
          </a:p>
        </p:txBody>
      </p:sp>
      <p:sp>
        <p:nvSpPr>
          <p:cNvPr id="415" name="Google Shape;415;p14"/>
          <p:cNvSpPr/>
          <p:nvPr/>
        </p:nvSpPr>
        <p:spPr>
          <a:xfrm>
            <a:off x="502920" y="1737360"/>
            <a:ext cx="3611880" cy="4114800"/>
          </a:xfrm>
          <a:prstGeom prst="roundRect">
            <a:avLst>
              <a:gd fmla="val 2532" name="adj"/>
            </a:avLst>
          </a:prstGeom>
          <a:solidFill>
            <a:srgbClr val="F8FAFC"/>
          </a:solidFill>
          <a:ln>
            <a:noFill/>
          </a:ln>
          <a:effectLst>
            <a:outerShdw blurRad="76200" rotWithShape="0" algn="bl" dir="8100000" dist="25400">
              <a:srgbClr val="000000">
                <a:alpha val="705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p14"/>
          <p:cNvSpPr/>
          <p:nvPr/>
        </p:nvSpPr>
        <p:spPr>
          <a:xfrm>
            <a:off x="502920" y="1737360"/>
            <a:ext cx="3611880" cy="548640"/>
          </a:xfrm>
          <a:prstGeom prst="rect">
            <a:avLst/>
          </a:prstGeom>
          <a:solidFill>
            <a:srgbClr val="8B3A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p14"/>
          <p:cNvSpPr/>
          <p:nvPr/>
        </p:nvSpPr>
        <p:spPr>
          <a:xfrm>
            <a:off x="685800" y="1828800"/>
            <a:ext cx="32461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Before they go back out</a:t>
            </a:r>
            <a:endParaRPr b="0" i="0" sz="1400" u="none" cap="none" strike="noStrike">
              <a:solidFill>
                <a:schemeClr val="dk1"/>
              </a:solidFill>
              <a:latin typeface="Trebuchet MS"/>
              <a:ea typeface="Trebuchet MS"/>
              <a:cs typeface="Trebuchet MS"/>
              <a:sym typeface="Trebuchet MS"/>
            </a:endParaRPr>
          </a:p>
        </p:txBody>
      </p:sp>
      <p:sp>
        <p:nvSpPr>
          <p:cNvPr id="418" name="Google Shape;418;p14"/>
          <p:cNvSpPr/>
          <p:nvPr/>
        </p:nvSpPr>
        <p:spPr>
          <a:xfrm>
            <a:off x="731520" y="2560320"/>
            <a:ext cx="315468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300"/>
              <a:buFont typeface="Arial"/>
              <a:buNone/>
            </a:pPr>
            <a:r>
              <a:rPr b="0" i="0" lang="en-US" sz="1300" u="none" cap="none" strike="noStrike">
                <a:solidFill>
                  <a:srgbClr val="2A1A20"/>
                </a:solidFill>
                <a:latin typeface="Arial"/>
                <a:ea typeface="Arial"/>
                <a:cs typeface="Arial"/>
                <a:sym typeface="Arial"/>
              </a:rPr>
              <a:t>▸  Coach the plan with sharp questions matched to the Client type.</a:t>
            </a:r>
            <a:endParaRPr b="0" i="0" sz="1300" u="none" cap="none" strike="noStrike">
              <a:solidFill>
                <a:schemeClr val="dk1"/>
              </a:solidFill>
              <a:latin typeface="Trebuchet MS"/>
              <a:ea typeface="Trebuchet MS"/>
              <a:cs typeface="Trebuchet MS"/>
              <a:sym typeface="Trebuchet MS"/>
            </a:endParaRPr>
          </a:p>
        </p:txBody>
      </p:sp>
      <p:sp>
        <p:nvSpPr>
          <p:cNvPr id="419" name="Google Shape;419;p14"/>
          <p:cNvSpPr/>
          <p:nvPr/>
        </p:nvSpPr>
        <p:spPr>
          <a:xfrm>
            <a:off x="731520" y="3474720"/>
            <a:ext cx="315468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300"/>
              <a:buFont typeface="Arial"/>
              <a:buNone/>
            </a:pPr>
            <a:r>
              <a:rPr b="0" i="0" lang="en-US" sz="1300" u="none" cap="none" strike="noStrike">
                <a:solidFill>
                  <a:srgbClr val="2A1A20"/>
                </a:solidFill>
                <a:latin typeface="Arial"/>
                <a:ea typeface="Arial"/>
                <a:cs typeface="Arial"/>
                <a:sym typeface="Arial"/>
              </a:rPr>
              <a:t>▸  Read the Specialist’s energy first — too nervous, too hyper, or too low?</a:t>
            </a:r>
            <a:endParaRPr b="0" i="0" sz="1300" u="none" cap="none" strike="noStrike">
              <a:solidFill>
                <a:schemeClr val="dk1"/>
              </a:solidFill>
              <a:latin typeface="Trebuchet MS"/>
              <a:ea typeface="Trebuchet MS"/>
              <a:cs typeface="Trebuchet MS"/>
              <a:sym typeface="Trebuchet MS"/>
            </a:endParaRPr>
          </a:p>
        </p:txBody>
      </p:sp>
      <p:sp>
        <p:nvSpPr>
          <p:cNvPr id="420" name="Google Shape;420;p14"/>
          <p:cNvSpPr/>
          <p:nvPr/>
        </p:nvSpPr>
        <p:spPr>
          <a:xfrm>
            <a:off x="731520" y="4389120"/>
            <a:ext cx="315468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300"/>
              <a:buFont typeface="Arial"/>
              <a:buNone/>
            </a:pPr>
            <a:r>
              <a:rPr b="0" i="0" lang="en-US" sz="1300" u="none" cap="none" strike="noStrike">
                <a:solidFill>
                  <a:srgbClr val="2A1A20"/>
                </a:solidFill>
                <a:latin typeface="Arial"/>
                <a:ea typeface="Arial"/>
                <a:cs typeface="Arial"/>
                <a:sym typeface="Arial"/>
              </a:rPr>
              <a:t>▸  Steady them: “Breathe. Relax. Have fun. Talk to them like a human.”</a:t>
            </a:r>
            <a:endParaRPr b="0" i="0" sz="1300" u="none" cap="none" strike="noStrike">
              <a:solidFill>
                <a:schemeClr val="dk1"/>
              </a:solidFill>
              <a:latin typeface="Trebuchet MS"/>
              <a:ea typeface="Trebuchet MS"/>
              <a:cs typeface="Trebuchet MS"/>
              <a:sym typeface="Trebuchet MS"/>
            </a:endParaRPr>
          </a:p>
        </p:txBody>
      </p:sp>
      <p:sp>
        <p:nvSpPr>
          <p:cNvPr id="421" name="Google Shape;421;p14"/>
          <p:cNvSpPr/>
          <p:nvPr/>
        </p:nvSpPr>
        <p:spPr>
          <a:xfrm>
            <a:off x="4297680" y="1737360"/>
            <a:ext cx="3611880" cy="4114800"/>
          </a:xfrm>
          <a:prstGeom prst="roundRect">
            <a:avLst>
              <a:gd fmla="val 2532" name="adj"/>
            </a:avLst>
          </a:prstGeom>
          <a:solidFill>
            <a:srgbClr val="F8FAFC"/>
          </a:solidFill>
          <a:ln>
            <a:noFill/>
          </a:ln>
          <a:effectLst>
            <a:outerShdw blurRad="76200" rotWithShape="0" algn="bl" dir="8100000" dist="25400">
              <a:srgbClr val="000000">
                <a:alpha val="705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14"/>
          <p:cNvSpPr/>
          <p:nvPr/>
        </p:nvSpPr>
        <p:spPr>
          <a:xfrm>
            <a:off x="4297680" y="1737360"/>
            <a:ext cx="3611880" cy="548640"/>
          </a:xfrm>
          <a:prstGeom prst="rect">
            <a:avLst/>
          </a:prstGeom>
          <a:solidFill>
            <a:srgbClr val="8B3A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14"/>
          <p:cNvSpPr/>
          <p:nvPr/>
        </p:nvSpPr>
        <p:spPr>
          <a:xfrm>
            <a:off x="4480560" y="1828800"/>
            <a:ext cx="32461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While they are out</a:t>
            </a:r>
            <a:endParaRPr b="0" i="0" sz="1400" u="none" cap="none" strike="noStrike">
              <a:solidFill>
                <a:schemeClr val="dk1"/>
              </a:solidFill>
              <a:latin typeface="Trebuchet MS"/>
              <a:ea typeface="Trebuchet MS"/>
              <a:cs typeface="Trebuchet MS"/>
              <a:sym typeface="Trebuchet MS"/>
            </a:endParaRPr>
          </a:p>
        </p:txBody>
      </p:sp>
      <p:sp>
        <p:nvSpPr>
          <p:cNvPr id="424" name="Google Shape;424;p14"/>
          <p:cNvSpPr/>
          <p:nvPr/>
        </p:nvSpPr>
        <p:spPr>
          <a:xfrm>
            <a:off x="4526280" y="2560320"/>
            <a:ext cx="315468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300"/>
              <a:buFont typeface="Arial"/>
              <a:buNone/>
            </a:pPr>
            <a:r>
              <a:rPr b="0" i="0" lang="en-US" sz="1300" u="none" cap="none" strike="noStrike">
                <a:solidFill>
                  <a:srgbClr val="2A1A20"/>
                </a:solidFill>
                <a:latin typeface="Arial"/>
                <a:ea typeface="Arial"/>
                <a:cs typeface="Arial"/>
                <a:sym typeface="Arial"/>
              </a:rPr>
              <a:t>▸  Assist with pulling product to protect demo flow.</a:t>
            </a:r>
            <a:endParaRPr b="0" i="0" sz="1300" u="none" cap="none" strike="noStrike">
              <a:solidFill>
                <a:schemeClr val="dk1"/>
              </a:solidFill>
              <a:latin typeface="Trebuchet MS"/>
              <a:ea typeface="Trebuchet MS"/>
              <a:cs typeface="Trebuchet MS"/>
              <a:sym typeface="Trebuchet MS"/>
            </a:endParaRPr>
          </a:p>
        </p:txBody>
      </p:sp>
      <p:sp>
        <p:nvSpPr>
          <p:cNvPr id="425" name="Google Shape;425;p14"/>
          <p:cNvSpPr/>
          <p:nvPr/>
        </p:nvSpPr>
        <p:spPr>
          <a:xfrm>
            <a:off x="4526280" y="3474720"/>
            <a:ext cx="315468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300"/>
              <a:buFont typeface="Arial"/>
              <a:buNone/>
            </a:pPr>
            <a:r>
              <a:rPr b="0" i="0" lang="en-US" sz="1300" u="none" cap="none" strike="noStrike">
                <a:solidFill>
                  <a:srgbClr val="2A1A20"/>
                </a:solidFill>
                <a:latin typeface="Arial"/>
                <a:ea typeface="Arial"/>
                <a:cs typeface="Arial"/>
                <a:sym typeface="Arial"/>
              </a:rPr>
              <a:t>▸  Cover a quick personal need when the store is busy.</a:t>
            </a:r>
            <a:endParaRPr b="0" i="0" sz="1300" u="none" cap="none" strike="noStrike">
              <a:solidFill>
                <a:schemeClr val="dk1"/>
              </a:solidFill>
              <a:latin typeface="Trebuchet MS"/>
              <a:ea typeface="Trebuchet MS"/>
              <a:cs typeface="Trebuchet MS"/>
              <a:sym typeface="Trebuchet MS"/>
            </a:endParaRPr>
          </a:p>
        </p:txBody>
      </p:sp>
      <p:sp>
        <p:nvSpPr>
          <p:cNvPr id="426" name="Google Shape;426;p14"/>
          <p:cNvSpPr/>
          <p:nvPr/>
        </p:nvSpPr>
        <p:spPr>
          <a:xfrm>
            <a:off x="4526280" y="4389120"/>
            <a:ext cx="315468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300"/>
              <a:buFont typeface="Arial"/>
              <a:buNone/>
            </a:pPr>
            <a:r>
              <a:rPr b="0" i="0" lang="en-US" sz="1300" u="none" cap="none" strike="noStrike">
                <a:solidFill>
                  <a:srgbClr val="2A1A20"/>
                </a:solidFill>
                <a:latin typeface="Arial"/>
                <a:ea typeface="Arial"/>
                <a:cs typeface="Arial"/>
                <a:sym typeface="Arial"/>
              </a:rPr>
              <a:t>▸  Stay available — encourage, but never demand, that they come to you.</a:t>
            </a:r>
            <a:endParaRPr b="0" i="0" sz="1300" u="none" cap="none" strike="noStrike">
              <a:solidFill>
                <a:schemeClr val="dk1"/>
              </a:solidFill>
              <a:latin typeface="Trebuchet MS"/>
              <a:ea typeface="Trebuchet MS"/>
              <a:cs typeface="Trebuchet MS"/>
              <a:sym typeface="Trebuchet MS"/>
            </a:endParaRPr>
          </a:p>
        </p:txBody>
      </p:sp>
      <p:sp>
        <p:nvSpPr>
          <p:cNvPr id="427" name="Google Shape;427;p14"/>
          <p:cNvSpPr/>
          <p:nvPr/>
        </p:nvSpPr>
        <p:spPr>
          <a:xfrm>
            <a:off x="8092440" y="1737360"/>
            <a:ext cx="3611880" cy="4114800"/>
          </a:xfrm>
          <a:prstGeom prst="roundRect">
            <a:avLst>
              <a:gd fmla="val 2532" name="adj"/>
            </a:avLst>
          </a:prstGeom>
          <a:solidFill>
            <a:srgbClr val="F8FAFC"/>
          </a:solidFill>
          <a:ln>
            <a:noFill/>
          </a:ln>
          <a:effectLst>
            <a:outerShdw blurRad="76200" rotWithShape="0" algn="bl" dir="8100000" dist="25400">
              <a:srgbClr val="000000">
                <a:alpha val="705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p14"/>
          <p:cNvSpPr/>
          <p:nvPr/>
        </p:nvSpPr>
        <p:spPr>
          <a:xfrm>
            <a:off x="8092440" y="1737360"/>
            <a:ext cx="3611880" cy="548640"/>
          </a:xfrm>
          <a:prstGeom prst="rect">
            <a:avLst/>
          </a:prstGeom>
          <a:solidFill>
            <a:srgbClr val="8B3A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14"/>
          <p:cNvSpPr/>
          <p:nvPr/>
        </p:nvSpPr>
        <p:spPr>
          <a:xfrm>
            <a:off x="8275320" y="1828800"/>
            <a:ext cx="32461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After the demo</a:t>
            </a:r>
            <a:endParaRPr b="0" i="0" sz="1400" u="none" cap="none" strike="noStrike">
              <a:solidFill>
                <a:schemeClr val="dk1"/>
              </a:solidFill>
              <a:latin typeface="Trebuchet MS"/>
              <a:ea typeface="Trebuchet MS"/>
              <a:cs typeface="Trebuchet MS"/>
              <a:sym typeface="Trebuchet MS"/>
            </a:endParaRPr>
          </a:p>
        </p:txBody>
      </p:sp>
      <p:sp>
        <p:nvSpPr>
          <p:cNvPr id="430" name="Google Shape;430;p14"/>
          <p:cNvSpPr/>
          <p:nvPr/>
        </p:nvSpPr>
        <p:spPr>
          <a:xfrm>
            <a:off x="8321040" y="2560320"/>
            <a:ext cx="315468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300"/>
              <a:buFont typeface="Arial"/>
              <a:buNone/>
            </a:pPr>
            <a:r>
              <a:rPr b="0" i="0" lang="en-US" sz="1300" u="none" cap="none" strike="noStrike">
                <a:solidFill>
                  <a:srgbClr val="2A1A20"/>
                </a:solidFill>
                <a:latin typeface="Arial"/>
                <a:ea typeface="Arial"/>
                <a:cs typeface="Arial"/>
                <a:sym typeface="Arial"/>
              </a:rPr>
              <a:t>▸  Debrief while it’s still fresh.</a:t>
            </a:r>
            <a:endParaRPr b="0" i="0" sz="1300" u="none" cap="none" strike="noStrike">
              <a:solidFill>
                <a:schemeClr val="dk1"/>
              </a:solidFill>
              <a:latin typeface="Trebuchet MS"/>
              <a:ea typeface="Trebuchet MS"/>
              <a:cs typeface="Trebuchet MS"/>
              <a:sym typeface="Trebuchet MS"/>
            </a:endParaRPr>
          </a:p>
        </p:txBody>
      </p:sp>
      <p:sp>
        <p:nvSpPr>
          <p:cNvPr id="431" name="Google Shape;431;p14"/>
          <p:cNvSpPr/>
          <p:nvPr/>
        </p:nvSpPr>
        <p:spPr>
          <a:xfrm>
            <a:off x="8321040" y="3474720"/>
            <a:ext cx="315468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300"/>
              <a:buFont typeface="Arial"/>
              <a:buNone/>
            </a:pPr>
            <a:r>
              <a:rPr b="0" i="0" lang="en-US" sz="1300" u="none" cap="none" strike="noStrike">
                <a:solidFill>
                  <a:srgbClr val="2A1A20"/>
                </a:solidFill>
                <a:latin typeface="Arial"/>
                <a:ea typeface="Arial"/>
                <a:cs typeface="Arial"/>
                <a:sym typeface="Arial"/>
              </a:rPr>
              <a:t>▸  Lead with wins, keep it specific.</a:t>
            </a:r>
            <a:endParaRPr b="0" i="0" sz="1300" u="none" cap="none" strike="noStrike">
              <a:solidFill>
                <a:schemeClr val="dk1"/>
              </a:solidFill>
              <a:latin typeface="Trebuchet MS"/>
              <a:ea typeface="Trebuchet MS"/>
              <a:cs typeface="Trebuchet MS"/>
              <a:sym typeface="Trebuchet MS"/>
            </a:endParaRPr>
          </a:p>
        </p:txBody>
      </p:sp>
      <p:sp>
        <p:nvSpPr>
          <p:cNvPr id="432" name="Google Shape;432;p14"/>
          <p:cNvSpPr/>
          <p:nvPr/>
        </p:nvSpPr>
        <p:spPr>
          <a:xfrm>
            <a:off x="8321040" y="4389120"/>
            <a:ext cx="315468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300"/>
              <a:buFont typeface="Arial"/>
              <a:buNone/>
            </a:pPr>
            <a:r>
              <a:rPr b="0" i="0" lang="en-US" sz="1300" u="none" cap="none" strike="noStrike">
                <a:solidFill>
                  <a:srgbClr val="2A1A20"/>
                </a:solidFill>
                <a:latin typeface="Arial"/>
                <a:ea typeface="Arial"/>
                <a:cs typeface="Arial"/>
                <a:sym typeface="Arial"/>
              </a:rPr>
              <a:t>▸  Add a quick role-play when it helps.</a:t>
            </a:r>
            <a:endParaRPr b="0" i="0" sz="1300" u="none" cap="none" strike="noStrike">
              <a:solidFill>
                <a:schemeClr val="dk1"/>
              </a:solidFill>
              <a:latin typeface="Trebuchet MS"/>
              <a:ea typeface="Trebuchet MS"/>
              <a:cs typeface="Trebuchet MS"/>
              <a:sym typeface="Trebuchet MS"/>
            </a:endParaRPr>
          </a:p>
        </p:txBody>
      </p:sp>
      <p:pic>
        <p:nvPicPr>
          <p:cNvPr id="433" name="Google Shape;433;p14" title="caprec-2026-07-28-17-29-08.webm">
            <a:hlinkClick r:id="rId3"/>
          </p:cNvPr>
          <p:cNvPicPr preferRelativeResize="0"/>
          <p:nvPr/>
        </p:nvPicPr>
        <p:blipFill>
          <a:blip r:embed="rId4">
            <a:alphaModFix/>
          </a:blip>
          <a:stretch>
            <a:fillRect/>
          </a:stretch>
        </p:blipFill>
        <p:spPr>
          <a:xfrm>
            <a:off x="3810000" y="1714500"/>
            <a:ext cx="91440" cy="91440"/>
          </a:xfrm>
          <a:prstGeom prst="rect">
            <a:avLst/>
          </a:prstGeom>
          <a:noFill/>
          <a:ln>
            <a:noFill/>
          </a:ln>
        </p:spPr>
      </p:pic>
      <p:pic>
        <p:nvPicPr>
          <p:cNvPr id="434" name="Google Shape;434;p14" title="Picture1.png"/>
          <p:cNvPicPr preferRelativeResize="0"/>
          <p:nvPr/>
        </p:nvPicPr>
        <p:blipFill>
          <a:blip r:embed="rId5">
            <a:alphaModFix/>
          </a:blip>
          <a:stretch>
            <a:fillRect/>
          </a:stretch>
        </p:blipFill>
        <p:spPr>
          <a:xfrm>
            <a:off x="11186625" y="5943600"/>
            <a:ext cx="822950" cy="822950"/>
          </a:xfrm>
          <a:prstGeom prst="rect">
            <a:avLst/>
          </a:prstGeom>
          <a:noFill/>
          <a:ln>
            <a:noFill/>
          </a:ln>
        </p:spPr>
      </p:pic>
      <p:pic>
        <p:nvPicPr>
          <p:cNvPr id="435" name="Google Shape;435;p14" title="grok-image-6bee5419-570b-4123-8542-27b02a1104ea.jpg"/>
          <p:cNvPicPr preferRelativeResize="0"/>
          <p:nvPr/>
        </p:nvPicPr>
        <p:blipFill>
          <a:blip r:embed="rId6">
            <a:alphaModFix/>
          </a:blip>
          <a:stretch>
            <a:fillRect/>
          </a:stretch>
        </p:blipFill>
        <p:spPr>
          <a:xfrm>
            <a:off x="77450" y="5943600"/>
            <a:ext cx="1234419" cy="8229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33"/>
                                        </p:tgtEl>
                                        <p:attrNameLst>
                                          <p:attrName>style.visibility</p:attrName>
                                        </p:attrNameLst>
                                      </p:cBhvr>
                                      <p:to>
                                        <p:strVal val="visible"/>
                                      </p:to>
                                    </p:set>
                                    <p:animEffect filter="fade" transition="in">
                                      <p:cBhvr>
                                        <p:cTn dur="1000"/>
                                        <p:tgtEl>
                                          <p:spTgt spid="4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0" name="Shape 440"/>
        <p:cNvGrpSpPr/>
        <p:nvPr/>
      </p:nvGrpSpPr>
      <p:grpSpPr>
        <a:xfrm>
          <a:off x="0" y="0"/>
          <a:ext cx="0" cy="0"/>
          <a:chOff x="0" y="0"/>
          <a:chExt cx="0" cy="0"/>
        </a:xfrm>
      </p:grpSpPr>
      <p:sp>
        <p:nvSpPr>
          <p:cNvPr id="441" name="Google Shape;441;p15"/>
          <p:cNvSpPr/>
          <p:nvPr/>
        </p:nvSpPr>
        <p:spPr>
          <a:xfrm>
            <a:off x="502920" y="256032"/>
            <a:ext cx="1115568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216"/>
              </a:buClr>
              <a:buSzPts val="2600"/>
              <a:buFont typeface="Arial"/>
              <a:buNone/>
            </a:pPr>
            <a:r>
              <a:rPr b="1" i="0" lang="en-US" sz="2600" u="none" cap="none" strike="noStrike">
                <a:solidFill>
                  <a:srgbClr val="1F1216"/>
                </a:solidFill>
                <a:latin typeface="Arial"/>
                <a:ea typeface="Arial"/>
                <a:cs typeface="Arial"/>
                <a:sym typeface="Arial"/>
              </a:rPr>
              <a:t>Coach the Plan — Key Questions</a:t>
            </a:r>
            <a:endParaRPr b="0" i="0" sz="2600" u="none" cap="none" strike="noStrike">
              <a:solidFill>
                <a:schemeClr val="dk1"/>
              </a:solidFill>
              <a:latin typeface="Trebuchet MS"/>
              <a:ea typeface="Trebuchet MS"/>
              <a:cs typeface="Trebuchet MS"/>
              <a:sym typeface="Trebuchet MS"/>
            </a:endParaRPr>
          </a:p>
        </p:txBody>
      </p:sp>
      <p:cxnSp>
        <p:nvCxnSpPr>
          <p:cNvPr id="442" name="Google Shape;442;p15"/>
          <p:cNvCxnSpPr/>
          <p:nvPr/>
        </p:nvCxnSpPr>
        <p:spPr>
          <a:xfrm>
            <a:off x="502920" y="896112"/>
            <a:ext cx="11155680" cy="0"/>
          </a:xfrm>
          <a:prstGeom prst="straightConnector1">
            <a:avLst/>
          </a:prstGeom>
          <a:noFill/>
          <a:ln cap="flat" cmpd="sng" w="25400">
            <a:solidFill>
              <a:srgbClr val="8B3A4F"/>
            </a:solidFill>
            <a:prstDash val="solid"/>
            <a:round/>
            <a:headEnd len="sm" w="sm" type="none"/>
            <a:tailEnd len="sm" w="sm" type="none"/>
          </a:ln>
        </p:spPr>
      </p:cxnSp>
      <p:sp>
        <p:nvSpPr>
          <p:cNvPr id="443" name="Google Shape;443;p15"/>
          <p:cNvSpPr/>
          <p:nvPr/>
        </p:nvSpPr>
        <p:spPr>
          <a:xfrm>
            <a:off x="5730240" y="6537960"/>
            <a:ext cx="73140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15</a:t>
            </a:r>
            <a:endParaRPr b="0" i="0" sz="1000" u="none" cap="none" strike="noStrike">
              <a:solidFill>
                <a:schemeClr val="dk1"/>
              </a:solidFill>
              <a:latin typeface="Trebuchet MS"/>
              <a:ea typeface="Trebuchet MS"/>
              <a:cs typeface="Trebuchet MS"/>
              <a:sym typeface="Trebuchet MS"/>
            </a:endParaRPr>
          </a:p>
        </p:txBody>
      </p:sp>
      <p:sp>
        <p:nvSpPr>
          <p:cNvPr id="444" name="Google Shape;444;p15"/>
          <p:cNvSpPr/>
          <p:nvPr/>
        </p:nvSpPr>
        <p:spPr>
          <a:xfrm>
            <a:off x="502920" y="1143000"/>
            <a:ext cx="3611880" cy="4937760"/>
          </a:xfrm>
          <a:prstGeom prst="roundRect">
            <a:avLst>
              <a:gd fmla="val 2532" name="adj"/>
            </a:avLst>
          </a:prstGeom>
          <a:solidFill>
            <a:srgbClr val="F8FAFC"/>
          </a:solidFill>
          <a:ln>
            <a:noFill/>
          </a:ln>
          <a:effectLst>
            <a:outerShdw blurRad="76200" rotWithShape="0" algn="bl" dir="8100000" dist="25400">
              <a:srgbClr val="000000">
                <a:alpha val="705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 name="Google Shape;445;p15"/>
          <p:cNvSpPr/>
          <p:nvPr/>
        </p:nvSpPr>
        <p:spPr>
          <a:xfrm>
            <a:off x="502920" y="1143000"/>
            <a:ext cx="3611880" cy="548640"/>
          </a:xfrm>
          <a:prstGeom prst="rect">
            <a:avLst/>
          </a:prstGeom>
          <a:solidFill>
            <a:srgbClr val="8B3A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p15"/>
          <p:cNvSpPr/>
          <p:nvPr/>
        </p:nvSpPr>
        <p:spPr>
          <a:xfrm>
            <a:off x="685800" y="1234440"/>
            <a:ext cx="32461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New Client</a:t>
            </a:r>
            <a:endParaRPr b="0" i="0" sz="1500" u="none" cap="none" strike="noStrike">
              <a:solidFill>
                <a:schemeClr val="dk1"/>
              </a:solidFill>
              <a:latin typeface="Trebuchet MS"/>
              <a:ea typeface="Trebuchet MS"/>
              <a:cs typeface="Trebuchet MS"/>
              <a:sym typeface="Trebuchet MS"/>
            </a:endParaRPr>
          </a:p>
        </p:txBody>
      </p:sp>
      <p:sp>
        <p:nvSpPr>
          <p:cNvPr id="447" name="Google Shape;447;p15"/>
          <p:cNvSpPr/>
          <p:nvPr/>
        </p:nvSpPr>
        <p:spPr>
          <a:xfrm>
            <a:off x="731520" y="1965960"/>
            <a:ext cx="315468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300"/>
              <a:buFont typeface="Arial"/>
              <a:buNone/>
            </a:pPr>
            <a:r>
              <a:rPr b="0" i="0" lang="en-US" sz="1300" u="none" cap="none" strike="noStrike">
                <a:solidFill>
                  <a:srgbClr val="2A1A20"/>
                </a:solidFill>
                <a:latin typeface="Arial"/>
                <a:ea typeface="Arial"/>
                <a:cs typeface="Arial"/>
                <a:sym typeface="Arial"/>
              </a:rPr>
              <a:t>1.  What brought them in today?</a:t>
            </a:r>
            <a:endParaRPr b="0" i="0" sz="1300" u="none" cap="none" strike="noStrike">
              <a:solidFill>
                <a:schemeClr val="dk1"/>
              </a:solidFill>
              <a:latin typeface="Trebuchet MS"/>
              <a:ea typeface="Trebuchet MS"/>
              <a:cs typeface="Trebuchet MS"/>
              <a:sym typeface="Trebuchet MS"/>
            </a:endParaRPr>
          </a:p>
        </p:txBody>
      </p:sp>
      <p:sp>
        <p:nvSpPr>
          <p:cNvPr id="448" name="Google Shape;448;p15"/>
          <p:cNvSpPr/>
          <p:nvPr/>
        </p:nvSpPr>
        <p:spPr>
          <a:xfrm>
            <a:off x="731520" y="2880360"/>
            <a:ext cx="315468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300"/>
              <a:buFont typeface="Arial"/>
              <a:buNone/>
            </a:pPr>
            <a:r>
              <a:rPr b="0" i="0" lang="en-US" sz="1300" u="none" cap="none" strike="noStrike">
                <a:solidFill>
                  <a:srgbClr val="2A1A20"/>
                </a:solidFill>
                <a:latin typeface="Arial"/>
                <a:ea typeface="Arial"/>
                <a:cs typeface="Arial"/>
                <a:sym typeface="Arial"/>
              </a:rPr>
              <a:t>2.  Are they in pain today, and at what level?</a:t>
            </a:r>
            <a:endParaRPr b="0" i="0" sz="1300" u="none" cap="none" strike="noStrike">
              <a:solidFill>
                <a:schemeClr val="dk1"/>
              </a:solidFill>
              <a:latin typeface="Trebuchet MS"/>
              <a:ea typeface="Trebuchet MS"/>
              <a:cs typeface="Trebuchet MS"/>
              <a:sym typeface="Trebuchet MS"/>
            </a:endParaRPr>
          </a:p>
        </p:txBody>
      </p:sp>
      <p:sp>
        <p:nvSpPr>
          <p:cNvPr id="449" name="Google Shape;449;p15"/>
          <p:cNvSpPr/>
          <p:nvPr/>
        </p:nvSpPr>
        <p:spPr>
          <a:xfrm>
            <a:off x="731520" y="3794760"/>
            <a:ext cx="315468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300"/>
              <a:buFont typeface="Arial"/>
              <a:buNone/>
            </a:pPr>
            <a:r>
              <a:rPr b="0" i="0" lang="en-US" sz="1300" u="none" cap="none" strike="noStrike">
                <a:solidFill>
                  <a:srgbClr val="2A1A20"/>
                </a:solidFill>
                <a:latin typeface="Arial"/>
                <a:ea typeface="Arial"/>
                <a:cs typeface="Arial"/>
                <a:sym typeface="Arial"/>
              </a:rPr>
              <a:t>3.  What do they do now and what do they want to get back to?</a:t>
            </a:r>
            <a:endParaRPr b="0" i="0" sz="1300" u="none" cap="none" strike="noStrike">
              <a:solidFill>
                <a:schemeClr val="dk1"/>
              </a:solidFill>
              <a:latin typeface="Trebuchet MS"/>
              <a:ea typeface="Trebuchet MS"/>
              <a:cs typeface="Trebuchet MS"/>
              <a:sym typeface="Trebuchet MS"/>
            </a:endParaRPr>
          </a:p>
        </p:txBody>
      </p:sp>
      <p:sp>
        <p:nvSpPr>
          <p:cNvPr id="450" name="Google Shape;450;p15"/>
          <p:cNvSpPr/>
          <p:nvPr/>
        </p:nvSpPr>
        <p:spPr>
          <a:xfrm>
            <a:off x="731520" y="4709160"/>
            <a:ext cx="315468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300"/>
              <a:buFont typeface="Arial"/>
              <a:buNone/>
            </a:pPr>
            <a:r>
              <a:rPr b="0" i="0" lang="en-US" sz="1300" u="none" cap="none" strike="noStrike">
                <a:solidFill>
                  <a:srgbClr val="2A1A20"/>
                </a:solidFill>
                <a:latin typeface="Arial"/>
                <a:ea typeface="Arial"/>
                <a:cs typeface="Arial"/>
                <a:sym typeface="Arial"/>
              </a:rPr>
              <a:t>4.  Which supports make the best system, and how will you present each one?</a:t>
            </a:r>
            <a:endParaRPr b="0" i="0" sz="1300" u="none" cap="none" strike="noStrike">
              <a:solidFill>
                <a:schemeClr val="dk1"/>
              </a:solidFill>
              <a:latin typeface="Trebuchet MS"/>
              <a:ea typeface="Trebuchet MS"/>
              <a:cs typeface="Trebuchet MS"/>
              <a:sym typeface="Trebuchet MS"/>
            </a:endParaRPr>
          </a:p>
        </p:txBody>
      </p:sp>
      <p:sp>
        <p:nvSpPr>
          <p:cNvPr id="451" name="Google Shape;451;p15"/>
          <p:cNvSpPr/>
          <p:nvPr/>
        </p:nvSpPr>
        <p:spPr>
          <a:xfrm>
            <a:off x="4297680" y="1143000"/>
            <a:ext cx="3611880" cy="4937760"/>
          </a:xfrm>
          <a:prstGeom prst="roundRect">
            <a:avLst>
              <a:gd fmla="val 2532" name="adj"/>
            </a:avLst>
          </a:prstGeom>
          <a:solidFill>
            <a:srgbClr val="F8FAFC"/>
          </a:solidFill>
          <a:ln>
            <a:noFill/>
          </a:ln>
          <a:effectLst>
            <a:outerShdw blurRad="76200" rotWithShape="0" algn="bl" dir="8100000" dist="25400">
              <a:srgbClr val="000000">
                <a:alpha val="705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15"/>
          <p:cNvSpPr/>
          <p:nvPr/>
        </p:nvSpPr>
        <p:spPr>
          <a:xfrm>
            <a:off x="4297680" y="1143000"/>
            <a:ext cx="3611880" cy="548640"/>
          </a:xfrm>
          <a:prstGeom prst="rect">
            <a:avLst/>
          </a:prstGeom>
          <a:solidFill>
            <a:srgbClr val="A64D6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p15"/>
          <p:cNvSpPr/>
          <p:nvPr/>
        </p:nvSpPr>
        <p:spPr>
          <a:xfrm>
            <a:off x="4480560" y="1234440"/>
            <a:ext cx="32461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Return with an Issue</a:t>
            </a:r>
            <a:endParaRPr b="0" i="0" sz="1500" u="none" cap="none" strike="noStrike">
              <a:solidFill>
                <a:schemeClr val="dk1"/>
              </a:solidFill>
              <a:latin typeface="Trebuchet MS"/>
              <a:ea typeface="Trebuchet MS"/>
              <a:cs typeface="Trebuchet MS"/>
              <a:sym typeface="Trebuchet MS"/>
            </a:endParaRPr>
          </a:p>
        </p:txBody>
      </p:sp>
      <p:sp>
        <p:nvSpPr>
          <p:cNvPr id="454" name="Google Shape;454;p15"/>
          <p:cNvSpPr/>
          <p:nvPr/>
        </p:nvSpPr>
        <p:spPr>
          <a:xfrm>
            <a:off x="4526280" y="1965960"/>
            <a:ext cx="315468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300"/>
              <a:buFont typeface="Arial"/>
              <a:buNone/>
            </a:pPr>
            <a:r>
              <a:rPr b="0" i="0" lang="en-US" sz="1300" u="none" cap="none" strike="noStrike">
                <a:solidFill>
                  <a:srgbClr val="2A1A20"/>
                </a:solidFill>
                <a:latin typeface="Arial"/>
                <a:ea typeface="Arial"/>
                <a:cs typeface="Arial"/>
                <a:sym typeface="Arial"/>
              </a:rPr>
              <a:t>1.  What brings them in, and what stands out about the complaint?</a:t>
            </a:r>
            <a:endParaRPr b="0" i="0" sz="1300" u="none" cap="none" strike="noStrike">
              <a:solidFill>
                <a:schemeClr val="dk1"/>
              </a:solidFill>
              <a:latin typeface="Trebuchet MS"/>
              <a:ea typeface="Trebuchet MS"/>
              <a:cs typeface="Trebuchet MS"/>
              <a:sym typeface="Trebuchet MS"/>
            </a:endParaRPr>
          </a:p>
        </p:txBody>
      </p:sp>
      <p:sp>
        <p:nvSpPr>
          <p:cNvPr id="455" name="Google Shape;455;p15"/>
          <p:cNvSpPr/>
          <p:nvPr/>
        </p:nvSpPr>
        <p:spPr>
          <a:xfrm>
            <a:off x="4526280" y="2880360"/>
            <a:ext cx="315468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300"/>
              <a:buFont typeface="Arial"/>
              <a:buNone/>
            </a:pPr>
            <a:r>
              <a:rPr b="0" i="0" lang="en-US" sz="1300" u="none" cap="none" strike="noStrike">
                <a:solidFill>
                  <a:srgbClr val="2A1A20"/>
                </a:solidFill>
                <a:latin typeface="Arial"/>
                <a:ea typeface="Arial"/>
                <a:cs typeface="Arial"/>
                <a:sym typeface="Arial"/>
              </a:rPr>
              <a:t>2.  Do they have a full 3-Step System, or need a lifestyle step?</a:t>
            </a:r>
            <a:endParaRPr b="0" i="0" sz="1300" u="none" cap="none" strike="noStrike">
              <a:solidFill>
                <a:schemeClr val="dk1"/>
              </a:solidFill>
              <a:latin typeface="Trebuchet MS"/>
              <a:ea typeface="Trebuchet MS"/>
              <a:cs typeface="Trebuchet MS"/>
              <a:sym typeface="Trebuchet MS"/>
            </a:endParaRPr>
          </a:p>
        </p:txBody>
      </p:sp>
      <p:sp>
        <p:nvSpPr>
          <p:cNvPr id="456" name="Google Shape;456;p15"/>
          <p:cNvSpPr/>
          <p:nvPr/>
        </p:nvSpPr>
        <p:spPr>
          <a:xfrm>
            <a:off x="4526280" y="3794760"/>
            <a:ext cx="315468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300"/>
              <a:buFont typeface="Arial"/>
              <a:buNone/>
            </a:pPr>
            <a:r>
              <a:rPr b="0" i="0" lang="en-US" sz="1300" u="none" cap="none" strike="noStrike">
                <a:solidFill>
                  <a:srgbClr val="2A1A20"/>
                </a:solidFill>
                <a:latin typeface="Arial"/>
                <a:ea typeface="Arial"/>
                <a:cs typeface="Arial"/>
                <a:sym typeface="Arial"/>
              </a:rPr>
              <a:t>3.  Where are they in break-in, and how/when are they wearing each support?</a:t>
            </a:r>
            <a:endParaRPr b="0" i="0" sz="1300" u="none" cap="none" strike="noStrike">
              <a:solidFill>
                <a:schemeClr val="dk1"/>
              </a:solidFill>
              <a:latin typeface="Trebuchet MS"/>
              <a:ea typeface="Trebuchet MS"/>
              <a:cs typeface="Trebuchet MS"/>
              <a:sym typeface="Trebuchet MS"/>
            </a:endParaRPr>
          </a:p>
        </p:txBody>
      </p:sp>
      <p:sp>
        <p:nvSpPr>
          <p:cNvPr id="457" name="Google Shape;457;p15"/>
          <p:cNvSpPr/>
          <p:nvPr/>
        </p:nvSpPr>
        <p:spPr>
          <a:xfrm>
            <a:off x="4526280" y="4709160"/>
            <a:ext cx="315468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300"/>
              <a:buFont typeface="Arial"/>
              <a:buNone/>
            </a:pPr>
            <a:r>
              <a:rPr b="0" i="0" lang="en-US" sz="1300" u="none" cap="none" strike="noStrike">
                <a:solidFill>
                  <a:srgbClr val="2A1A20"/>
                </a:solidFill>
                <a:latin typeface="Arial"/>
                <a:ea typeface="Arial"/>
                <a:cs typeface="Arial"/>
                <a:sym typeface="Arial"/>
              </a:rPr>
              <a:t>4.  Shoe condition? Footbeds removed? Cushions worn properly?</a:t>
            </a:r>
            <a:endParaRPr b="0" i="0" sz="1300" u="none" cap="none" strike="noStrike">
              <a:solidFill>
                <a:schemeClr val="dk1"/>
              </a:solidFill>
              <a:latin typeface="Trebuchet MS"/>
              <a:ea typeface="Trebuchet MS"/>
              <a:cs typeface="Trebuchet MS"/>
              <a:sym typeface="Trebuchet MS"/>
            </a:endParaRPr>
          </a:p>
        </p:txBody>
      </p:sp>
      <p:sp>
        <p:nvSpPr>
          <p:cNvPr id="458" name="Google Shape;458;p15"/>
          <p:cNvSpPr/>
          <p:nvPr/>
        </p:nvSpPr>
        <p:spPr>
          <a:xfrm>
            <a:off x="8092440" y="1143000"/>
            <a:ext cx="3611880" cy="4937760"/>
          </a:xfrm>
          <a:prstGeom prst="roundRect">
            <a:avLst>
              <a:gd fmla="val 2532" name="adj"/>
            </a:avLst>
          </a:prstGeom>
          <a:solidFill>
            <a:srgbClr val="F8FAFC"/>
          </a:solidFill>
          <a:ln>
            <a:noFill/>
          </a:ln>
          <a:effectLst>
            <a:outerShdw blurRad="76200" rotWithShape="0" algn="bl" dir="8100000" dist="25400">
              <a:srgbClr val="000000">
                <a:alpha val="705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p15"/>
          <p:cNvSpPr/>
          <p:nvPr/>
        </p:nvSpPr>
        <p:spPr>
          <a:xfrm>
            <a:off x="8092440" y="1143000"/>
            <a:ext cx="3611880" cy="548640"/>
          </a:xfrm>
          <a:prstGeom prst="rect">
            <a:avLst/>
          </a:prstGeom>
          <a:solidFill>
            <a:srgbClr val="0596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p15"/>
          <p:cNvSpPr/>
          <p:nvPr/>
        </p:nvSpPr>
        <p:spPr>
          <a:xfrm>
            <a:off x="8275320" y="1234440"/>
            <a:ext cx="32461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Successful Return</a:t>
            </a:r>
            <a:endParaRPr b="0" i="0" sz="1500" u="none" cap="none" strike="noStrike">
              <a:solidFill>
                <a:schemeClr val="dk1"/>
              </a:solidFill>
              <a:latin typeface="Trebuchet MS"/>
              <a:ea typeface="Trebuchet MS"/>
              <a:cs typeface="Trebuchet MS"/>
              <a:sym typeface="Trebuchet MS"/>
            </a:endParaRPr>
          </a:p>
        </p:txBody>
      </p:sp>
      <p:sp>
        <p:nvSpPr>
          <p:cNvPr id="461" name="Google Shape;461;p15"/>
          <p:cNvSpPr/>
          <p:nvPr/>
        </p:nvSpPr>
        <p:spPr>
          <a:xfrm>
            <a:off x="8321040" y="1965960"/>
            <a:ext cx="315468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300"/>
              <a:buFont typeface="Arial"/>
              <a:buNone/>
            </a:pPr>
            <a:r>
              <a:rPr b="0" i="0" lang="en-US" sz="1300" u="none" cap="none" strike="noStrike">
                <a:solidFill>
                  <a:srgbClr val="2A1A20"/>
                </a:solidFill>
                <a:latin typeface="Arial"/>
                <a:ea typeface="Arial"/>
                <a:cs typeface="Arial"/>
                <a:sym typeface="Arial"/>
              </a:rPr>
              <a:t>1.  What brings them in today, and when was their last visit?</a:t>
            </a:r>
            <a:endParaRPr b="0" i="0" sz="1300" u="none" cap="none" strike="noStrike">
              <a:solidFill>
                <a:schemeClr val="dk1"/>
              </a:solidFill>
              <a:latin typeface="Trebuchet MS"/>
              <a:ea typeface="Trebuchet MS"/>
              <a:cs typeface="Trebuchet MS"/>
              <a:sym typeface="Trebuchet MS"/>
            </a:endParaRPr>
          </a:p>
        </p:txBody>
      </p:sp>
      <p:sp>
        <p:nvSpPr>
          <p:cNvPr id="462" name="Google Shape;462;p15"/>
          <p:cNvSpPr/>
          <p:nvPr/>
        </p:nvSpPr>
        <p:spPr>
          <a:xfrm>
            <a:off x="8321040" y="2880360"/>
            <a:ext cx="315468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300"/>
              <a:buFont typeface="Arial"/>
              <a:buNone/>
            </a:pPr>
            <a:r>
              <a:rPr b="0" i="0" lang="en-US" sz="1300" u="none" cap="none" strike="noStrike">
                <a:solidFill>
                  <a:srgbClr val="2A1A20"/>
                </a:solidFill>
                <a:latin typeface="Arial"/>
                <a:ea typeface="Arial"/>
                <a:cs typeface="Arial"/>
                <a:sym typeface="Arial"/>
              </a:rPr>
              <a:t>2.  Are they doing great, and did they leave a review?</a:t>
            </a:r>
            <a:endParaRPr b="0" i="0" sz="1300" u="none" cap="none" strike="noStrike">
              <a:solidFill>
                <a:schemeClr val="dk1"/>
              </a:solidFill>
              <a:latin typeface="Trebuchet MS"/>
              <a:ea typeface="Trebuchet MS"/>
              <a:cs typeface="Trebuchet MS"/>
              <a:sym typeface="Trebuchet MS"/>
            </a:endParaRPr>
          </a:p>
        </p:txBody>
      </p:sp>
      <p:sp>
        <p:nvSpPr>
          <p:cNvPr id="463" name="Google Shape;463;p15"/>
          <p:cNvSpPr/>
          <p:nvPr/>
        </p:nvSpPr>
        <p:spPr>
          <a:xfrm>
            <a:off x="8321040" y="3794760"/>
            <a:ext cx="315468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300"/>
              <a:buFont typeface="Arial"/>
              <a:buNone/>
            </a:pPr>
            <a:r>
              <a:rPr b="0" i="0" lang="en-US" sz="1300" u="none" cap="none" strike="noStrike">
                <a:solidFill>
                  <a:srgbClr val="2A1A20"/>
                </a:solidFill>
                <a:latin typeface="Arial"/>
                <a:ea typeface="Arial"/>
                <a:cs typeface="Arial"/>
                <a:sym typeface="Arial"/>
              </a:rPr>
              <a:t>3.  How many steps in their system, and how/when are they worn?</a:t>
            </a:r>
            <a:endParaRPr b="0" i="0" sz="1300" u="none" cap="none" strike="noStrike">
              <a:solidFill>
                <a:schemeClr val="dk1"/>
              </a:solidFill>
              <a:latin typeface="Trebuchet MS"/>
              <a:ea typeface="Trebuchet MS"/>
              <a:cs typeface="Trebuchet MS"/>
              <a:sym typeface="Trebuchet MS"/>
            </a:endParaRPr>
          </a:p>
        </p:txBody>
      </p:sp>
      <p:sp>
        <p:nvSpPr>
          <p:cNvPr id="464" name="Google Shape;464;p15"/>
          <p:cNvSpPr/>
          <p:nvPr/>
        </p:nvSpPr>
        <p:spPr>
          <a:xfrm>
            <a:off x="8321040" y="4709160"/>
            <a:ext cx="315468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300"/>
              <a:buFont typeface="Arial"/>
              <a:buNone/>
            </a:pPr>
            <a:r>
              <a:rPr b="0" i="0" lang="en-US" sz="1300" u="none" cap="none" strike="noStrike">
                <a:solidFill>
                  <a:srgbClr val="2A1A20"/>
                </a:solidFill>
                <a:latin typeface="Arial"/>
                <a:ea typeface="Arial"/>
                <a:cs typeface="Arial"/>
                <a:sym typeface="Arial"/>
              </a:rPr>
              <a:t>4.  Any new activities or plans that lifestyle supports could enhance?</a:t>
            </a:r>
            <a:endParaRPr b="0" i="0" sz="1300" u="none" cap="none" strike="noStrike">
              <a:solidFill>
                <a:schemeClr val="dk1"/>
              </a:solidFill>
              <a:latin typeface="Trebuchet MS"/>
              <a:ea typeface="Trebuchet MS"/>
              <a:cs typeface="Trebuchet MS"/>
              <a:sym typeface="Trebuchet MS"/>
            </a:endParaRPr>
          </a:p>
        </p:txBody>
      </p:sp>
      <p:pic>
        <p:nvPicPr>
          <p:cNvPr id="465" name="Google Shape;465;p15" title="caprec-2026-07-28-17-30-38.webm">
            <a:hlinkClick r:id="rId3"/>
          </p:cNvPr>
          <p:cNvPicPr preferRelativeResize="0"/>
          <p:nvPr/>
        </p:nvPicPr>
        <p:blipFill>
          <a:blip r:embed="rId4">
            <a:alphaModFix/>
          </a:blip>
          <a:stretch>
            <a:fillRect/>
          </a:stretch>
        </p:blipFill>
        <p:spPr>
          <a:xfrm>
            <a:off x="5035050" y="6606525"/>
            <a:ext cx="91440" cy="91440"/>
          </a:xfrm>
          <a:prstGeom prst="rect">
            <a:avLst/>
          </a:prstGeom>
          <a:noFill/>
          <a:ln>
            <a:noFill/>
          </a:ln>
        </p:spPr>
      </p:pic>
      <p:pic>
        <p:nvPicPr>
          <p:cNvPr id="466" name="Google Shape;466;p15" title="grok-image-6bee5419-570b-4123-8542-27b02a1104ea.jpg"/>
          <p:cNvPicPr preferRelativeResize="0"/>
          <p:nvPr/>
        </p:nvPicPr>
        <p:blipFill>
          <a:blip r:embed="rId5">
            <a:alphaModFix/>
          </a:blip>
          <a:stretch>
            <a:fillRect/>
          </a:stretch>
        </p:blipFill>
        <p:spPr>
          <a:xfrm>
            <a:off x="77450" y="5943600"/>
            <a:ext cx="1234419" cy="822950"/>
          </a:xfrm>
          <a:prstGeom prst="rect">
            <a:avLst/>
          </a:prstGeom>
          <a:noFill/>
          <a:ln>
            <a:noFill/>
          </a:ln>
        </p:spPr>
      </p:pic>
      <p:pic>
        <p:nvPicPr>
          <p:cNvPr id="467" name="Google Shape;467;p15" title="Picture1.png"/>
          <p:cNvPicPr preferRelativeResize="0"/>
          <p:nvPr/>
        </p:nvPicPr>
        <p:blipFill>
          <a:blip r:embed="rId6">
            <a:alphaModFix/>
          </a:blip>
          <a:stretch>
            <a:fillRect/>
          </a:stretch>
        </p:blipFill>
        <p:spPr>
          <a:xfrm>
            <a:off x="11186625" y="5943600"/>
            <a:ext cx="822950" cy="8229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65"/>
                                        </p:tgtEl>
                                        <p:attrNameLst>
                                          <p:attrName>style.visibility</p:attrName>
                                        </p:attrNameLst>
                                      </p:cBhvr>
                                      <p:to>
                                        <p:strVal val="visible"/>
                                      </p:to>
                                    </p:set>
                                    <p:animEffect filter="fade" transition="in">
                                      <p:cBhvr>
                                        <p:cTn dur="1000"/>
                                        <p:tgtEl>
                                          <p:spTgt spid="4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2" name="Shape 472"/>
        <p:cNvGrpSpPr/>
        <p:nvPr/>
      </p:nvGrpSpPr>
      <p:grpSpPr>
        <a:xfrm>
          <a:off x="0" y="0"/>
          <a:ext cx="0" cy="0"/>
          <a:chOff x="0" y="0"/>
          <a:chExt cx="0" cy="0"/>
        </a:xfrm>
      </p:grpSpPr>
      <p:pic>
        <p:nvPicPr>
          <p:cNvPr id="473" name="Google Shape;473;p16" title="grok-image-6bee5419-570b-4123-8542-27b02a1104ea.jpg"/>
          <p:cNvPicPr preferRelativeResize="0"/>
          <p:nvPr/>
        </p:nvPicPr>
        <p:blipFill>
          <a:blip r:embed="rId3">
            <a:alphaModFix/>
          </a:blip>
          <a:stretch>
            <a:fillRect/>
          </a:stretch>
        </p:blipFill>
        <p:spPr>
          <a:xfrm>
            <a:off x="77450" y="5943600"/>
            <a:ext cx="1234419" cy="822950"/>
          </a:xfrm>
          <a:prstGeom prst="rect">
            <a:avLst/>
          </a:prstGeom>
          <a:noFill/>
          <a:ln>
            <a:noFill/>
          </a:ln>
        </p:spPr>
      </p:pic>
      <p:sp>
        <p:nvSpPr>
          <p:cNvPr id="474" name="Google Shape;474;p16"/>
          <p:cNvSpPr/>
          <p:nvPr/>
        </p:nvSpPr>
        <p:spPr>
          <a:xfrm>
            <a:off x="502920" y="256032"/>
            <a:ext cx="1115568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216"/>
              </a:buClr>
              <a:buSzPts val="2600"/>
              <a:buFont typeface="Arial"/>
              <a:buNone/>
            </a:pPr>
            <a:r>
              <a:rPr b="1" i="0" lang="en-US" sz="2600" u="none" cap="none" strike="noStrike">
                <a:solidFill>
                  <a:srgbClr val="1F1216"/>
                </a:solidFill>
                <a:latin typeface="Arial"/>
                <a:ea typeface="Arial"/>
                <a:cs typeface="Arial"/>
                <a:sym typeface="Arial"/>
              </a:rPr>
              <a:t>After the Demo  ·  Quick Reference</a:t>
            </a:r>
            <a:endParaRPr b="0" i="0" sz="2600" u="none" cap="none" strike="noStrike">
              <a:solidFill>
                <a:schemeClr val="dk1"/>
              </a:solidFill>
              <a:latin typeface="Trebuchet MS"/>
              <a:ea typeface="Trebuchet MS"/>
              <a:cs typeface="Trebuchet MS"/>
              <a:sym typeface="Trebuchet MS"/>
            </a:endParaRPr>
          </a:p>
        </p:txBody>
      </p:sp>
      <p:cxnSp>
        <p:nvCxnSpPr>
          <p:cNvPr id="475" name="Google Shape;475;p16"/>
          <p:cNvCxnSpPr/>
          <p:nvPr/>
        </p:nvCxnSpPr>
        <p:spPr>
          <a:xfrm>
            <a:off x="502920" y="896112"/>
            <a:ext cx="11155680" cy="0"/>
          </a:xfrm>
          <a:prstGeom prst="straightConnector1">
            <a:avLst/>
          </a:prstGeom>
          <a:noFill/>
          <a:ln cap="flat" cmpd="sng" w="25400">
            <a:solidFill>
              <a:srgbClr val="8B3A4F"/>
            </a:solidFill>
            <a:prstDash val="solid"/>
            <a:round/>
            <a:headEnd len="sm" w="sm" type="none"/>
            <a:tailEnd len="sm" w="sm" type="none"/>
          </a:ln>
        </p:spPr>
      </p:cxnSp>
      <p:sp>
        <p:nvSpPr>
          <p:cNvPr id="476" name="Google Shape;476;p16"/>
          <p:cNvSpPr/>
          <p:nvPr/>
        </p:nvSpPr>
        <p:spPr>
          <a:xfrm>
            <a:off x="5730240" y="6537960"/>
            <a:ext cx="73140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16</a:t>
            </a:r>
            <a:endParaRPr b="0" i="0" sz="1000" u="none" cap="none" strike="noStrike">
              <a:solidFill>
                <a:schemeClr val="dk1"/>
              </a:solidFill>
              <a:latin typeface="Trebuchet MS"/>
              <a:ea typeface="Trebuchet MS"/>
              <a:cs typeface="Trebuchet MS"/>
              <a:sym typeface="Trebuchet MS"/>
            </a:endParaRPr>
          </a:p>
        </p:txBody>
      </p:sp>
      <p:sp>
        <p:nvSpPr>
          <p:cNvPr id="477" name="Google Shape;477;p16"/>
          <p:cNvSpPr/>
          <p:nvPr/>
        </p:nvSpPr>
        <p:spPr>
          <a:xfrm>
            <a:off x="502920" y="1143000"/>
            <a:ext cx="5486400" cy="4937760"/>
          </a:xfrm>
          <a:prstGeom prst="roundRect">
            <a:avLst>
              <a:gd fmla="val 1852" name="adj"/>
            </a:avLst>
          </a:prstGeom>
          <a:solidFill>
            <a:srgbClr val="F8FAFC"/>
          </a:solidFill>
          <a:ln>
            <a:noFill/>
          </a:ln>
          <a:effectLst>
            <a:outerShdw blurRad="76200" rotWithShape="0" algn="bl" dir="8100000" dist="25400">
              <a:srgbClr val="000000">
                <a:alpha val="705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p16"/>
          <p:cNvSpPr/>
          <p:nvPr/>
        </p:nvSpPr>
        <p:spPr>
          <a:xfrm>
            <a:off x="502920" y="1143000"/>
            <a:ext cx="5486400" cy="502920"/>
          </a:xfrm>
          <a:prstGeom prst="rect">
            <a:avLst/>
          </a:prstGeom>
          <a:solidFill>
            <a:srgbClr val="8B3A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p16"/>
          <p:cNvSpPr/>
          <p:nvPr/>
        </p:nvSpPr>
        <p:spPr>
          <a:xfrm>
            <a:off x="685800" y="1234440"/>
            <a:ext cx="51206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After-Demo Debrief</a:t>
            </a:r>
            <a:endParaRPr b="0" i="0" sz="1500" u="none" cap="none" strike="noStrike">
              <a:solidFill>
                <a:schemeClr val="dk1"/>
              </a:solidFill>
              <a:latin typeface="Trebuchet MS"/>
              <a:ea typeface="Trebuchet MS"/>
              <a:cs typeface="Trebuchet MS"/>
              <a:sym typeface="Trebuchet MS"/>
            </a:endParaRPr>
          </a:p>
        </p:txBody>
      </p:sp>
      <p:sp>
        <p:nvSpPr>
          <p:cNvPr id="480" name="Google Shape;480;p16"/>
          <p:cNvSpPr/>
          <p:nvPr/>
        </p:nvSpPr>
        <p:spPr>
          <a:xfrm>
            <a:off x="731520" y="1874520"/>
            <a:ext cx="502920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400"/>
              <a:buFont typeface="Arial"/>
              <a:buNone/>
            </a:pPr>
            <a:r>
              <a:rPr b="0" i="0" lang="en-US" sz="1400" u="none" cap="none" strike="noStrike">
                <a:solidFill>
                  <a:srgbClr val="2A1A20"/>
                </a:solidFill>
                <a:latin typeface="Arial"/>
                <a:ea typeface="Arial"/>
                <a:cs typeface="Arial"/>
                <a:sym typeface="Arial"/>
              </a:rPr>
              <a:t>☐  How did the fitting feel to you?</a:t>
            </a:r>
            <a:endParaRPr b="0" i="0" sz="1400" u="none" cap="none" strike="noStrike">
              <a:solidFill>
                <a:schemeClr val="dk1"/>
              </a:solidFill>
              <a:latin typeface="Trebuchet MS"/>
              <a:ea typeface="Trebuchet MS"/>
              <a:cs typeface="Trebuchet MS"/>
              <a:sym typeface="Trebuchet MS"/>
            </a:endParaRPr>
          </a:p>
        </p:txBody>
      </p:sp>
      <p:sp>
        <p:nvSpPr>
          <p:cNvPr id="481" name="Google Shape;481;p16"/>
          <p:cNvSpPr/>
          <p:nvPr/>
        </p:nvSpPr>
        <p:spPr>
          <a:xfrm>
            <a:off x="731520" y="2423160"/>
            <a:ext cx="502920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400"/>
              <a:buFont typeface="Arial"/>
              <a:buNone/>
            </a:pPr>
            <a:r>
              <a:rPr b="0" i="0" lang="en-US" sz="1400" u="none" cap="none" strike="noStrike">
                <a:solidFill>
                  <a:srgbClr val="2A1A20"/>
                </a:solidFill>
                <a:latin typeface="Arial"/>
                <a:ea typeface="Arial"/>
                <a:cs typeface="Arial"/>
                <a:sym typeface="Arial"/>
              </a:rPr>
              <a:t>☐  What system did you present?</a:t>
            </a:r>
            <a:endParaRPr b="0" i="0" sz="1400" u="none" cap="none" strike="noStrike">
              <a:solidFill>
                <a:schemeClr val="dk1"/>
              </a:solidFill>
              <a:latin typeface="Trebuchet MS"/>
              <a:ea typeface="Trebuchet MS"/>
              <a:cs typeface="Trebuchet MS"/>
              <a:sym typeface="Trebuchet MS"/>
            </a:endParaRPr>
          </a:p>
        </p:txBody>
      </p:sp>
      <p:sp>
        <p:nvSpPr>
          <p:cNvPr id="482" name="Google Shape;482;p16"/>
          <p:cNvSpPr/>
          <p:nvPr/>
        </p:nvSpPr>
        <p:spPr>
          <a:xfrm>
            <a:off x="731520" y="2971800"/>
            <a:ext cx="502920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400"/>
              <a:buFont typeface="Arial"/>
              <a:buNone/>
            </a:pPr>
            <a:r>
              <a:rPr b="0" i="0" lang="en-US" sz="1400" u="none" cap="none" strike="noStrike">
                <a:solidFill>
                  <a:srgbClr val="2A1A20"/>
                </a:solidFill>
                <a:latin typeface="Arial"/>
                <a:ea typeface="Arial"/>
                <a:cs typeface="Arial"/>
                <a:sym typeface="Arial"/>
              </a:rPr>
              <a:t>☐  What were the key wins and WOW moments?</a:t>
            </a:r>
            <a:endParaRPr b="0" i="0" sz="1400" u="none" cap="none" strike="noStrike">
              <a:solidFill>
                <a:schemeClr val="dk1"/>
              </a:solidFill>
              <a:latin typeface="Trebuchet MS"/>
              <a:ea typeface="Trebuchet MS"/>
              <a:cs typeface="Trebuchet MS"/>
              <a:sym typeface="Trebuchet MS"/>
            </a:endParaRPr>
          </a:p>
        </p:txBody>
      </p:sp>
      <p:sp>
        <p:nvSpPr>
          <p:cNvPr id="483" name="Google Shape;483;p16"/>
          <p:cNvSpPr/>
          <p:nvPr/>
        </p:nvSpPr>
        <p:spPr>
          <a:xfrm>
            <a:off x="731520" y="3520440"/>
            <a:ext cx="502920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400"/>
              <a:buFont typeface="Arial"/>
              <a:buNone/>
            </a:pPr>
            <a:r>
              <a:rPr b="0" i="0" lang="en-US" sz="1400" u="none" cap="none" strike="noStrike">
                <a:solidFill>
                  <a:srgbClr val="2A1A20"/>
                </a:solidFill>
                <a:latin typeface="Arial"/>
                <a:ea typeface="Arial"/>
                <a:cs typeface="Arial"/>
                <a:sym typeface="Arial"/>
              </a:rPr>
              <a:t>☐  When did the Client show conviction — the “click”?</a:t>
            </a:r>
            <a:endParaRPr b="0" i="0" sz="1400" u="none" cap="none" strike="noStrike">
              <a:solidFill>
                <a:schemeClr val="dk1"/>
              </a:solidFill>
              <a:latin typeface="Trebuchet MS"/>
              <a:ea typeface="Trebuchet MS"/>
              <a:cs typeface="Trebuchet MS"/>
              <a:sym typeface="Trebuchet MS"/>
            </a:endParaRPr>
          </a:p>
        </p:txBody>
      </p:sp>
      <p:sp>
        <p:nvSpPr>
          <p:cNvPr id="484" name="Google Shape;484;p16"/>
          <p:cNvSpPr/>
          <p:nvPr/>
        </p:nvSpPr>
        <p:spPr>
          <a:xfrm>
            <a:off x="731520" y="4069080"/>
            <a:ext cx="502920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400"/>
              <a:buFont typeface="Arial"/>
              <a:buNone/>
            </a:pPr>
            <a:r>
              <a:rPr b="0" i="0" lang="en-US" sz="1400" u="none" cap="none" strike="noStrike">
                <a:solidFill>
                  <a:srgbClr val="2A1A20"/>
                </a:solidFill>
                <a:latin typeface="Arial"/>
                <a:ea typeface="Arial"/>
                <a:cs typeface="Arial"/>
                <a:sym typeface="Arial"/>
              </a:rPr>
              <a:t>☐  What is the one opportunity to improve next time?</a:t>
            </a:r>
            <a:endParaRPr b="0" i="0" sz="1400" u="none" cap="none" strike="noStrike">
              <a:solidFill>
                <a:schemeClr val="dk1"/>
              </a:solidFill>
              <a:latin typeface="Trebuchet MS"/>
              <a:ea typeface="Trebuchet MS"/>
              <a:cs typeface="Trebuchet MS"/>
              <a:sym typeface="Trebuchet MS"/>
            </a:endParaRPr>
          </a:p>
        </p:txBody>
      </p:sp>
      <p:sp>
        <p:nvSpPr>
          <p:cNvPr id="485" name="Google Shape;485;p16"/>
          <p:cNvSpPr/>
          <p:nvPr/>
        </p:nvSpPr>
        <p:spPr>
          <a:xfrm>
            <a:off x="731520" y="4617720"/>
            <a:ext cx="502920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400"/>
              <a:buFont typeface="Arial"/>
              <a:buNone/>
            </a:pPr>
            <a:r>
              <a:rPr b="0" i="0" lang="en-US" sz="1400" u="none" cap="none" strike="noStrike">
                <a:solidFill>
                  <a:srgbClr val="2A1A20"/>
                </a:solidFill>
                <a:latin typeface="Arial"/>
                <a:ea typeface="Arial"/>
                <a:cs typeface="Arial"/>
                <a:sym typeface="Arial"/>
              </a:rPr>
              <a:t>☐  Did you close? If not, where did you lose them?</a:t>
            </a:r>
            <a:endParaRPr b="0" i="0" sz="1400" u="none" cap="none" strike="noStrike">
              <a:solidFill>
                <a:schemeClr val="dk1"/>
              </a:solidFill>
              <a:latin typeface="Trebuchet MS"/>
              <a:ea typeface="Trebuchet MS"/>
              <a:cs typeface="Trebuchet MS"/>
              <a:sym typeface="Trebuchet MS"/>
            </a:endParaRPr>
          </a:p>
        </p:txBody>
      </p:sp>
      <p:sp>
        <p:nvSpPr>
          <p:cNvPr id="486" name="Google Shape;486;p16"/>
          <p:cNvSpPr/>
          <p:nvPr/>
        </p:nvSpPr>
        <p:spPr>
          <a:xfrm>
            <a:off x="731520" y="5166360"/>
            <a:ext cx="502920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400"/>
              <a:buFont typeface="Arial"/>
              <a:buNone/>
            </a:pPr>
            <a:r>
              <a:rPr b="0" i="0" lang="en-US" sz="1400" u="none" cap="none" strike="noStrike">
                <a:solidFill>
                  <a:srgbClr val="2A1A20"/>
                </a:solidFill>
                <a:latin typeface="Arial"/>
                <a:ea typeface="Arial"/>
                <a:cs typeface="Arial"/>
                <a:sym typeface="Arial"/>
              </a:rPr>
              <a:t>☐  Did you ask for the review?</a:t>
            </a:r>
            <a:endParaRPr b="0" i="0" sz="1400" u="none" cap="none" strike="noStrike">
              <a:solidFill>
                <a:schemeClr val="dk1"/>
              </a:solidFill>
              <a:latin typeface="Trebuchet MS"/>
              <a:ea typeface="Trebuchet MS"/>
              <a:cs typeface="Trebuchet MS"/>
              <a:sym typeface="Trebuchet MS"/>
            </a:endParaRPr>
          </a:p>
        </p:txBody>
      </p:sp>
      <p:sp>
        <p:nvSpPr>
          <p:cNvPr id="487" name="Google Shape;487;p16"/>
          <p:cNvSpPr/>
          <p:nvPr/>
        </p:nvSpPr>
        <p:spPr>
          <a:xfrm>
            <a:off x="6217920" y="1143000"/>
            <a:ext cx="5440680" cy="4937760"/>
          </a:xfrm>
          <a:prstGeom prst="roundRect">
            <a:avLst>
              <a:gd fmla="val 1852" name="adj"/>
            </a:avLst>
          </a:prstGeom>
          <a:solidFill>
            <a:srgbClr val="F1F5F9"/>
          </a:solidFill>
          <a:ln>
            <a:noFill/>
          </a:ln>
          <a:effectLst>
            <a:outerShdw blurRad="76200" rotWithShape="0" algn="bl" dir="8100000" dist="25400">
              <a:srgbClr val="000000">
                <a:alpha val="705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 name="Google Shape;488;p16"/>
          <p:cNvSpPr/>
          <p:nvPr/>
        </p:nvSpPr>
        <p:spPr>
          <a:xfrm>
            <a:off x="6217920" y="1143000"/>
            <a:ext cx="5440680" cy="502920"/>
          </a:xfrm>
          <a:prstGeom prst="rect">
            <a:avLst/>
          </a:prstGeom>
          <a:solidFill>
            <a:srgbClr val="1F121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 name="Google Shape;489;p16"/>
          <p:cNvSpPr/>
          <p:nvPr/>
        </p:nvSpPr>
        <p:spPr>
          <a:xfrm>
            <a:off x="6400800" y="1234440"/>
            <a:ext cx="50292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Every Shift Checklist</a:t>
            </a:r>
            <a:endParaRPr b="0" i="0" sz="1500" u="none" cap="none" strike="noStrike">
              <a:solidFill>
                <a:schemeClr val="dk1"/>
              </a:solidFill>
              <a:latin typeface="Trebuchet MS"/>
              <a:ea typeface="Trebuchet MS"/>
              <a:cs typeface="Trebuchet MS"/>
              <a:sym typeface="Trebuchet MS"/>
            </a:endParaRPr>
          </a:p>
        </p:txBody>
      </p:sp>
      <p:sp>
        <p:nvSpPr>
          <p:cNvPr id="490" name="Google Shape;490;p16"/>
          <p:cNvSpPr/>
          <p:nvPr/>
        </p:nvSpPr>
        <p:spPr>
          <a:xfrm>
            <a:off x="6446520" y="1874520"/>
            <a:ext cx="502920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300"/>
              <a:buFont typeface="Arial"/>
              <a:buNone/>
            </a:pPr>
            <a:r>
              <a:rPr b="0" i="0" lang="en-US" sz="1300" u="none" cap="none" strike="noStrike">
                <a:solidFill>
                  <a:srgbClr val="2A1A20"/>
                </a:solidFill>
                <a:latin typeface="Arial"/>
                <a:ea typeface="Arial"/>
                <a:cs typeface="Arial"/>
                <a:sym typeface="Arial"/>
              </a:rPr>
              <a:t>☐  Assign the Sales Floor Leader at opening and make it visible</a:t>
            </a:r>
            <a:endParaRPr b="0" i="0" sz="1300" u="none" cap="none" strike="noStrike">
              <a:solidFill>
                <a:schemeClr val="dk1"/>
              </a:solidFill>
              <a:latin typeface="Trebuchet MS"/>
              <a:ea typeface="Trebuchet MS"/>
              <a:cs typeface="Trebuchet MS"/>
              <a:sym typeface="Trebuchet MS"/>
            </a:endParaRPr>
          </a:p>
        </p:txBody>
      </p:sp>
      <p:sp>
        <p:nvSpPr>
          <p:cNvPr id="491" name="Google Shape;491;p16"/>
          <p:cNvSpPr/>
          <p:nvPr/>
        </p:nvSpPr>
        <p:spPr>
          <a:xfrm>
            <a:off x="6446520" y="2423160"/>
            <a:ext cx="502920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300"/>
              <a:buFont typeface="Arial"/>
              <a:buNone/>
            </a:pPr>
            <a:r>
              <a:rPr b="0" i="0" lang="en-US" sz="1300" u="none" cap="none" strike="noStrike">
                <a:solidFill>
                  <a:srgbClr val="2A1A20"/>
                </a:solidFill>
                <a:latin typeface="Arial"/>
                <a:ea typeface="Arial"/>
                <a:cs typeface="Arial"/>
                <a:sym typeface="Arial"/>
              </a:rPr>
              <a:t>☐  Greet every Client, at least twice</a:t>
            </a:r>
            <a:endParaRPr b="0" i="0" sz="1300" u="none" cap="none" strike="noStrike">
              <a:solidFill>
                <a:schemeClr val="dk1"/>
              </a:solidFill>
              <a:latin typeface="Trebuchet MS"/>
              <a:ea typeface="Trebuchet MS"/>
              <a:cs typeface="Trebuchet MS"/>
              <a:sym typeface="Trebuchet MS"/>
            </a:endParaRPr>
          </a:p>
        </p:txBody>
      </p:sp>
      <p:sp>
        <p:nvSpPr>
          <p:cNvPr id="492" name="Google Shape;492;p16"/>
          <p:cNvSpPr/>
          <p:nvPr/>
        </p:nvSpPr>
        <p:spPr>
          <a:xfrm>
            <a:off x="6446520" y="2971800"/>
            <a:ext cx="502920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300"/>
              <a:buFont typeface="Arial"/>
              <a:buNone/>
            </a:pPr>
            <a:r>
              <a:rPr b="0" i="0" lang="en-US" sz="1300" u="none" cap="none" strike="noStrike">
                <a:solidFill>
                  <a:srgbClr val="2A1A20"/>
                </a:solidFill>
                <a:latin typeface="Arial"/>
                <a:ea typeface="Arial"/>
                <a:cs typeface="Arial"/>
                <a:sym typeface="Arial"/>
              </a:rPr>
              <a:t>☐  Check the body language of Clients and team</a:t>
            </a:r>
            <a:endParaRPr b="0" i="0" sz="1300" u="none" cap="none" strike="noStrike">
              <a:solidFill>
                <a:schemeClr val="dk1"/>
              </a:solidFill>
              <a:latin typeface="Trebuchet MS"/>
              <a:ea typeface="Trebuchet MS"/>
              <a:cs typeface="Trebuchet MS"/>
              <a:sym typeface="Trebuchet MS"/>
            </a:endParaRPr>
          </a:p>
        </p:txBody>
      </p:sp>
      <p:sp>
        <p:nvSpPr>
          <p:cNvPr id="493" name="Google Shape;493;p16"/>
          <p:cNvSpPr/>
          <p:nvPr/>
        </p:nvSpPr>
        <p:spPr>
          <a:xfrm>
            <a:off x="6446520" y="3520440"/>
            <a:ext cx="502920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300"/>
              <a:buFont typeface="Arial"/>
              <a:buNone/>
            </a:pPr>
            <a:r>
              <a:rPr b="0" i="0" lang="en-US" sz="1300" u="none" cap="none" strike="noStrike">
                <a:solidFill>
                  <a:srgbClr val="2A1A20"/>
                </a:solidFill>
                <a:latin typeface="Arial"/>
                <a:ea typeface="Arial"/>
                <a:cs typeface="Arial"/>
                <a:sym typeface="Arial"/>
              </a:rPr>
              <a:t>☐  Monitor green and red flags actively, demo by demo</a:t>
            </a:r>
            <a:endParaRPr b="0" i="0" sz="1300" u="none" cap="none" strike="noStrike">
              <a:solidFill>
                <a:schemeClr val="dk1"/>
              </a:solidFill>
              <a:latin typeface="Trebuchet MS"/>
              <a:ea typeface="Trebuchet MS"/>
              <a:cs typeface="Trebuchet MS"/>
              <a:sym typeface="Trebuchet MS"/>
            </a:endParaRPr>
          </a:p>
        </p:txBody>
      </p:sp>
      <p:sp>
        <p:nvSpPr>
          <p:cNvPr id="494" name="Google Shape;494;p16"/>
          <p:cNvSpPr/>
          <p:nvPr/>
        </p:nvSpPr>
        <p:spPr>
          <a:xfrm>
            <a:off x="6446520" y="4069080"/>
            <a:ext cx="502920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300"/>
              <a:buFont typeface="Arial"/>
              <a:buNone/>
            </a:pPr>
            <a:r>
              <a:rPr b="0" i="0" lang="en-US" sz="1300" u="none" cap="none" strike="noStrike">
                <a:solidFill>
                  <a:srgbClr val="2A1A20"/>
                </a:solidFill>
                <a:latin typeface="Arial"/>
                <a:ea typeface="Arial"/>
                <a:cs typeface="Arial"/>
                <a:sym typeface="Arial"/>
              </a:rPr>
              <a:t>☐  Step in for balance-technique WOW moments</a:t>
            </a:r>
            <a:endParaRPr b="0" i="0" sz="1300" u="none" cap="none" strike="noStrike">
              <a:solidFill>
                <a:schemeClr val="dk1"/>
              </a:solidFill>
              <a:latin typeface="Trebuchet MS"/>
              <a:ea typeface="Trebuchet MS"/>
              <a:cs typeface="Trebuchet MS"/>
              <a:sym typeface="Trebuchet MS"/>
            </a:endParaRPr>
          </a:p>
        </p:txBody>
      </p:sp>
      <p:sp>
        <p:nvSpPr>
          <p:cNvPr id="495" name="Google Shape;495;p16"/>
          <p:cNvSpPr/>
          <p:nvPr/>
        </p:nvSpPr>
        <p:spPr>
          <a:xfrm>
            <a:off x="6446520" y="4617720"/>
            <a:ext cx="502920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300"/>
              <a:buFont typeface="Arial"/>
              <a:buNone/>
            </a:pPr>
            <a:r>
              <a:rPr b="0" i="0" lang="en-US" sz="1300" u="none" cap="none" strike="noStrike">
                <a:solidFill>
                  <a:srgbClr val="2A1A20"/>
                </a:solidFill>
                <a:latin typeface="Arial"/>
                <a:ea typeface="Arial"/>
                <a:cs typeface="Arial"/>
                <a:sym typeface="Arial"/>
              </a:rPr>
              <a:t>☐  Support closings by prepping POS early</a:t>
            </a:r>
            <a:endParaRPr b="0" i="0" sz="1300" u="none" cap="none" strike="noStrike">
              <a:solidFill>
                <a:schemeClr val="dk1"/>
              </a:solidFill>
              <a:latin typeface="Trebuchet MS"/>
              <a:ea typeface="Trebuchet MS"/>
              <a:cs typeface="Trebuchet MS"/>
              <a:sym typeface="Trebuchet MS"/>
            </a:endParaRPr>
          </a:p>
        </p:txBody>
      </p:sp>
      <p:sp>
        <p:nvSpPr>
          <p:cNvPr id="496" name="Google Shape;496;p16"/>
          <p:cNvSpPr/>
          <p:nvPr/>
        </p:nvSpPr>
        <p:spPr>
          <a:xfrm>
            <a:off x="6446520" y="5166360"/>
            <a:ext cx="502920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300"/>
              <a:buFont typeface="Arial"/>
              <a:buNone/>
            </a:pPr>
            <a:r>
              <a:rPr b="0" i="0" lang="en-US" sz="1300" u="none" cap="none" strike="noStrike">
                <a:solidFill>
                  <a:srgbClr val="2A1A20"/>
                </a:solidFill>
                <a:latin typeface="Arial"/>
                <a:ea typeface="Arial"/>
                <a:cs typeface="Arial"/>
                <a:sym typeface="Arial"/>
              </a:rPr>
              <a:t>☐  Coach in the moment; reinforce in the backroom</a:t>
            </a:r>
            <a:endParaRPr b="0" i="0" sz="1300" u="none" cap="none" strike="noStrike">
              <a:solidFill>
                <a:schemeClr val="dk1"/>
              </a:solidFill>
              <a:latin typeface="Trebuchet MS"/>
              <a:ea typeface="Trebuchet MS"/>
              <a:cs typeface="Trebuchet MS"/>
              <a:sym typeface="Trebuchet MS"/>
            </a:endParaRPr>
          </a:p>
        </p:txBody>
      </p:sp>
      <p:pic>
        <p:nvPicPr>
          <p:cNvPr id="497" name="Google Shape;497;p16" title="caprec-2026-07-28-17-33-04.webm">
            <a:hlinkClick r:id="rId4"/>
          </p:cNvPr>
          <p:cNvPicPr preferRelativeResize="0"/>
          <p:nvPr/>
        </p:nvPicPr>
        <p:blipFill>
          <a:blip r:embed="rId5">
            <a:alphaModFix/>
          </a:blip>
          <a:stretch>
            <a:fillRect/>
          </a:stretch>
        </p:blipFill>
        <p:spPr>
          <a:xfrm>
            <a:off x="5625600" y="6080750"/>
            <a:ext cx="91440" cy="9144"/>
          </a:xfrm>
          <a:prstGeom prst="rect">
            <a:avLst/>
          </a:prstGeom>
          <a:noFill/>
          <a:ln>
            <a:noFill/>
          </a:ln>
        </p:spPr>
      </p:pic>
      <p:pic>
        <p:nvPicPr>
          <p:cNvPr id="498" name="Google Shape;498;p16" title="Picture1.png"/>
          <p:cNvPicPr preferRelativeResize="0"/>
          <p:nvPr/>
        </p:nvPicPr>
        <p:blipFill>
          <a:blip r:embed="rId6">
            <a:alphaModFix/>
          </a:blip>
          <a:stretch>
            <a:fillRect/>
          </a:stretch>
        </p:blipFill>
        <p:spPr>
          <a:xfrm>
            <a:off x="11186625" y="5943600"/>
            <a:ext cx="822950" cy="8229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97"/>
                                        </p:tgtEl>
                                        <p:attrNameLst>
                                          <p:attrName>style.visibility</p:attrName>
                                        </p:attrNameLst>
                                      </p:cBhvr>
                                      <p:to>
                                        <p:strVal val="visible"/>
                                      </p:to>
                                    </p:set>
                                    <p:animEffect filter="fade" transition="in">
                                      <p:cBhvr>
                                        <p:cTn dur="1000"/>
                                        <p:tgtEl>
                                          <p:spTgt spid="4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3" name="Shape 503"/>
        <p:cNvGrpSpPr/>
        <p:nvPr/>
      </p:nvGrpSpPr>
      <p:grpSpPr>
        <a:xfrm>
          <a:off x="0" y="0"/>
          <a:ext cx="0" cy="0"/>
          <a:chOff x="0" y="0"/>
          <a:chExt cx="0" cy="0"/>
        </a:xfrm>
      </p:grpSpPr>
      <p:sp>
        <p:nvSpPr>
          <p:cNvPr id="504" name="Google Shape;504;p17"/>
          <p:cNvSpPr/>
          <p:nvPr/>
        </p:nvSpPr>
        <p:spPr>
          <a:xfrm>
            <a:off x="502920" y="256032"/>
            <a:ext cx="1115568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216"/>
              </a:buClr>
              <a:buSzPts val="2600"/>
              <a:buFont typeface="Arial"/>
              <a:buNone/>
            </a:pPr>
            <a:r>
              <a:rPr b="1" i="0" lang="en-US" sz="2600" u="none" cap="none" strike="noStrike">
                <a:solidFill>
                  <a:srgbClr val="1F1216"/>
                </a:solidFill>
                <a:latin typeface="Arial"/>
                <a:ea typeface="Arial"/>
                <a:cs typeface="Arial"/>
                <a:sym typeface="Arial"/>
              </a:rPr>
              <a:t>Floor Leader Cheat Card</a:t>
            </a:r>
            <a:endParaRPr b="0" i="0" sz="2600" u="none" cap="none" strike="noStrike">
              <a:solidFill>
                <a:schemeClr val="dk1"/>
              </a:solidFill>
              <a:latin typeface="Trebuchet MS"/>
              <a:ea typeface="Trebuchet MS"/>
              <a:cs typeface="Trebuchet MS"/>
              <a:sym typeface="Trebuchet MS"/>
            </a:endParaRPr>
          </a:p>
        </p:txBody>
      </p:sp>
      <p:cxnSp>
        <p:nvCxnSpPr>
          <p:cNvPr id="505" name="Google Shape;505;p17"/>
          <p:cNvCxnSpPr/>
          <p:nvPr/>
        </p:nvCxnSpPr>
        <p:spPr>
          <a:xfrm>
            <a:off x="502920" y="896112"/>
            <a:ext cx="11155680" cy="0"/>
          </a:xfrm>
          <a:prstGeom prst="straightConnector1">
            <a:avLst/>
          </a:prstGeom>
          <a:noFill/>
          <a:ln cap="flat" cmpd="sng" w="25400">
            <a:solidFill>
              <a:srgbClr val="8B3A4F"/>
            </a:solidFill>
            <a:prstDash val="solid"/>
            <a:round/>
            <a:headEnd len="sm" w="sm" type="none"/>
            <a:tailEnd len="sm" w="sm" type="none"/>
          </a:ln>
        </p:spPr>
      </p:cxnSp>
      <p:sp>
        <p:nvSpPr>
          <p:cNvPr id="506" name="Google Shape;506;p17"/>
          <p:cNvSpPr/>
          <p:nvPr/>
        </p:nvSpPr>
        <p:spPr>
          <a:xfrm>
            <a:off x="5730240" y="6537960"/>
            <a:ext cx="73140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17</a:t>
            </a:r>
            <a:endParaRPr b="0" i="0" sz="1000" u="none" cap="none" strike="noStrike">
              <a:solidFill>
                <a:schemeClr val="dk1"/>
              </a:solidFill>
              <a:latin typeface="Trebuchet MS"/>
              <a:ea typeface="Trebuchet MS"/>
              <a:cs typeface="Trebuchet MS"/>
              <a:sym typeface="Trebuchet MS"/>
            </a:endParaRPr>
          </a:p>
        </p:txBody>
      </p:sp>
      <p:sp>
        <p:nvSpPr>
          <p:cNvPr id="507" name="Google Shape;507;p17"/>
          <p:cNvSpPr/>
          <p:nvPr/>
        </p:nvSpPr>
        <p:spPr>
          <a:xfrm>
            <a:off x="502920" y="1051560"/>
            <a:ext cx="1115568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400"/>
              <a:buFont typeface="Arial"/>
              <a:buNone/>
            </a:pPr>
            <a:r>
              <a:rPr b="0" i="1" lang="en-US" sz="1400" u="none" cap="none" strike="noStrike">
                <a:solidFill>
                  <a:srgbClr val="64748B"/>
                </a:solidFill>
                <a:latin typeface="Arial"/>
                <a:ea typeface="Arial"/>
                <a:cs typeface="Arial"/>
                <a:sym typeface="Arial"/>
              </a:rPr>
              <a:t>Tear this page out and keep it on the floor.  A Remarkable experience, every Client, every time.</a:t>
            </a:r>
            <a:endParaRPr b="0" i="0" sz="1400" u="none" cap="none" strike="noStrike">
              <a:solidFill>
                <a:schemeClr val="dk1"/>
              </a:solidFill>
              <a:latin typeface="Trebuchet MS"/>
              <a:ea typeface="Trebuchet MS"/>
              <a:cs typeface="Trebuchet MS"/>
              <a:sym typeface="Trebuchet MS"/>
            </a:endParaRPr>
          </a:p>
        </p:txBody>
      </p:sp>
      <p:sp>
        <p:nvSpPr>
          <p:cNvPr id="508" name="Google Shape;508;p17"/>
          <p:cNvSpPr/>
          <p:nvPr/>
        </p:nvSpPr>
        <p:spPr>
          <a:xfrm>
            <a:off x="502920" y="1508760"/>
            <a:ext cx="5486400" cy="4572000"/>
          </a:xfrm>
          <a:prstGeom prst="roundRect">
            <a:avLst>
              <a:gd fmla="val 2000" name="adj"/>
            </a:avLst>
          </a:prstGeom>
          <a:solidFill>
            <a:srgbClr val="F8FAFC"/>
          </a:solidFill>
          <a:ln>
            <a:noFill/>
          </a:ln>
          <a:effectLst>
            <a:outerShdw blurRad="76200" rotWithShape="0" algn="bl" dir="8100000" dist="25400">
              <a:srgbClr val="000000">
                <a:alpha val="705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9" name="Google Shape;509;p17"/>
          <p:cNvSpPr/>
          <p:nvPr/>
        </p:nvSpPr>
        <p:spPr>
          <a:xfrm>
            <a:off x="731520" y="1691640"/>
            <a:ext cx="50292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216"/>
              </a:buClr>
              <a:buSzPts val="1600"/>
              <a:buFont typeface="Arial"/>
              <a:buNone/>
            </a:pPr>
            <a:r>
              <a:rPr b="1" i="0" lang="en-US" sz="1600" u="none" cap="none" strike="noStrike">
                <a:solidFill>
                  <a:srgbClr val="1F1216"/>
                </a:solidFill>
                <a:latin typeface="Arial"/>
                <a:ea typeface="Arial"/>
                <a:cs typeface="Arial"/>
                <a:sym typeface="Arial"/>
              </a:rPr>
              <a:t>CARE — The Whole Job</a:t>
            </a:r>
            <a:endParaRPr b="0" i="0" sz="1600" u="none" cap="none" strike="noStrike">
              <a:solidFill>
                <a:schemeClr val="dk1"/>
              </a:solidFill>
              <a:latin typeface="Trebuchet MS"/>
              <a:ea typeface="Trebuchet MS"/>
              <a:cs typeface="Trebuchet MS"/>
              <a:sym typeface="Trebuchet MS"/>
            </a:endParaRPr>
          </a:p>
        </p:txBody>
      </p:sp>
      <p:sp>
        <p:nvSpPr>
          <p:cNvPr id="510" name="Google Shape;510;p17"/>
          <p:cNvSpPr/>
          <p:nvPr/>
        </p:nvSpPr>
        <p:spPr>
          <a:xfrm>
            <a:off x="777240" y="2240280"/>
            <a:ext cx="502920" cy="502920"/>
          </a:xfrm>
          <a:prstGeom prst="ellipse">
            <a:avLst/>
          </a:prstGeom>
          <a:solidFill>
            <a:srgbClr val="8B3A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p17"/>
          <p:cNvSpPr/>
          <p:nvPr/>
        </p:nvSpPr>
        <p:spPr>
          <a:xfrm>
            <a:off x="777240" y="2313432"/>
            <a:ext cx="50292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C</a:t>
            </a:r>
            <a:endParaRPr b="0" i="0" sz="1600" u="none" cap="none" strike="noStrike">
              <a:solidFill>
                <a:schemeClr val="dk1"/>
              </a:solidFill>
              <a:latin typeface="Trebuchet MS"/>
              <a:ea typeface="Trebuchet MS"/>
              <a:cs typeface="Trebuchet MS"/>
              <a:sym typeface="Trebuchet MS"/>
            </a:endParaRPr>
          </a:p>
        </p:txBody>
      </p:sp>
      <p:sp>
        <p:nvSpPr>
          <p:cNvPr id="512" name="Google Shape;512;p17"/>
          <p:cNvSpPr/>
          <p:nvPr/>
        </p:nvSpPr>
        <p:spPr>
          <a:xfrm>
            <a:off x="1463040" y="2240280"/>
            <a:ext cx="42062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216"/>
              </a:buClr>
              <a:buSzPts val="1500"/>
              <a:buFont typeface="Arial"/>
              <a:buNone/>
            </a:pPr>
            <a:r>
              <a:rPr b="1" i="0" lang="en-US" sz="1500" u="none" cap="none" strike="noStrike">
                <a:solidFill>
                  <a:srgbClr val="1F1216"/>
                </a:solidFill>
                <a:latin typeface="Arial"/>
                <a:ea typeface="Arial"/>
                <a:cs typeface="Arial"/>
                <a:sym typeface="Arial"/>
              </a:rPr>
              <a:t>Connect</a:t>
            </a:r>
            <a:endParaRPr b="0" i="0" sz="1500" u="none" cap="none" strike="noStrike">
              <a:solidFill>
                <a:schemeClr val="dk1"/>
              </a:solidFill>
              <a:latin typeface="Trebuchet MS"/>
              <a:ea typeface="Trebuchet MS"/>
              <a:cs typeface="Trebuchet MS"/>
              <a:sym typeface="Trebuchet MS"/>
            </a:endParaRPr>
          </a:p>
        </p:txBody>
      </p:sp>
      <p:sp>
        <p:nvSpPr>
          <p:cNvPr id="513" name="Google Shape;513;p17"/>
          <p:cNvSpPr/>
          <p:nvPr/>
        </p:nvSpPr>
        <p:spPr>
          <a:xfrm>
            <a:off x="1463040" y="2532888"/>
            <a:ext cx="42062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200"/>
              <a:buFont typeface="Arial"/>
              <a:buNone/>
            </a:pPr>
            <a:r>
              <a:rPr b="0" i="0" lang="en-US" sz="1200" u="none" cap="none" strike="noStrike">
                <a:solidFill>
                  <a:srgbClr val="64748B"/>
                </a:solidFill>
                <a:latin typeface="Arial"/>
                <a:ea typeface="Arial"/>
                <a:cs typeface="Arial"/>
                <a:sym typeface="Arial"/>
              </a:rPr>
              <a:t>Greet every Client twice. Keep them warm. Hand off with confidence.</a:t>
            </a:r>
            <a:endParaRPr b="0" i="0" sz="1200" u="none" cap="none" strike="noStrike">
              <a:solidFill>
                <a:schemeClr val="dk1"/>
              </a:solidFill>
              <a:latin typeface="Trebuchet MS"/>
              <a:ea typeface="Trebuchet MS"/>
              <a:cs typeface="Trebuchet MS"/>
              <a:sym typeface="Trebuchet MS"/>
            </a:endParaRPr>
          </a:p>
        </p:txBody>
      </p:sp>
      <p:sp>
        <p:nvSpPr>
          <p:cNvPr id="514" name="Google Shape;514;p17"/>
          <p:cNvSpPr/>
          <p:nvPr/>
        </p:nvSpPr>
        <p:spPr>
          <a:xfrm>
            <a:off x="777240" y="3108960"/>
            <a:ext cx="502920" cy="502920"/>
          </a:xfrm>
          <a:prstGeom prst="ellipse">
            <a:avLst/>
          </a:prstGeom>
          <a:solidFill>
            <a:srgbClr val="8B3A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p17"/>
          <p:cNvSpPr/>
          <p:nvPr/>
        </p:nvSpPr>
        <p:spPr>
          <a:xfrm>
            <a:off x="777240" y="3182112"/>
            <a:ext cx="50292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A</a:t>
            </a:r>
            <a:endParaRPr b="0" i="0" sz="1600" u="none" cap="none" strike="noStrike">
              <a:solidFill>
                <a:schemeClr val="dk1"/>
              </a:solidFill>
              <a:latin typeface="Trebuchet MS"/>
              <a:ea typeface="Trebuchet MS"/>
              <a:cs typeface="Trebuchet MS"/>
              <a:sym typeface="Trebuchet MS"/>
            </a:endParaRPr>
          </a:p>
        </p:txBody>
      </p:sp>
      <p:sp>
        <p:nvSpPr>
          <p:cNvPr id="516" name="Google Shape;516;p17"/>
          <p:cNvSpPr/>
          <p:nvPr/>
        </p:nvSpPr>
        <p:spPr>
          <a:xfrm>
            <a:off x="1463040" y="3108960"/>
            <a:ext cx="42062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216"/>
              </a:buClr>
              <a:buSzPts val="1500"/>
              <a:buFont typeface="Arial"/>
              <a:buNone/>
            </a:pPr>
            <a:r>
              <a:rPr b="1" i="0" lang="en-US" sz="1500" u="none" cap="none" strike="noStrike">
                <a:solidFill>
                  <a:srgbClr val="1F1216"/>
                </a:solidFill>
                <a:latin typeface="Arial"/>
                <a:ea typeface="Arial"/>
                <a:cs typeface="Arial"/>
                <a:sym typeface="Arial"/>
              </a:rPr>
              <a:t>Assess</a:t>
            </a:r>
            <a:endParaRPr b="0" i="0" sz="1500" u="none" cap="none" strike="noStrike">
              <a:solidFill>
                <a:schemeClr val="dk1"/>
              </a:solidFill>
              <a:latin typeface="Trebuchet MS"/>
              <a:ea typeface="Trebuchet MS"/>
              <a:cs typeface="Trebuchet MS"/>
              <a:sym typeface="Trebuchet MS"/>
            </a:endParaRPr>
          </a:p>
        </p:txBody>
      </p:sp>
      <p:sp>
        <p:nvSpPr>
          <p:cNvPr id="517" name="Google Shape;517;p17"/>
          <p:cNvSpPr/>
          <p:nvPr/>
        </p:nvSpPr>
        <p:spPr>
          <a:xfrm>
            <a:off x="1463040" y="3401568"/>
            <a:ext cx="42062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200"/>
              <a:buFont typeface="Arial"/>
              <a:buNone/>
            </a:pPr>
            <a:r>
              <a:rPr b="0" i="0" lang="en-US" sz="1200" u="none" cap="none" strike="noStrike">
                <a:solidFill>
                  <a:srgbClr val="64748B"/>
                </a:solidFill>
                <a:latin typeface="Arial"/>
                <a:ea typeface="Arial"/>
                <a:cs typeface="Arial"/>
                <a:sym typeface="Arial"/>
              </a:rPr>
              <a:t>Read every demo. Protect green flags, answer red flags.</a:t>
            </a:r>
            <a:endParaRPr b="0" i="0" sz="1200" u="none" cap="none" strike="noStrike">
              <a:solidFill>
                <a:schemeClr val="dk1"/>
              </a:solidFill>
              <a:latin typeface="Trebuchet MS"/>
              <a:ea typeface="Trebuchet MS"/>
              <a:cs typeface="Trebuchet MS"/>
              <a:sym typeface="Trebuchet MS"/>
            </a:endParaRPr>
          </a:p>
        </p:txBody>
      </p:sp>
      <p:sp>
        <p:nvSpPr>
          <p:cNvPr id="518" name="Google Shape;518;p17"/>
          <p:cNvSpPr/>
          <p:nvPr/>
        </p:nvSpPr>
        <p:spPr>
          <a:xfrm>
            <a:off x="777240" y="3977640"/>
            <a:ext cx="502920" cy="502920"/>
          </a:xfrm>
          <a:prstGeom prst="ellipse">
            <a:avLst/>
          </a:prstGeom>
          <a:solidFill>
            <a:srgbClr val="8B3A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 name="Google Shape;519;p17"/>
          <p:cNvSpPr/>
          <p:nvPr/>
        </p:nvSpPr>
        <p:spPr>
          <a:xfrm>
            <a:off x="777240" y="4050792"/>
            <a:ext cx="50292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R</a:t>
            </a:r>
            <a:endParaRPr b="0" i="0" sz="1600" u="none" cap="none" strike="noStrike">
              <a:solidFill>
                <a:schemeClr val="dk1"/>
              </a:solidFill>
              <a:latin typeface="Trebuchet MS"/>
              <a:ea typeface="Trebuchet MS"/>
              <a:cs typeface="Trebuchet MS"/>
              <a:sym typeface="Trebuchet MS"/>
            </a:endParaRPr>
          </a:p>
        </p:txBody>
      </p:sp>
      <p:sp>
        <p:nvSpPr>
          <p:cNvPr id="520" name="Google Shape;520;p17"/>
          <p:cNvSpPr/>
          <p:nvPr/>
        </p:nvSpPr>
        <p:spPr>
          <a:xfrm>
            <a:off x="1463040" y="3977640"/>
            <a:ext cx="42062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216"/>
              </a:buClr>
              <a:buSzPts val="1500"/>
              <a:buFont typeface="Arial"/>
              <a:buNone/>
            </a:pPr>
            <a:r>
              <a:rPr b="1" i="0" lang="en-US" sz="1500" u="none" cap="none" strike="noStrike">
                <a:solidFill>
                  <a:srgbClr val="1F1216"/>
                </a:solidFill>
                <a:latin typeface="Arial"/>
                <a:ea typeface="Arial"/>
                <a:cs typeface="Arial"/>
                <a:sym typeface="Arial"/>
              </a:rPr>
              <a:t>Respond</a:t>
            </a:r>
            <a:endParaRPr b="0" i="0" sz="1500" u="none" cap="none" strike="noStrike">
              <a:solidFill>
                <a:schemeClr val="dk1"/>
              </a:solidFill>
              <a:latin typeface="Trebuchet MS"/>
              <a:ea typeface="Trebuchet MS"/>
              <a:cs typeface="Trebuchet MS"/>
              <a:sym typeface="Trebuchet MS"/>
            </a:endParaRPr>
          </a:p>
        </p:txBody>
      </p:sp>
      <p:sp>
        <p:nvSpPr>
          <p:cNvPr id="521" name="Google Shape;521;p17"/>
          <p:cNvSpPr/>
          <p:nvPr/>
        </p:nvSpPr>
        <p:spPr>
          <a:xfrm>
            <a:off x="1463040" y="4270248"/>
            <a:ext cx="42062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200"/>
              <a:buFont typeface="Arial"/>
              <a:buNone/>
            </a:pPr>
            <a:r>
              <a:rPr b="0" i="0" lang="en-US" sz="1200" u="none" cap="none" strike="noStrike">
                <a:solidFill>
                  <a:srgbClr val="64748B"/>
                </a:solidFill>
                <a:latin typeface="Arial"/>
                <a:ea typeface="Arial"/>
                <a:cs typeface="Arial"/>
                <a:sym typeface="Arial"/>
              </a:rPr>
              <a:t>Step in to save a red flag or amplify a WOW, then step back.</a:t>
            </a:r>
            <a:endParaRPr b="0" i="0" sz="1200" u="none" cap="none" strike="noStrike">
              <a:solidFill>
                <a:schemeClr val="dk1"/>
              </a:solidFill>
              <a:latin typeface="Trebuchet MS"/>
              <a:ea typeface="Trebuchet MS"/>
              <a:cs typeface="Trebuchet MS"/>
              <a:sym typeface="Trebuchet MS"/>
            </a:endParaRPr>
          </a:p>
        </p:txBody>
      </p:sp>
      <p:sp>
        <p:nvSpPr>
          <p:cNvPr id="522" name="Google Shape;522;p17"/>
          <p:cNvSpPr/>
          <p:nvPr/>
        </p:nvSpPr>
        <p:spPr>
          <a:xfrm>
            <a:off x="777240" y="4846320"/>
            <a:ext cx="502920" cy="502920"/>
          </a:xfrm>
          <a:prstGeom prst="ellipse">
            <a:avLst/>
          </a:prstGeom>
          <a:solidFill>
            <a:srgbClr val="8B3A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 name="Google Shape;523;p17"/>
          <p:cNvSpPr/>
          <p:nvPr/>
        </p:nvSpPr>
        <p:spPr>
          <a:xfrm>
            <a:off x="777240" y="4919472"/>
            <a:ext cx="50292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E</a:t>
            </a:r>
            <a:endParaRPr b="0" i="0" sz="1600" u="none" cap="none" strike="noStrike">
              <a:solidFill>
                <a:schemeClr val="dk1"/>
              </a:solidFill>
              <a:latin typeface="Trebuchet MS"/>
              <a:ea typeface="Trebuchet MS"/>
              <a:cs typeface="Trebuchet MS"/>
              <a:sym typeface="Trebuchet MS"/>
            </a:endParaRPr>
          </a:p>
        </p:txBody>
      </p:sp>
      <p:sp>
        <p:nvSpPr>
          <p:cNvPr id="524" name="Google Shape;524;p17"/>
          <p:cNvSpPr/>
          <p:nvPr/>
        </p:nvSpPr>
        <p:spPr>
          <a:xfrm>
            <a:off x="1463040" y="4846320"/>
            <a:ext cx="42062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216"/>
              </a:buClr>
              <a:buSzPts val="1500"/>
              <a:buFont typeface="Arial"/>
              <a:buNone/>
            </a:pPr>
            <a:r>
              <a:rPr b="1" i="0" lang="en-US" sz="1500" u="none" cap="none" strike="noStrike">
                <a:solidFill>
                  <a:srgbClr val="1F1216"/>
                </a:solidFill>
                <a:latin typeface="Arial"/>
                <a:ea typeface="Arial"/>
                <a:cs typeface="Arial"/>
                <a:sym typeface="Arial"/>
              </a:rPr>
              <a:t>Elevate</a:t>
            </a:r>
            <a:endParaRPr b="0" i="0" sz="1500" u="none" cap="none" strike="noStrike">
              <a:solidFill>
                <a:schemeClr val="dk1"/>
              </a:solidFill>
              <a:latin typeface="Trebuchet MS"/>
              <a:ea typeface="Trebuchet MS"/>
              <a:cs typeface="Trebuchet MS"/>
              <a:sym typeface="Trebuchet MS"/>
            </a:endParaRPr>
          </a:p>
        </p:txBody>
      </p:sp>
      <p:sp>
        <p:nvSpPr>
          <p:cNvPr id="525" name="Google Shape;525;p17"/>
          <p:cNvSpPr/>
          <p:nvPr/>
        </p:nvSpPr>
        <p:spPr>
          <a:xfrm>
            <a:off x="1463040" y="5138928"/>
            <a:ext cx="42062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200"/>
              <a:buFont typeface="Arial"/>
              <a:buNone/>
            </a:pPr>
            <a:r>
              <a:rPr b="0" i="0" lang="en-US" sz="1200" u="none" cap="none" strike="noStrike">
                <a:solidFill>
                  <a:srgbClr val="64748B"/>
                </a:solidFill>
                <a:latin typeface="Arial"/>
                <a:ea typeface="Arial"/>
                <a:cs typeface="Arial"/>
                <a:sym typeface="Arial"/>
              </a:rPr>
              <a:t>Coach what you saw: in the moment, backroom, and 1:1.</a:t>
            </a:r>
            <a:endParaRPr b="0" i="0" sz="1200" u="none" cap="none" strike="noStrike">
              <a:solidFill>
                <a:schemeClr val="dk1"/>
              </a:solidFill>
              <a:latin typeface="Trebuchet MS"/>
              <a:ea typeface="Trebuchet MS"/>
              <a:cs typeface="Trebuchet MS"/>
              <a:sym typeface="Trebuchet MS"/>
            </a:endParaRPr>
          </a:p>
        </p:txBody>
      </p:sp>
      <p:sp>
        <p:nvSpPr>
          <p:cNvPr id="526" name="Google Shape;526;p17"/>
          <p:cNvSpPr/>
          <p:nvPr/>
        </p:nvSpPr>
        <p:spPr>
          <a:xfrm>
            <a:off x="6217920" y="1508760"/>
            <a:ext cx="5440680" cy="4572000"/>
          </a:xfrm>
          <a:prstGeom prst="roundRect">
            <a:avLst>
              <a:gd fmla="val 2000" name="adj"/>
            </a:avLst>
          </a:prstGeom>
          <a:solidFill>
            <a:srgbClr val="F5E6EA"/>
          </a:solidFill>
          <a:ln>
            <a:noFill/>
          </a:ln>
          <a:effectLst>
            <a:outerShdw blurRad="76200" rotWithShape="0" algn="bl" dir="8100000" dist="25400">
              <a:srgbClr val="000000">
                <a:alpha val="705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 name="Google Shape;527;p17"/>
          <p:cNvSpPr/>
          <p:nvPr/>
        </p:nvSpPr>
        <p:spPr>
          <a:xfrm>
            <a:off x="6446520" y="1691640"/>
            <a:ext cx="50292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216"/>
              </a:buClr>
              <a:buSzPts val="1600"/>
              <a:buFont typeface="Arial"/>
              <a:buNone/>
            </a:pPr>
            <a:r>
              <a:rPr b="1" i="0" lang="en-US" sz="1600" u="none" cap="none" strike="noStrike">
                <a:solidFill>
                  <a:srgbClr val="1F1216"/>
                </a:solidFill>
                <a:latin typeface="Arial"/>
                <a:ea typeface="Arial"/>
                <a:cs typeface="Arial"/>
                <a:sym typeface="Arial"/>
              </a:rPr>
              <a:t>AAH — How to Step In</a:t>
            </a:r>
            <a:endParaRPr b="0" i="0" sz="1600" u="none" cap="none" strike="noStrike">
              <a:solidFill>
                <a:schemeClr val="dk1"/>
              </a:solidFill>
              <a:latin typeface="Trebuchet MS"/>
              <a:ea typeface="Trebuchet MS"/>
              <a:cs typeface="Trebuchet MS"/>
              <a:sym typeface="Trebuchet MS"/>
            </a:endParaRPr>
          </a:p>
        </p:txBody>
      </p:sp>
      <p:sp>
        <p:nvSpPr>
          <p:cNvPr id="528" name="Google Shape;528;p17"/>
          <p:cNvSpPr/>
          <p:nvPr/>
        </p:nvSpPr>
        <p:spPr>
          <a:xfrm>
            <a:off x="6492240" y="2286000"/>
            <a:ext cx="502920" cy="502920"/>
          </a:xfrm>
          <a:prstGeom prst="ellipse">
            <a:avLst/>
          </a:prstGeom>
          <a:solidFill>
            <a:srgbClr val="8B3A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9" name="Google Shape;529;p17"/>
          <p:cNvSpPr/>
          <p:nvPr/>
        </p:nvSpPr>
        <p:spPr>
          <a:xfrm>
            <a:off x="6492240" y="2359152"/>
            <a:ext cx="50292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A</a:t>
            </a:r>
            <a:endParaRPr b="0" i="0" sz="1600" u="none" cap="none" strike="noStrike">
              <a:solidFill>
                <a:schemeClr val="dk1"/>
              </a:solidFill>
              <a:latin typeface="Trebuchet MS"/>
              <a:ea typeface="Trebuchet MS"/>
              <a:cs typeface="Trebuchet MS"/>
              <a:sym typeface="Trebuchet MS"/>
            </a:endParaRPr>
          </a:p>
        </p:txBody>
      </p:sp>
      <p:sp>
        <p:nvSpPr>
          <p:cNvPr id="530" name="Google Shape;530;p17"/>
          <p:cNvSpPr/>
          <p:nvPr/>
        </p:nvSpPr>
        <p:spPr>
          <a:xfrm>
            <a:off x="7178040" y="2286000"/>
            <a:ext cx="42062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216"/>
              </a:buClr>
              <a:buSzPts val="1500"/>
              <a:buFont typeface="Arial"/>
              <a:buNone/>
            </a:pPr>
            <a:r>
              <a:rPr b="1" i="0" lang="en-US" sz="1500" u="none" cap="none" strike="noStrike">
                <a:solidFill>
                  <a:srgbClr val="1F1216"/>
                </a:solidFill>
                <a:latin typeface="Arial"/>
                <a:ea typeface="Arial"/>
                <a:cs typeface="Arial"/>
                <a:sym typeface="Arial"/>
              </a:rPr>
              <a:t>Acknowledge</a:t>
            </a:r>
            <a:endParaRPr b="0" i="0" sz="1500" u="none" cap="none" strike="noStrike">
              <a:solidFill>
                <a:schemeClr val="dk1"/>
              </a:solidFill>
              <a:latin typeface="Trebuchet MS"/>
              <a:ea typeface="Trebuchet MS"/>
              <a:cs typeface="Trebuchet MS"/>
              <a:sym typeface="Trebuchet MS"/>
            </a:endParaRPr>
          </a:p>
        </p:txBody>
      </p:sp>
      <p:sp>
        <p:nvSpPr>
          <p:cNvPr id="531" name="Google Shape;531;p17"/>
          <p:cNvSpPr/>
          <p:nvPr/>
        </p:nvSpPr>
        <p:spPr>
          <a:xfrm>
            <a:off x="7178040" y="2606040"/>
            <a:ext cx="420624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3A4F"/>
              </a:buClr>
              <a:buSzPts val="1300"/>
              <a:buFont typeface="Arial"/>
              <a:buNone/>
            </a:pPr>
            <a:r>
              <a:rPr b="0" i="1" lang="en-US" sz="1300" u="none" cap="none" strike="noStrike">
                <a:solidFill>
                  <a:srgbClr val="8B3A4F"/>
                </a:solidFill>
                <a:latin typeface="Arial"/>
                <a:ea typeface="Arial"/>
                <a:cs typeface="Arial"/>
                <a:sym typeface="Arial"/>
              </a:rPr>
              <a:t>"I want to add to what [Name] is showing you."</a:t>
            </a:r>
            <a:endParaRPr b="0" i="0" sz="1300" u="none" cap="none" strike="noStrike">
              <a:solidFill>
                <a:schemeClr val="dk1"/>
              </a:solidFill>
              <a:latin typeface="Trebuchet MS"/>
              <a:ea typeface="Trebuchet MS"/>
              <a:cs typeface="Trebuchet MS"/>
              <a:sym typeface="Trebuchet MS"/>
            </a:endParaRPr>
          </a:p>
        </p:txBody>
      </p:sp>
      <p:sp>
        <p:nvSpPr>
          <p:cNvPr id="532" name="Google Shape;532;p17"/>
          <p:cNvSpPr/>
          <p:nvPr/>
        </p:nvSpPr>
        <p:spPr>
          <a:xfrm>
            <a:off x="6492240" y="3291840"/>
            <a:ext cx="502920" cy="502920"/>
          </a:xfrm>
          <a:prstGeom prst="ellipse">
            <a:avLst/>
          </a:prstGeom>
          <a:solidFill>
            <a:srgbClr val="8B3A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 name="Google Shape;533;p17"/>
          <p:cNvSpPr/>
          <p:nvPr/>
        </p:nvSpPr>
        <p:spPr>
          <a:xfrm>
            <a:off x="6492240" y="3364992"/>
            <a:ext cx="50292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A</a:t>
            </a:r>
            <a:endParaRPr b="0" i="0" sz="1600" u="none" cap="none" strike="noStrike">
              <a:solidFill>
                <a:schemeClr val="dk1"/>
              </a:solidFill>
              <a:latin typeface="Trebuchet MS"/>
              <a:ea typeface="Trebuchet MS"/>
              <a:cs typeface="Trebuchet MS"/>
              <a:sym typeface="Trebuchet MS"/>
            </a:endParaRPr>
          </a:p>
        </p:txBody>
      </p:sp>
      <p:sp>
        <p:nvSpPr>
          <p:cNvPr id="534" name="Google Shape;534;p17"/>
          <p:cNvSpPr/>
          <p:nvPr/>
        </p:nvSpPr>
        <p:spPr>
          <a:xfrm>
            <a:off x="7178040" y="3291840"/>
            <a:ext cx="42062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216"/>
              </a:buClr>
              <a:buSzPts val="1500"/>
              <a:buFont typeface="Arial"/>
              <a:buNone/>
            </a:pPr>
            <a:r>
              <a:rPr b="1" i="0" lang="en-US" sz="1500" u="none" cap="none" strike="noStrike">
                <a:solidFill>
                  <a:srgbClr val="1F1216"/>
                </a:solidFill>
                <a:latin typeface="Arial"/>
                <a:ea typeface="Arial"/>
                <a:cs typeface="Arial"/>
                <a:sym typeface="Arial"/>
              </a:rPr>
              <a:t>Add Value</a:t>
            </a:r>
            <a:endParaRPr b="0" i="0" sz="1500" u="none" cap="none" strike="noStrike">
              <a:solidFill>
                <a:schemeClr val="dk1"/>
              </a:solidFill>
              <a:latin typeface="Trebuchet MS"/>
              <a:ea typeface="Trebuchet MS"/>
              <a:cs typeface="Trebuchet MS"/>
              <a:sym typeface="Trebuchet MS"/>
            </a:endParaRPr>
          </a:p>
        </p:txBody>
      </p:sp>
      <p:sp>
        <p:nvSpPr>
          <p:cNvPr id="535" name="Google Shape;535;p17"/>
          <p:cNvSpPr/>
          <p:nvPr/>
        </p:nvSpPr>
        <p:spPr>
          <a:xfrm>
            <a:off x="7178040" y="3611880"/>
            <a:ext cx="420624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3A4F"/>
              </a:buClr>
              <a:buSzPts val="1300"/>
              <a:buFont typeface="Arial"/>
              <a:buNone/>
            </a:pPr>
            <a:r>
              <a:rPr b="0" i="1" lang="en-US" sz="1300" u="none" cap="none" strike="noStrike">
                <a:solidFill>
                  <a:srgbClr val="8B3A4F"/>
                </a:solidFill>
                <a:latin typeface="Arial"/>
                <a:ea typeface="Arial"/>
                <a:cs typeface="Arial"/>
                <a:sym typeface="Arial"/>
              </a:rPr>
              <a:t>"I can see you are walking straighter, with no limp."</a:t>
            </a:r>
            <a:endParaRPr b="0" i="0" sz="1300" u="none" cap="none" strike="noStrike">
              <a:solidFill>
                <a:schemeClr val="dk1"/>
              </a:solidFill>
              <a:latin typeface="Trebuchet MS"/>
              <a:ea typeface="Trebuchet MS"/>
              <a:cs typeface="Trebuchet MS"/>
              <a:sym typeface="Trebuchet MS"/>
            </a:endParaRPr>
          </a:p>
        </p:txBody>
      </p:sp>
      <p:sp>
        <p:nvSpPr>
          <p:cNvPr id="536" name="Google Shape;536;p17"/>
          <p:cNvSpPr/>
          <p:nvPr/>
        </p:nvSpPr>
        <p:spPr>
          <a:xfrm>
            <a:off x="6492240" y="4297680"/>
            <a:ext cx="502920" cy="502920"/>
          </a:xfrm>
          <a:prstGeom prst="ellipse">
            <a:avLst/>
          </a:prstGeom>
          <a:solidFill>
            <a:srgbClr val="8B3A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p17"/>
          <p:cNvSpPr/>
          <p:nvPr/>
        </p:nvSpPr>
        <p:spPr>
          <a:xfrm>
            <a:off x="6492240" y="4370832"/>
            <a:ext cx="50292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H</a:t>
            </a:r>
            <a:endParaRPr b="0" i="0" sz="1600" u="none" cap="none" strike="noStrike">
              <a:solidFill>
                <a:schemeClr val="dk1"/>
              </a:solidFill>
              <a:latin typeface="Trebuchet MS"/>
              <a:ea typeface="Trebuchet MS"/>
              <a:cs typeface="Trebuchet MS"/>
              <a:sym typeface="Trebuchet MS"/>
            </a:endParaRPr>
          </a:p>
        </p:txBody>
      </p:sp>
      <p:sp>
        <p:nvSpPr>
          <p:cNvPr id="538" name="Google Shape;538;p17"/>
          <p:cNvSpPr/>
          <p:nvPr/>
        </p:nvSpPr>
        <p:spPr>
          <a:xfrm>
            <a:off x="7178040" y="4297680"/>
            <a:ext cx="42062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216"/>
              </a:buClr>
              <a:buSzPts val="1500"/>
              <a:buFont typeface="Arial"/>
              <a:buNone/>
            </a:pPr>
            <a:r>
              <a:rPr b="1" i="0" lang="en-US" sz="1500" u="none" cap="none" strike="noStrike">
                <a:solidFill>
                  <a:srgbClr val="1F1216"/>
                </a:solidFill>
                <a:latin typeface="Arial"/>
                <a:ea typeface="Arial"/>
                <a:cs typeface="Arial"/>
                <a:sym typeface="Arial"/>
              </a:rPr>
              <a:t>Hand Back</a:t>
            </a:r>
            <a:endParaRPr b="0" i="0" sz="1500" u="none" cap="none" strike="noStrike">
              <a:solidFill>
                <a:schemeClr val="dk1"/>
              </a:solidFill>
              <a:latin typeface="Trebuchet MS"/>
              <a:ea typeface="Trebuchet MS"/>
              <a:cs typeface="Trebuchet MS"/>
              <a:sym typeface="Trebuchet MS"/>
            </a:endParaRPr>
          </a:p>
        </p:txBody>
      </p:sp>
      <p:sp>
        <p:nvSpPr>
          <p:cNvPr id="539" name="Google Shape;539;p17"/>
          <p:cNvSpPr/>
          <p:nvPr/>
        </p:nvSpPr>
        <p:spPr>
          <a:xfrm>
            <a:off x="7178040" y="4617720"/>
            <a:ext cx="420624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3A4F"/>
              </a:buClr>
              <a:buSzPts val="1300"/>
              <a:buFont typeface="Arial"/>
              <a:buNone/>
            </a:pPr>
            <a:r>
              <a:rPr b="0" i="1" lang="en-US" sz="1300" u="none" cap="none" strike="noStrike">
                <a:solidFill>
                  <a:srgbClr val="8B3A4F"/>
                </a:solidFill>
                <a:latin typeface="Arial"/>
                <a:ea typeface="Arial"/>
                <a:cs typeface="Arial"/>
                <a:sym typeface="Arial"/>
              </a:rPr>
              <a:t>"[Name] will walk you through the next step."</a:t>
            </a:r>
            <a:endParaRPr b="0" i="0" sz="1300" u="none" cap="none" strike="noStrike">
              <a:solidFill>
                <a:schemeClr val="dk1"/>
              </a:solidFill>
              <a:latin typeface="Trebuchet MS"/>
              <a:ea typeface="Trebuchet MS"/>
              <a:cs typeface="Trebuchet MS"/>
              <a:sym typeface="Trebuchet MS"/>
            </a:endParaRPr>
          </a:p>
        </p:txBody>
      </p:sp>
      <p:pic>
        <p:nvPicPr>
          <p:cNvPr id="540" name="Google Shape;540;p17" title="caprec-2026-07-28-17-34-28.webm">
            <a:hlinkClick r:id="rId3"/>
          </p:cNvPr>
          <p:cNvPicPr preferRelativeResize="0"/>
          <p:nvPr/>
        </p:nvPicPr>
        <p:blipFill>
          <a:blip r:embed="rId4">
            <a:alphaModFix/>
          </a:blip>
          <a:stretch>
            <a:fillRect/>
          </a:stretch>
        </p:blipFill>
        <p:spPr>
          <a:xfrm>
            <a:off x="3810000" y="1714500"/>
            <a:ext cx="91440" cy="91440"/>
          </a:xfrm>
          <a:prstGeom prst="rect">
            <a:avLst/>
          </a:prstGeom>
          <a:noFill/>
          <a:ln>
            <a:noFill/>
          </a:ln>
        </p:spPr>
      </p:pic>
      <p:pic>
        <p:nvPicPr>
          <p:cNvPr id="541" name="Google Shape;541;p17" title="grok-image-6bee5419-570b-4123-8542-27b02a1104ea.jpg"/>
          <p:cNvPicPr preferRelativeResize="0"/>
          <p:nvPr/>
        </p:nvPicPr>
        <p:blipFill>
          <a:blip r:embed="rId5">
            <a:alphaModFix/>
          </a:blip>
          <a:stretch>
            <a:fillRect/>
          </a:stretch>
        </p:blipFill>
        <p:spPr>
          <a:xfrm>
            <a:off x="77450" y="5943600"/>
            <a:ext cx="1234419" cy="822950"/>
          </a:xfrm>
          <a:prstGeom prst="rect">
            <a:avLst/>
          </a:prstGeom>
          <a:noFill/>
          <a:ln>
            <a:noFill/>
          </a:ln>
        </p:spPr>
      </p:pic>
      <p:pic>
        <p:nvPicPr>
          <p:cNvPr id="542" name="Google Shape;542;p17" title="Picture1.png"/>
          <p:cNvPicPr preferRelativeResize="0"/>
          <p:nvPr/>
        </p:nvPicPr>
        <p:blipFill>
          <a:blip r:embed="rId6">
            <a:alphaModFix/>
          </a:blip>
          <a:stretch>
            <a:fillRect/>
          </a:stretch>
        </p:blipFill>
        <p:spPr>
          <a:xfrm>
            <a:off x="11186625" y="5943600"/>
            <a:ext cx="822950" cy="8229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40"/>
                                        </p:tgtEl>
                                        <p:attrNameLst>
                                          <p:attrName>style.visibility</p:attrName>
                                        </p:attrNameLst>
                                      </p:cBhvr>
                                      <p:to>
                                        <p:strVal val="visible"/>
                                      </p:to>
                                    </p:set>
                                    <p:animEffect filter="fade" transition="in">
                                      <p:cBhvr>
                                        <p:cTn dur="1000"/>
                                        <p:tgtEl>
                                          <p:spTgt spid="5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7" name="Shape 547"/>
        <p:cNvGrpSpPr/>
        <p:nvPr/>
      </p:nvGrpSpPr>
      <p:grpSpPr>
        <a:xfrm>
          <a:off x="0" y="0"/>
          <a:ext cx="0" cy="0"/>
          <a:chOff x="0" y="0"/>
          <a:chExt cx="0" cy="0"/>
        </a:xfrm>
      </p:grpSpPr>
      <p:sp>
        <p:nvSpPr>
          <p:cNvPr id="548" name="Google Shape;548;p18"/>
          <p:cNvSpPr/>
          <p:nvPr/>
        </p:nvSpPr>
        <p:spPr>
          <a:xfrm>
            <a:off x="502920" y="256032"/>
            <a:ext cx="1115568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216"/>
              </a:buClr>
              <a:buSzPts val="2600"/>
              <a:buFont typeface="Arial"/>
              <a:buNone/>
            </a:pPr>
            <a:r>
              <a:rPr b="1" i="0" lang="en-US" sz="2600" u="none" cap="none" strike="noStrike">
                <a:solidFill>
                  <a:srgbClr val="1F1216"/>
                </a:solidFill>
                <a:latin typeface="Arial"/>
                <a:ea typeface="Arial"/>
                <a:cs typeface="Arial"/>
                <a:sym typeface="Arial"/>
              </a:rPr>
              <a:t>Practice Scenarios</a:t>
            </a:r>
            <a:endParaRPr b="0" i="0" sz="2600" u="none" cap="none" strike="noStrike">
              <a:solidFill>
                <a:schemeClr val="dk1"/>
              </a:solidFill>
              <a:latin typeface="Trebuchet MS"/>
              <a:ea typeface="Trebuchet MS"/>
              <a:cs typeface="Trebuchet MS"/>
              <a:sym typeface="Trebuchet MS"/>
            </a:endParaRPr>
          </a:p>
        </p:txBody>
      </p:sp>
      <p:cxnSp>
        <p:nvCxnSpPr>
          <p:cNvPr id="549" name="Google Shape;549;p18"/>
          <p:cNvCxnSpPr/>
          <p:nvPr/>
        </p:nvCxnSpPr>
        <p:spPr>
          <a:xfrm>
            <a:off x="502920" y="896112"/>
            <a:ext cx="11155680" cy="0"/>
          </a:xfrm>
          <a:prstGeom prst="straightConnector1">
            <a:avLst/>
          </a:prstGeom>
          <a:noFill/>
          <a:ln cap="flat" cmpd="sng" w="25400">
            <a:solidFill>
              <a:srgbClr val="8B3A4F"/>
            </a:solidFill>
            <a:prstDash val="solid"/>
            <a:round/>
            <a:headEnd len="sm" w="sm" type="none"/>
            <a:tailEnd len="sm" w="sm" type="none"/>
          </a:ln>
        </p:spPr>
      </p:cxnSp>
      <p:sp>
        <p:nvSpPr>
          <p:cNvPr id="550" name="Google Shape;550;p18"/>
          <p:cNvSpPr/>
          <p:nvPr/>
        </p:nvSpPr>
        <p:spPr>
          <a:xfrm>
            <a:off x="5730240" y="6537960"/>
            <a:ext cx="73140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18</a:t>
            </a:r>
            <a:endParaRPr b="0" i="0" sz="1000" u="none" cap="none" strike="noStrike">
              <a:solidFill>
                <a:schemeClr val="dk1"/>
              </a:solidFill>
              <a:latin typeface="Trebuchet MS"/>
              <a:ea typeface="Trebuchet MS"/>
              <a:cs typeface="Trebuchet MS"/>
              <a:sym typeface="Trebuchet MS"/>
            </a:endParaRPr>
          </a:p>
        </p:txBody>
      </p:sp>
      <p:sp>
        <p:nvSpPr>
          <p:cNvPr id="551" name="Google Shape;551;p18"/>
          <p:cNvSpPr/>
          <p:nvPr/>
        </p:nvSpPr>
        <p:spPr>
          <a:xfrm>
            <a:off x="502920" y="1097280"/>
            <a:ext cx="111556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A1A20"/>
              </a:buClr>
              <a:buSzPts val="1400"/>
              <a:buFont typeface="Arial"/>
              <a:buNone/>
            </a:pPr>
            <a:r>
              <a:rPr b="0" i="0" lang="en-US" sz="1400" u="none" cap="none" strike="noStrike">
                <a:solidFill>
                  <a:srgbClr val="2A1A20"/>
                </a:solidFill>
                <a:latin typeface="Arial"/>
                <a:ea typeface="Arial"/>
                <a:cs typeface="Arial"/>
                <a:sym typeface="Arial"/>
              </a:rPr>
              <a:t>Use these four scenarios in team training and 1:1s. Read the scene, then discuss through the CARE lens.</a:t>
            </a:r>
            <a:endParaRPr b="0" i="0" sz="1400" u="none" cap="none" strike="noStrike">
              <a:solidFill>
                <a:schemeClr val="dk1"/>
              </a:solidFill>
              <a:latin typeface="Trebuchet MS"/>
              <a:ea typeface="Trebuchet MS"/>
              <a:cs typeface="Trebuchet MS"/>
              <a:sym typeface="Trebuchet MS"/>
            </a:endParaRPr>
          </a:p>
        </p:txBody>
      </p:sp>
      <p:sp>
        <p:nvSpPr>
          <p:cNvPr id="552" name="Google Shape;552;p18"/>
          <p:cNvSpPr/>
          <p:nvPr/>
        </p:nvSpPr>
        <p:spPr>
          <a:xfrm>
            <a:off x="502920" y="1645920"/>
            <a:ext cx="5532120" cy="2011680"/>
          </a:xfrm>
          <a:prstGeom prst="roundRect">
            <a:avLst>
              <a:gd fmla="val 4545" name="adj"/>
            </a:avLst>
          </a:prstGeom>
          <a:solidFill>
            <a:srgbClr val="F8FAFC"/>
          </a:solidFill>
          <a:ln>
            <a:noFill/>
          </a:ln>
          <a:effectLst>
            <a:outerShdw blurRad="76200" rotWithShape="0" algn="bl" dir="8100000" dist="25400">
              <a:srgbClr val="000000">
                <a:alpha val="705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 name="Google Shape;553;p18"/>
          <p:cNvSpPr/>
          <p:nvPr/>
        </p:nvSpPr>
        <p:spPr>
          <a:xfrm>
            <a:off x="731520" y="1965960"/>
            <a:ext cx="640080" cy="640080"/>
          </a:xfrm>
          <a:prstGeom prst="ellipse">
            <a:avLst/>
          </a:prstGeom>
          <a:solidFill>
            <a:srgbClr val="8B3A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 name="Google Shape;554;p18"/>
          <p:cNvSpPr/>
          <p:nvPr/>
        </p:nvSpPr>
        <p:spPr>
          <a:xfrm>
            <a:off x="731520" y="2084832"/>
            <a:ext cx="640080" cy="4114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1</a:t>
            </a:r>
            <a:endParaRPr b="0" i="0" sz="1800" u="none" cap="none" strike="noStrike">
              <a:solidFill>
                <a:schemeClr val="dk1"/>
              </a:solidFill>
              <a:latin typeface="Trebuchet MS"/>
              <a:ea typeface="Trebuchet MS"/>
              <a:cs typeface="Trebuchet MS"/>
              <a:sym typeface="Trebuchet MS"/>
            </a:endParaRPr>
          </a:p>
        </p:txBody>
      </p:sp>
      <p:sp>
        <p:nvSpPr>
          <p:cNvPr id="555" name="Google Shape;555;p18"/>
          <p:cNvSpPr/>
          <p:nvPr/>
        </p:nvSpPr>
        <p:spPr>
          <a:xfrm>
            <a:off x="1554480" y="1965960"/>
            <a:ext cx="42062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216"/>
              </a:buClr>
              <a:buSzPts val="1700"/>
              <a:buFont typeface="Arial"/>
              <a:buNone/>
            </a:pPr>
            <a:r>
              <a:rPr b="1" i="0" lang="en-US" sz="1700" u="none" cap="none" strike="noStrike">
                <a:solidFill>
                  <a:srgbClr val="1F1216"/>
                </a:solidFill>
                <a:latin typeface="Arial"/>
                <a:ea typeface="Arial"/>
                <a:cs typeface="Arial"/>
                <a:sym typeface="Arial"/>
              </a:rPr>
              <a:t>The Walk</a:t>
            </a:r>
            <a:endParaRPr b="0" i="0" sz="1700" u="none" cap="none" strike="noStrike">
              <a:solidFill>
                <a:schemeClr val="dk1"/>
              </a:solidFill>
              <a:latin typeface="Trebuchet MS"/>
              <a:ea typeface="Trebuchet MS"/>
              <a:cs typeface="Trebuchet MS"/>
              <a:sym typeface="Trebuchet MS"/>
            </a:endParaRPr>
          </a:p>
        </p:txBody>
      </p:sp>
      <p:sp>
        <p:nvSpPr>
          <p:cNvPr id="556" name="Google Shape;556;p18"/>
          <p:cNvSpPr/>
          <p:nvPr/>
        </p:nvSpPr>
        <p:spPr>
          <a:xfrm>
            <a:off x="1554480" y="2468880"/>
            <a:ext cx="420624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300"/>
              <a:buFont typeface="Arial"/>
              <a:buNone/>
            </a:pPr>
            <a:r>
              <a:rPr b="0" i="0" lang="en-US" sz="1300" u="none" cap="none" strike="noStrike">
                <a:solidFill>
                  <a:srgbClr val="64748B"/>
                </a:solidFill>
                <a:latin typeface="Arial"/>
                <a:ea typeface="Arial"/>
                <a:cs typeface="Arial"/>
                <a:sym typeface="Arial"/>
              </a:rPr>
              <a:t>Rushed test walks, short discovery of lifestyle, Client left saying “I’ll think about it.”</a:t>
            </a:r>
            <a:endParaRPr b="0" i="0" sz="1300" u="none" cap="none" strike="noStrike">
              <a:solidFill>
                <a:schemeClr val="dk1"/>
              </a:solidFill>
              <a:latin typeface="Trebuchet MS"/>
              <a:ea typeface="Trebuchet MS"/>
              <a:cs typeface="Trebuchet MS"/>
              <a:sym typeface="Trebuchet MS"/>
            </a:endParaRPr>
          </a:p>
        </p:txBody>
      </p:sp>
      <p:sp>
        <p:nvSpPr>
          <p:cNvPr id="557" name="Google Shape;557;p18"/>
          <p:cNvSpPr/>
          <p:nvPr/>
        </p:nvSpPr>
        <p:spPr>
          <a:xfrm>
            <a:off x="6263640" y="1645920"/>
            <a:ext cx="5532120" cy="2011680"/>
          </a:xfrm>
          <a:prstGeom prst="roundRect">
            <a:avLst>
              <a:gd fmla="val 4545" name="adj"/>
            </a:avLst>
          </a:prstGeom>
          <a:solidFill>
            <a:srgbClr val="F8FAFC"/>
          </a:solidFill>
          <a:ln>
            <a:noFill/>
          </a:ln>
          <a:effectLst>
            <a:outerShdw blurRad="76200" rotWithShape="0" algn="bl" dir="8100000" dist="25400">
              <a:srgbClr val="000000">
                <a:alpha val="705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 name="Google Shape;558;p18"/>
          <p:cNvSpPr/>
          <p:nvPr/>
        </p:nvSpPr>
        <p:spPr>
          <a:xfrm>
            <a:off x="6492240" y="1965960"/>
            <a:ext cx="640080" cy="640080"/>
          </a:xfrm>
          <a:prstGeom prst="ellipse">
            <a:avLst/>
          </a:prstGeom>
          <a:solidFill>
            <a:srgbClr val="8B3A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 name="Google Shape;559;p18"/>
          <p:cNvSpPr/>
          <p:nvPr/>
        </p:nvSpPr>
        <p:spPr>
          <a:xfrm>
            <a:off x="6492240" y="2084832"/>
            <a:ext cx="640080" cy="4114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2</a:t>
            </a:r>
            <a:endParaRPr b="0" i="0" sz="1800" u="none" cap="none" strike="noStrike">
              <a:solidFill>
                <a:schemeClr val="dk1"/>
              </a:solidFill>
              <a:latin typeface="Trebuchet MS"/>
              <a:ea typeface="Trebuchet MS"/>
              <a:cs typeface="Trebuchet MS"/>
              <a:sym typeface="Trebuchet MS"/>
            </a:endParaRPr>
          </a:p>
        </p:txBody>
      </p:sp>
      <p:sp>
        <p:nvSpPr>
          <p:cNvPr id="560" name="Google Shape;560;p18"/>
          <p:cNvSpPr/>
          <p:nvPr/>
        </p:nvSpPr>
        <p:spPr>
          <a:xfrm>
            <a:off x="7315200" y="1965960"/>
            <a:ext cx="42062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216"/>
              </a:buClr>
              <a:buSzPts val="1700"/>
              <a:buFont typeface="Arial"/>
              <a:buNone/>
            </a:pPr>
            <a:r>
              <a:rPr b="1" i="0" lang="en-US" sz="1700" u="none" cap="none" strike="noStrike">
                <a:solidFill>
                  <a:srgbClr val="1F1216"/>
                </a:solidFill>
                <a:latin typeface="Arial"/>
                <a:ea typeface="Arial"/>
                <a:cs typeface="Arial"/>
                <a:sym typeface="Arial"/>
              </a:rPr>
              <a:t>Talking Through the Demo</a:t>
            </a:r>
            <a:endParaRPr b="0" i="0" sz="1700" u="none" cap="none" strike="noStrike">
              <a:solidFill>
                <a:schemeClr val="dk1"/>
              </a:solidFill>
              <a:latin typeface="Trebuchet MS"/>
              <a:ea typeface="Trebuchet MS"/>
              <a:cs typeface="Trebuchet MS"/>
              <a:sym typeface="Trebuchet MS"/>
            </a:endParaRPr>
          </a:p>
        </p:txBody>
      </p:sp>
      <p:sp>
        <p:nvSpPr>
          <p:cNvPr id="561" name="Google Shape;561;p18"/>
          <p:cNvSpPr/>
          <p:nvPr/>
        </p:nvSpPr>
        <p:spPr>
          <a:xfrm>
            <a:off x="7315200" y="2468880"/>
            <a:ext cx="420624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300"/>
              <a:buFont typeface="Arial"/>
              <a:buNone/>
            </a:pPr>
            <a:r>
              <a:rPr b="0" i="0" lang="en-US" sz="1300" u="none" cap="none" strike="noStrike">
                <a:solidFill>
                  <a:srgbClr val="64748B"/>
                </a:solidFill>
                <a:latin typeface="Arial"/>
                <a:ea typeface="Arial"/>
                <a:cs typeface="Arial"/>
                <a:sym typeface="Arial"/>
              </a:rPr>
              <a:t>Too much personal storytelling; incomplete lifestyle solution; Client left in sandals.</a:t>
            </a:r>
            <a:endParaRPr b="0" i="0" sz="1300" u="none" cap="none" strike="noStrike">
              <a:solidFill>
                <a:schemeClr val="dk1"/>
              </a:solidFill>
              <a:latin typeface="Trebuchet MS"/>
              <a:ea typeface="Trebuchet MS"/>
              <a:cs typeface="Trebuchet MS"/>
              <a:sym typeface="Trebuchet MS"/>
            </a:endParaRPr>
          </a:p>
        </p:txBody>
      </p:sp>
      <p:sp>
        <p:nvSpPr>
          <p:cNvPr id="562" name="Google Shape;562;p18"/>
          <p:cNvSpPr/>
          <p:nvPr/>
        </p:nvSpPr>
        <p:spPr>
          <a:xfrm>
            <a:off x="502920" y="3840480"/>
            <a:ext cx="5532120" cy="2011680"/>
          </a:xfrm>
          <a:prstGeom prst="roundRect">
            <a:avLst>
              <a:gd fmla="val 4545" name="adj"/>
            </a:avLst>
          </a:prstGeom>
          <a:solidFill>
            <a:srgbClr val="F8FAFC"/>
          </a:solidFill>
          <a:ln>
            <a:noFill/>
          </a:ln>
          <a:effectLst>
            <a:outerShdw blurRad="76200" rotWithShape="0" algn="bl" dir="8100000" dist="25400">
              <a:srgbClr val="000000">
                <a:alpha val="705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3" name="Google Shape;563;p18"/>
          <p:cNvSpPr/>
          <p:nvPr/>
        </p:nvSpPr>
        <p:spPr>
          <a:xfrm>
            <a:off x="731520" y="4160520"/>
            <a:ext cx="640080" cy="640080"/>
          </a:xfrm>
          <a:prstGeom prst="ellipse">
            <a:avLst/>
          </a:prstGeom>
          <a:solidFill>
            <a:srgbClr val="8B3A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4" name="Google Shape;564;p18"/>
          <p:cNvSpPr/>
          <p:nvPr/>
        </p:nvSpPr>
        <p:spPr>
          <a:xfrm>
            <a:off x="731520" y="4279392"/>
            <a:ext cx="640080" cy="4114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3</a:t>
            </a:r>
            <a:endParaRPr b="0" i="0" sz="1800" u="none" cap="none" strike="noStrike">
              <a:solidFill>
                <a:schemeClr val="dk1"/>
              </a:solidFill>
              <a:latin typeface="Trebuchet MS"/>
              <a:ea typeface="Trebuchet MS"/>
              <a:cs typeface="Trebuchet MS"/>
              <a:sym typeface="Trebuchet MS"/>
            </a:endParaRPr>
          </a:p>
        </p:txBody>
      </p:sp>
      <p:sp>
        <p:nvSpPr>
          <p:cNvPr id="565" name="Google Shape;565;p18"/>
          <p:cNvSpPr/>
          <p:nvPr/>
        </p:nvSpPr>
        <p:spPr>
          <a:xfrm>
            <a:off x="1554480" y="4160520"/>
            <a:ext cx="42062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216"/>
              </a:buClr>
              <a:buSzPts val="1700"/>
              <a:buFont typeface="Arial"/>
              <a:buNone/>
            </a:pPr>
            <a:r>
              <a:rPr b="1" i="0" lang="en-US" sz="1700" u="none" cap="none" strike="noStrike">
                <a:solidFill>
                  <a:srgbClr val="1F1216"/>
                </a:solidFill>
                <a:latin typeface="Arial"/>
                <a:ea typeface="Arial"/>
                <a:cs typeface="Arial"/>
                <a:sym typeface="Arial"/>
              </a:rPr>
              <a:t>Ideal Foot</a:t>
            </a:r>
            <a:endParaRPr b="0" i="0" sz="1700" u="none" cap="none" strike="noStrike">
              <a:solidFill>
                <a:schemeClr val="dk1"/>
              </a:solidFill>
              <a:latin typeface="Trebuchet MS"/>
              <a:ea typeface="Trebuchet MS"/>
              <a:cs typeface="Trebuchet MS"/>
              <a:sym typeface="Trebuchet MS"/>
            </a:endParaRPr>
          </a:p>
        </p:txBody>
      </p:sp>
      <p:sp>
        <p:nvSpPr>
          <p:cNvPr id="566" name="Google Shape;566;p18"/>
          <p:cNvSpPr/>
          <p:nvPr/>
        </p:nvSpPr>
        <p:spPr>
          <a:xfrm>
            <a:off x="1554480" y="4663440"/>
            <a:ext cx="420624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300"/>
              <a:buFont typeface="Arial"/>
              <a:buNone/>
            </a:pPr>
            <a:r>
              <a:rPr b="0" i="0" lang="en-US" sz="1300" u="none" cap="none" strike="noStrike">
                <a:solidFill>
                  <a:srgbClr val="64748B"/>
                </a:solidFill>
                <a:latin typeface="Arial"/>
                <a:ea typeface="Arial"/>
                <a:cs typeface="Arial"/>
                <a:sym typeface="Arial"/>
              </a:rPr>
              <a:t>Over-explained anatomy; lost the Client in technical detail after a strong start.</a:t>
            </a:r>
            <a:endParaRPr b="0" i="0" sz="1300" u="none" cap="none" strike="noStrike">
              <a:solidFill>
                <a:schemeClr val="dk1"/>
              </a:solidFill>
              <a:latin typeface="Trebuchet MS"/>
              <a:ea typeface="Trebuchet MS"/>
              <a:cs typeface="Trebuchet MS"/>
              <a:sym typeface="Trebuchet MS"/>
            </a:endParaRPr>
          </a:p>
        </p:txBody>
      </p:sp>
      <p:sp>
        <p:nvSpPr>
          <p:cNvPr id="567" name="Google Shape;567;p18"/>
          <p:cNvSpPr/>
          <p:nvPr/>
        </p:nvSpPr>
        <p:spPr>
          <a:xfrm>
            <a:off x="6263640" y="3840480"/>
            <a:ext cx="5532120" cy="2011680"/>
          </a:xfrm>
          <a:prstGeom prst="roundRect">
            <a:avLst>
              <a:gd fmla="val 4545" name="adj"/>
            </a:avLst>
          </a:prstGeom>
          <a:solidFill>
            <a:srgbClr val="F8FAFC"/>
          </a:solidFill>
          <a:ln>
            <a:noFill/>
          </a:ln>
          <a:effectLst>
            <a:outerShdw blurRad="76200" rotWithShape="0" algn="bl" dir="8100000" dist="25400">
              <a:srgbClr val="000000">
                <a:alpha val="705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8" name="Google Shape;568;p18"/>
          <p:cNvSpPr/>
          <p:nvPr/>
        </p:nvSpPr>
        <p:spPr>
          <a:xfrm>
            <a:off x="6492240" y="4160520"/>
            <a:ext cx="640080" cy="640080"/>
          </a:xfrm>
          <a:prstGeom prst="ellipse">
            <a:avLst/>
          </a:prstGeom>
          <a:solidFill>
            <a:srgbClr val="8B3A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9" name="Google Shape;569;p18"/>
          <p:cNvSpPr/>
          <p:nvPr/>
        </p:nvSpPr>
        <p:spPr>
          <a:xfrm>
            <a:off x="6492240" y="4279392"/>
            <a:ext cx="640080" cy="4114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4</a:t>
            </a:r>
            <a:endParaRPr b="0" i="0" sz="1800" u="none" cap="none" strike="noStrike">
              <a:solidFill>
                <a:schemeClr val="dk1"/>
              </a:solidFill>
              <a:latin typeface="Trebuchet MS"/>
              <a:ea typeface="Trebuchet MS"/>
              <a:cs typeface="Trebuchet MS"/>
              <a:sym typeface="Trebuchet MS"/>
            </a:endParaRPr>
          </a:p>
        </p:txBody>
      </p:sp>
      <p:sp>
        <p:nvSpPr>
          <p:cNvPr id="570" name="Google Shape;570;p18"/>
          <p:cNvSpPr/>
          <p:nvPr/>
        </p:nvSpPr>
        <p:spPr>
          <a:xfrm>
            <a:off x="7315200" y="4160520"/>
            <a:ext cx="42062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1216"/>
              </a:buClr>
              <a:buSzPts val="1700"/>
              <a:buFont typeface="Arial"/>
              <a:buNone/>
            </a:pPr>
            <a:r>
              <a:rPr b="1" i="0" lang="en-US" sz="1700" u="none" cap="none" strike="noStrike">
                <a:solidFill>
                  <a:srgbClr val="1F1216"/>
                </a:solidFill>
                <a:latin typeface="Arial"/>
                <a:ea typeface="Arial"/>
                <a:cs typeface="Arial"/>
                <a:sym typeface="Arial"/>
              </a:rPr>
              <a:t>Discovery</a:t>
            </a:r>
            <a:endParaRPr b="0" i="0" sz="1700" u="none" cap="none" strike="noStrike">
              <a:solidFill>
                <a:schemeClr val="dk1"/>
              </a:solidFill>
              <a:latin typeface="Trebuchet MS"/>
              <a:ea typeface="Trebuchet MS"/>
              <a:cs typeface="Trebuchet MS"/>
              <a:sym typeface="Trebuchet MS"/>
            </a:endParaRPr>
          </a:p>
        </p:txBody>
      </p:sp>
      <p:sp>
        <p:nvSpPr>
          <p:cNvPr id="571" name="Google Shape;571;p18"/>
          <p:cNvSpPr/>
          <p:nvPr/>
        </p:nvSpPr>
        <p:spPr>
          <a:xfrm>
            <a:off x="7315200" y="4663440"/>
            <a:ext cx="420624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300"/>
              <a:buFont typeface="Arial"/>
              <a:buNone/>
            </a:pPr>
            <a:r>
              <a:rPr b="0" i="0" lang="en-US" sz="1300" u="none" cap="none" strike="noStrike">
                <a:solidFill>
                  <a:srgbClr val="64748B"/>
                </a:solidFill>
                <a:latin typeface="Arial"/>
                <a:ea typeface="Arial"/>
                <a:cs typeface="Arial"/>
                <a:sym typeface="Arial"/>
              </a:rPr>
              <a:t>Thin follow-up questions; shifted to personal stories; Client never fully engaged.</a:t>
            </a:r>
            <a:endParaRPr b="0" i="0" sz="1300" u="none" cap="none" strike="noStrike">
              <a:solidFill>
                <a:schemeClr val="dk1"/>
              </a:solidFill>
              <a:latin typeface="Trebuchet MS"/>
              <a:ea typeface="Trebuchet MS"/>
              <a:cs typeface="Trebuchet MS"/>
              <a:sym typeface="Trebuchet MS"/>
            </a:endParaRPr>
          </a:p>
        </p:txBody>
      </p:sp>
      <p:pic>
        <p:nvPicPr>
          <p:cNvPr id="572" name="Google Shape;572;p18" title="caprec-2026-07-28-17-36-21.webm">
            <a:hlinkClick r:id="rId3"/>
          </p:cNvPr>
          <p:cNvPicPr preferRelativeResize="0"/>
          <p:nvPr/>
        </p:nvPicPr>
        <p:blipFill>
          <a:blip r:embed="rId4">
            <a:alphaModFix/>
          </a:blip>
          <a:stretch>
            <a:fillRect/>
          </a:stretch>
        </p:blipFill>
        <p:spPr>
          <a:xfrm>
            <a:off x="3810000" y="1714500"/>
            <a:ext cx="91440" cy="91440"/>
          </a:xfrm>
          <a:prstGeom prst="rect">
            <a:avLst/>
          </a:prstGeom>
          <a:noFill/>
          <a:ln>
            <a:noFill/>
          </a:ln>
        </p:spPr>
      </p:pic>
      <p:pic>
        <p:nvPicPr>
          <p:cNvPr id="573" name="Google Shape;573;p18" title="grok-image-6bee5419-570b-4123-8542-27b02a1104ea.jpg"/>
          <p:cNvPicPr preferRelativeResize="0"/>
          <p:nvPr/>
        </p:nvPicPr>
        <p:blipFill>
          <a:blip r:embed="rId5">
            <a:alphaModFix/>
          </a:blip>
          <a:stretch>
            <a:fillRect/>
          </a:stretch>
        </p:blipFill>
        <p:spPr>
          <a:xfrm>
            <a:off x="77450" y="5943600"/>
            <a:ext cx="1234419" cy="822950"/>
          </a:xfrm>
          <a:prstGeom prst="rect">
            <a:avLst/>
          </a:prstGeom>
          <a:noFill/>
          <a:ln>
            <a:noFill/>
          </a:ln>
        </p:spPr>
      </p:pic>
      <p:pic>
        <p:nvPicPr>
          <p:cNvPr id="574" name="Google Shape;574;p18" title="Picture1.png"/>
          <p:cNvPicPr preferRelativeResize="0"/>
          <p:nvPr/>
        </p:nvPicPr>
        <p:blipFill>
          <a:blip r:embed="rId6">
            <a:alphaModFix/>
          </a:blip>
          <a:stretch>
            <a:fillRect/>
          </a:stretch>
        </p:blipFill>
        <p:spPr>
          <a:xfrm>
            <a:off x="11186625" y="5943600"/>
            <a:ext cx="822950" cy="8229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72"/>
                                        </p:tgtEl>
                                        <p:attrNameLst>
                                          <p:attrName>style.visibility</p:attrName>
                                        </p:attrNameLst>
                                      </p:cBhvr>
                                      <p:to>
                                        <p:strVal val="visible"/>
                                      </p:to>
                                    </p:set>
                                    <p:animEffect filter="fade" transition="in">
                                      <p:cBhvr>
                                        <p:cTn dur="1000"/>
                                        <p:tgtEl>
                                          <p:spTgt spid="5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F1216"/>
        </a:solidFill>
      </p:bgPr>
    </p:bg>
    <p:spTree>
      <p:nvGrpSpPr>
        <p:cNvPr id="579" name="Shape 579"/>
        <p:cNvGrpSpPr/>
        <p:nvPr/>
      </p:nvGrpSpPr>
      <p:grpSpPr>
        <a:xfrm>
          <a:off x="0" y="0"/>
          <a:ext cx="0" cy="0"/>
          <a:chOff x="0" y="0"/>
          <a:chExt cx="0" cy="0"/>
        </a:xfrm>
      </p:grpSpPr>
      <p:sp>
        <p:nvSpPr>
          <p:cNvPr id="580" name="Google Shape;580;p19"/>
          <p:cNvSpPr/>
          <p:nvPr/>
        </p:nvSpPr>
        <p:spPr>
          <a:xfrm>
            <a:off x="0" y="0"/>
            <a:ext cx="12161520" cy="109728"/>
          </a:xfrm>
          <a:prstGeom prst="rect">
            <a:avLst/>
          </a:prstGeom>
          <a:solidFill>
            <a:srgbClr val="8B3A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1" name="Google Shape;581;p19"/>
          <p:cNvSpPr/>
          <p:nvPr/>
        </p:nvSpPr>
        <p:spPr>
          <a:xfrm>
            <a:off x="731520" y="1645920"/>
            <a:ext cx="1069848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64D63"/>
              </a:buClr>
              <a:buSzPts val="1800"/>
              <a:buFont typeface="Arial"/>
              <a:buNone/>
            </a:pPr>
            <a:r>
              <a:rPr b="1" i="0" lang="en-US" sz="1800" u="none" cap="none" strike="noStrike">
                <a:solidFill>
                  <a:srgbClr val="A64D63"/>
                </a:solidFill>
                <a:latin typeface="Arial"/>
                <a:ea typeface="Arial"/>
                <a:cs typeface="Arial"/>
                <a:sym typeface="Arial"/>
              </a:rPr>
              <a:t>The Final Word</a:t>
            </a:r>
            <a:endParaRPr b="0" i="0" sz="1800" u="none" cap="none" strike="noStrike">
              <a:solidFill>
                <a:schemeClr val="dk1"/>
              </a:solidFill>
              <a:latin typeface="Trebuchet MS"/>
              <a:ea typeface="Trebuchet MS"/>
              <a:cs typeface="Trebuchet MS"/>
              <a:sym typeface="Trebuchet MS"/>
            </a:endParaRPr>
          </a:p>
        </p:txBody>
      </p:sp>
      <p:sp>
        <p:nvSpPr>
          <p:cNvPr id="582" name="Google Shape;582;p19"/>
          <p:cNvSpPr/>
          <p:nvPr/>
        </p:nvSpPr>
        <p:spPr>
          <a:xfrm>
            <a:off x="731520" y="2286000"/>
            <a:ext cx="10698480" cy="11887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800"/>
              <a:buFont typeface="Arial"/>
              <a:buNone/>
            </a:pPr>
            <a:r>
              <a:rPr b="1" i="0" lang="en-US" sz="2800" u="none" cap="none" strike="noStrike">
                <a:solidFill>
                  <a:srgbClr val="FFFFFF"/>
                </a:solidFill>
                <a:latin typeface="Arial"/>
                <a:ea typeface="Arial"/>
                <a:cs typeface="Arial"/>
                <a:sym typeface="Arial"/>
              </a:rPr>
              <a:t>As Sales Floor Leader, you are the energy,</a:t>
            </a:r>
            <a:endParaRPr b="0" i="0" sz="2800" u="none" cap="none" strike="noStrike">
              <a:solidFill>
                <a:schemeClr val="dk1"/>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FFFFFF"/>
              </a:buClr>
              <a:buSzPts val="2800"/>
              <a:buFont typeface="Arial"/>
              <a:buNone/>
            </a:pPr>
            <a:r>
              <a:rPr b="1" i="0" lang="en-US" sz="2800" u="none" cap="none" strike="noStrike">
                <a:solidFill>
                  <a:srgbClr val="FFFFFF"/>
                </a:solidFill>
                <a:latin typeface="Arial"/>
                <a:ea typeface="Arial"/>
                <a:cs typeface="Arial"/>
                <a:sym typeface="Arial"/>
              </a:rPr>
              <a:t>the coach, and the connector on the floor.</a:t>
            </a:r>
            <a:endParaRPr b="0" i="0" sz="2800" u="none" cap="none" strike="noStrike">
              <a:solidFill>
                <a:schemeClr val="dk1"/>
              </a:solidFill>
              <a:latin typeface="Trebuchet MS"/>
              <a:ea typeface="Trebuchet MS"/>
              <a:cs typeface="Trebuchet MS"/>
              <a:sym typeface="Trebuchet MS"/>
            </a:endParaRPr>
          </a:p>
        </p:txBody>
      </p:sp>
      <p:sp>
        <p:nvSpPr>
          <p:cNvPr id="583" name="Google Shape;583;p19"/>
          <p:cNvSpPr/>
          <p:nvPr/>
        </p:nvSpPr>
        <p:spPr>
          <a:xfrm>
            <a:off x="731520" y="3657600"/>
            <a:ext cx="10698480" cy="7315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1800"/>
              <a:buFont typeface="Arial"/>
              <a:buNone/>
            </a:pPr>
            <a:r>
              <a:rPr b="0" i="0" lang="en-US" sz="1800" u="none" cap="none" strike="noStrike">
                <a:solidFill>
                  <a:srgbClr val="94A3B8"/>
                </a:solidFill>
                <a:latin typeface="Arial"/>
                <a:ea typeface="Arial"/>
                <a:cs typeface="Arial"/>
                <a:sym typeface="Arial"/>
              </a:rPr>
              <a:t>When you lead with purpose, Clients feel it, your team thrives,</a:t>
            </a:r>
            <a:endParaRPr b="0" i="0" sz="1800" u="none" cap="none" strike="noStrike">
              <a:solidFill>
                <a:schemeClr val="dk1"/>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94A3B8"/>
              </a:buClr>
              <a:buSzPts val="1800"/>
              <a:buFont typeface="Arial"/>
              <a:buNone/>
            </a:pPr>
            <a:r>
              <a:rPr b="0" i="0" lang="en-US" sz="1800" u="none" cap="none" strike="noStrike">
                <a:solidFill>
                  <a:srgbClr val="94A3B8"/>
                </a:solidFill>
                <a:latin typeface="Arial"/>
                <a:ea typeface="Arial"/>
                <a:cs typeface="Arial"/>
                <a:sym typeface="Arial"/>
              </a:rPr>
              <a:t>and Remarkable results follow.</a:t>
            </a:r>
            <a:endParaRPr b="0" i="0" sz="1800" u="none" cap="none" strike="noStrike">
              <a:solidFill>
                <a:schemeClr val="dk1"/>
              </a:solidFill>
              <a:latin typeface="Trebuchet MS"/>
              <a:ea typeface="Trebuchet MS"/>
              <a:cs typeface="Trebuchet MS"/>
              <a:sym typeface="Trebuchet MS"/>
            </a:endParaRPr>
          </a:p>
        </p:txBody>
      </p:sp>
      <p:cxnSp>
        <p:nvCxnSpPr>
          <p:cNvPr id="584" name="Google Shape;584;p19"/>
          <p:cNvCxnSpPr/>
          <p:nvPr/>
        </p:nvCxnSpPr>
        <p:spPr>
          <a:xfrm>
            <a:off x="731520" y="4663440"/>
            <a:ext cx="2286000" cy="0"/>
          </a:xfrm>
          <a:prstGeom prst="straightConnector1">
            <a:avLst/>
          </a:prstGeom>
          <a:noFill/>
          <a:ln cap="flat" cmpd="sng" w="38100">
            <a:solidFill>
              <a:srgbClr val="A64D63"/>
            </a:solidFill>
            <a:prstDash val="solid"/>
            <a:round/>
            <a:headEnd len="sm" w="sm" type="none"/>
            <a:tailEnd len="sm" w="sm" type="none"/>
          </a:ln>
        </p:spPr>
      </p:cxnSp>
      <p:sp>
        <p:nvSpPr>
          <p:cNvPr id="585" name="Google Shape;585;p19"/>
          <p:cNvSpPr/>
          <p:nvPr/>
        </p:nvSpPr>
        <p:spPr>
          <a:xfrm>
            <a:off x="731520" y="4892048"/>
            <a:ext cx="10698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Client service equals happy Clients.</a:t>
            </a:r>
            <a:endParaRPr b="0" i="0" sz="1800" u="none" cap="none" strike="noStrike">
              <a:solidFill>
                <a:schemeClr val="dk1"/>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Happy Clients equal high sales.</a:t>
            </a:r>
            <a:endParaRPr b="0" i="0" sz="1800" u="none" cap="none" strike="noStrike">
              <a:solidFill>
                <a:schemeClr val="dk1"/>
              </a:solidFill>
              <a:latin typeface="Trebuchet MS"/>
              <a:ea typeface="Trebuchet MS"/>
              <a:cs typeface="Trebuchet MS"/>
              <a:sym typeface="Trebuchet MS"/>
            </a:endParaRPr>
          </a:p>
        </p:txBody>
      </p:sp>
      <p:pic>
        <p:nvPicPr>
          <p:cNvPr id="586" name="Google Shape;586;p19" title="caprec-2026-07-28-17-37-41.webm">
            <a:hlinkClick r:id="rId3"/>
          </p:cNvPr>
          <p:cNvPicPr preferRelativeResize="0"/>
          <p:nvPr/>
        </p:nvPicPr>
        <p:blipFill>
          <a:blip r:embed="rId4">
            <a:alphaModFix/>
          </a:blip>
          <a:stretch>
            <a:fillRect/>
          </a:stretch>
        </p:blipFill>
        <p:spPr>
          <a:xfrm>
            <a:off x="3810000" y="1714500"/>
            <a:ext cx="91440" cy="91440"/>
          </a:xfrm>
          <a:prstGeom prst="rect">
            <a:avLst/>
          </a:prstGeom>
          <a:noFill/>
          <a:ln>
            <a:noFill/>
          </a:ln>
        </p:spPr>
      </p:pic>
      <p:pic>
        <p:nvPicPr>
          <p:cNvPr id="587" name="Google Shape;587;p19" title="Picture1.png"/>
          <p:cNvPicPr preferRelativeResize="0"/>
          <p:nvPr/>
        </p:nvPicPr>
        <p:blipFill>
          <a:blip r:embed="rId5">
            <a:alphaModFix/>
          </a:blip>
          <a:stretch>
            <a:fillRect/>
          </a:stretch>
        </p:blipFill>
        <p:spPr>
          <a:xfrm>
            <a:off x="11186625" y="5943600"/>
            <a:ext cx="822950" cy="822950"/>
          </a:xfrm>
          <a:prstGeom prst="rect">
            <a:avLst/>
          </a:prstGeom>
          <a:noFill/>
          <a:ln>
            <a:noFill/>
          </a:ln>
        </p:spPr>
      </p:pic>
      <p:pic>
        <p:nvPicPr>
          <p:cNvPr id="588" name="Google Shape;588;p19" title="grok-image-6bee5419-570b-4123-8542-27b02a1104ea (1)-Picsart-BackgroundRemover (1).jpg"/>
          <p:cNvPicPr preferRelativeResize="0"/>
          <p:nvPr/>
        </p:nvPicPr>
        <p:blipFill>
          <a:blip r:embed="rId6">
            <a:alphaModFix/>
          </a:blip>
          <a:stretch>
            <a:fillRect/>
          </a:stretch>
        </p:blipFill>
        <p:spPr>
          <a:xfrm>
            <a:off x="0" y="5651000"/>
            <a:ext cx="2033426" cy="118872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86"/>
                                        </p:tgtEl>
                                        <p:attrNameLst>
                                          <p:attrName>style.visibility</p:attrName>
                                        </p:attrNameLst>
                                      </p:cBhvr>
                                      <p:to>
                                        <p:strVal val="visible"/>
                                      </p:to>
                                    </p:set>
                                    <p:animEffect filter="fade" transition="in">
                                      <p:cBhvr>
                                        <p:cTn dur="1000"/>
                                        <p:tgtEl>
                                          <p:spTgt spid="5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6B2D3C"/>
      </a:accent1>
      <a:accent2>
        <a:srgbClr val="ED7D31"/>
      </a:accent2>
      <a:accent3>
        <a:srgbClr val="A5A5A5"/>
      </a:accent3>
      <a:accent4>
        <a:srgbClr val="FFC000"/>
      </a:accent4>
      <a:accent5>
        <a:srgbClr val="A64D63"/>
      </a:accent5>
      <a:accent6>
        <a:srgbClr val="70AD47"/>
      </a:accent6>
      <a:hlink>
        <a:srgbClr val="8B3A4F"/>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2026-07-20T17:24:15Z</dcterms:created>
  <dc:creator>Waterman Arch Supports / COGS Leadership Development</dc:creator>
</cp:coreProperties>
</file>