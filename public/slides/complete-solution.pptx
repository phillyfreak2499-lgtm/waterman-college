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iq5oSrWQnR1m+kJ2AMz5CaAYjv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 name="Google Shape;2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 name="Google Shape;2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2" name="Google Shape;5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 name="Google Shape;7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1" name="Google Shape;7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4" name="Google Shape;8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5" name="Google Shape;9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9" name="Google Shape;12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5" name="Google Shape;15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8" name="Google Shape;16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3" name="Google Shape;19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5" name="Google Shape;215;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9" name="Google Shape;229;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drive.google.com/file/d/1WiJea5FzWp8PlK4M9RYcEu6nUbojXGtM/view" TargetMode="External"/><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7.png"/><Relationship Id="rId5" Type="http://schemas.openxmlformats.org/officeDocument/2006/relationships/hyperlink" Target="http://drive.google.com/file/d/119CgiZTO3lOKLgGT_wmsUAtOh3FwHXiN/view" TargetMode="External"/><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5.jpg"/><Relationship Id="rId5" Type="http://schemas.openxmlformats.org/officeDocument/2006/relationships/hyperlink" Target="http://drive.google.com/file/d/119CgiZTO3lOKLgGT_wmsUAtOh3FwHXiN/view" TargetMode="External"/><Relationship Id="rId6"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5.jpg"/><Relationship Id="rId5" Type="http://schemas.openxmlformats.org/officeDocument/2006/relationships/hyperlink" Target="http://drive.google.com/file/d/1lnfKVhuz7pifeeXQtbhwH3thn1WKFxJm/view" TargetMode="External"/><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jpg"/><Relationship Id="rId5" Type="http://schemas.openxmlformats.org/officeDocument/2006/relationships/hyperlink" Target="http://drive.google.com/file/d/1nQAeeonBOVuPknWklZjw5Oc96yfpYTye/view" TargetMode="External"/><Relationship Id="rId6" Type="http://schemas.openxmlformats.org/officeDocument/2006/relationships/image" Target="../media/image1.png"/><Relationship Id="rId7"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7.png"/><Relationship Id="rId5" Type="http://schemas.openxmlformats.org/officeDocument/2006/relationships/hyperlink" Target="http://drive.google.com/file/d/1oSZrnMLyzM1IMgy055Odm4uvU_7ohVvQ/view" TargetMode="External"/><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7.png"/><Relationship Id="rId5" Type="http://schemas.openxmlformats.org/officeDocument/2006/relationships/hyperlink" Target="http://drive.google.com/file/d/1NYeYX8sN0Z8ag6aQ-F9pj6XJtTDbkgER/view" TargetMode="External"/><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jpg"/><Relationship Id="rId5" Type="http://schemas.openxmlformats.org/officeDocument/2006/relationships/hyperlink" Target="http://drive.google.com/file/d/1qOsjwb4UudSs9_h7TRQYT6ioxaRSfYaB/view" TargetMode="External"/><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jpg"/><Relationship Id="rId5" Type="http://schemas.openxmlformats.org/officeDocument/2006/relationships/hyperlink" Target="http://drive.google.com/file/d/1gPYleZ3h4r3RuBc4rjD4-jQlILgQ5u_9/view" TargetMode="External"/><Relationship Id="rId6"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7.png"/><Relationship Id="rId5" Type="http://schemas.openxmlformats.org/officeDocument/2006/relationships/hyperlink" Target="http://drive.google.com/file/d/1IvFbSGLHAErEBTdGNQit2_fnGQALXDZM/view" TargetMode="External"/><Relationship Id="rId6"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5.jpg"/><Relationship Id="rId5" Type="http://schemas.openxmlformats.org/officeDocument/2006/relationships/hyperlink" Target="http://drive.google.com/file/d/1s0wJ5W6um1BXQ6cTBaJY_xy_yReuVhd-/view" TargetMode="External"/><Relationship Id="rId6"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6.jpg"/><Relationship Id="rId5" Type="http://schemas.openxmlformats.org/officeDocument/2006/relationships/hyperlink" Target="http://drive.google.com/file/d/1FeT0DPKGY5vf2IxxLjrMl4s8QW3db-v7/view" TargetMode="External"/><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75B6"/>
        </a:solidFill>
      </p:bgPr>
    </p:bg>
    <p:spTree>
      <p:nvGrpSpPr>
        <p:cNvPr id="11" name="Shape 11"/>
        <p:cNvGrpSpPr/>
        <p:nvPr/>
      </p:nvGrpSpPr>
      <p:grpSpPr>
        <a:xfrm>
          <a:off x="0" y="0"/>
          <a:ext cx="0" cy="0"/>
          <a:chOff x="0" y="0"/>
          <a:chExt cx="0" cy="0"/>
        </a:xfrm>
      </p:grpSpPr>
      <p:pic>
        <p:nvPicPr>
          <p:cNvPr id="12" name="Google Shape;12;p1" title="Slide 1.webm">
            <a:hlinkClick r:id="rId3"/>
          </p:cNvPr>
          <p:cNvPicPr preferRelativeResize="0"/>
          <p:nvPr/>
        </p:nvPicPr>
        <p:blipFill>
          <a:blip r:embed="rId4">
            <a:alphaModFix/>
          </a:blip>
          <a:stretch>
            <a:fillRect/>
          </a:stretch>
        </p:blipFill>
        <p:spPr>
          <a:xfrm>
            <a:off x="9018926" y="4929300"/>
            <a:ext cx="40675" cy="143500"/>
          </a:xfrm>
          <a:prstGeom prst="rect">
            <a:avLst/>
          </a:prstGeom>
          <a:noFill/>
          <a:ln>
            <a:noFill/>
          </a:ln>
        </p:spPr>
      </p:pic>
      <p:sp>
        <p:nvSpPr>
          <p:cNvPr id="13" name="Google Shape;13;p1"/>
          <p:cNvSpPr/>
          <p:nvPr/>
        </p:nvSpPr>
        <p:spPr>
          <a:xfrm>
            <a:off x="457200" y="246888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Building a Complete Solution</a:t>
            </a:r>
            <a:endParaRPr b="0" i="0" sz="3600" u="none" cap="none" strike="noStrike">
              <a:solidFill>
                <a:schemeClr val="dk1"/>
              </a:solidFill>
              <a:latin typeface="Calibri"/>
              <a:ea typeface="Calibri"/>
              <a:cs typeface="Calibri"/>
              <a:sym typeface="Calibri"/>
            </a:endParaRPr>
          </a:p>
        </p:txBody>
      </p:sp>
      <p:pic>
        <p:nvPicPr>
          <p:cNvPr descr="/home/workdir/artifacts/cogs_logo.png" id="14" name="Google Shape;14;p1"/>
          <p:cNvPicPr preferRelativeResize="0"/>
          <p:nvPr/>
        </p:nvPicPr>
        <p:blipFill rotWithShape="1">
          <a:blip r:embed="rId5">
            <a:alphaModFix/>
          </a:blip>
          <a:srcRect b="0" l="0" r="0" t="0"/>
          <a:stretch/>
        </p:blipFill>
        <p:spPr>
          <a:xfrm>
            <a:off x="3572692" y="466344"/>
            <a:ext cx="1828800" cy="1828800"/>
          </a:xfrm>
          <a:prstGeom prst="rect">
            <a:avLst/>
          </a:prstGeom>
          <a:noFill/>
          <a:ln>
            <a:noFill/>
          </a:ln>
        </p:spPr>
      </p:pic>
      <p:sp>
        <p:nvSpPr>
          <p:cNvPr id="15" name="Google Shape;15;p1"/>
          <p:cNvSpPr/>
          <p:nvPr/>
        </p:nvSpPr>
        <p:spPr>
          <a:xfrm>
            <a:off x="914400" y="3154680"/>
            <a:ext cx="73152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Every component has a job. A partial Solution is an incomplete Solution.</a:t>
            </a:r>
            <a:endParaRPr b="0" i="0" sz="15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We present one complete system, not a product with extras.</a:t>
            </a:r>
            <a:endParaRPr b="0" i="0" sz="1500" u="none" cap="none" strike="noStrike">
              <a:solidFill>
                <a:schemeClr val="dk1"/>
              </a:solidFill>
              <a:latin typeface="Calibri"/>
              <a:ea typeface="Calibri"/>
              <a:cs typeface="Calibri"/>
              <a:sym typeface="Calibri"/>
            </a:endParaRPr>
          </a:p>
        </p:txBody>
      </p:sp>
      <p:sp>
        <p:nvSpPr>
          <p:cNvPr id="16" name="Google Shape;16;p1"/>
          <p:cNvSpPr/>
          <p:nvPr/>
        </p:nvSpPr>
        <p:spPr>
          <a:xfrm>
            <a:off x="2926080" y="3977640"/>
            <a:ext cx="3291840" cy="384048"/>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2926080" y="3977640"/>
            <a:ext cx="32918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5B6"/>
              </a:buClr>
              <a:buSzPts val="1300"/>
              <a:buFont typeface="Arial"/>
              <a:buNone/>
            </a:pPr>
            <a:r>
              <a:rPr b="1" i="0" lang="en-US" sz="1300" u="none" cap="none" strike="noStrike">
                <a:solidFill>
                  <a:srgbClr val="2E75B6"/>
                </a:solidFill>
                <a:latin typeface="Arial"/>
                <a:ea typeface="Arial"/>
                <a:cs typeface="Arial"/>
                <a:sym typeface="Arial"/>
              </a:rPr>
              <a:t>Specialists  ·  Blue Track</a:t>
            </a:r>
            <a:endParaRPr b="0" i="0" sz="1300" u="none" cap="none" strike="noStrike">
              <a:solidFill>
                <a:schemeClr val="dk1"/>
              </a:solidFill>
              <a:latin typeface="Calibri"/>
              <a:ea typeface="Calibri"/>
              <a:cs typeface="Calibri"/>
              <a:sym typeface="Calibri"/>
            </a:endParaRPr>
          </a:p>
        </p:txBody>
      </p:sp>
      <p:sp>
        <p:nvSpPr>
          <p:cNvPr id="18" name="Google Shape;18;p1"/>
          <p:cNvSpPr/>
          <p:nvPr/>
        </p:nvSpPr>
        <p:spPr>
          <a:xfrm>
            <a:off x="457200" y="470916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0" i="1" lang="en-US" sz="1200" u="none" cap="none" strike="noStrike">
                <a:solidFill>
                  <a:srgbClr val="FFFFFF"/>
                </a:solidFill>
                <a:latin typeface="Arial"/>
                <a:ea typeface="Arial"/>
                <a:cs typeface="Arial"/>
                <a:sym typeface="Arial"/>
              </a:rPr>
              <a:t>A Remarkable Experience. Every Client. Every </a:t>
            </a:r>
            <a:r>
              <a:rPr i="1" lang="en-US" sz="1200">
                <a:solidFill>
                  <a:srgbClr val="FFFFFF"/>
                </a:solidFill>
              </a:rPr>
              <a:t>T</a:t>
            </a:r>
            <a:r>
              <a:rPr b="0" i="1" lang="en-US" sz="1200" u="none" cap="none" strike="noStrike">
                <a:solidFill>
                  <a:srgbClr val="FFFFFF"/>
                </a:solidFill>
                <a:latin typeface="Arial"/>
                <a:ea typeface="Arial"/>
                <a:cs typeface="Arial"/>
                <a:sym typeface="Arial"/>
              </a:rPr>
              <a:t>ime.</a:t>
            </a:r>
            <a:endParaRPr b="0" i="0" sz="1200" u="none" cap="none" strike="noStrike">
              <a:solidFill>
                <a:schemeClr val="dk1"/>
              </a:solidFill>
              <a:latin typeface="Calibri"/>
              <a:ea typeface="Calibri"/>
              <a:cs typeface="Calibri"/>
              <a:sym typeface="Calibri"/>
            </a:endParaRPr>
          </a:p>
        </p:txBody>
      </p:sp>
      <p:pic>
        <p:nvPicPr>
          <p:cNvPr id="19" name="Google Shape;19;p1"/>
          <p:cNvPicPr preferRelativeResize="0"/>
          <p:nvPr/>
        </p:nvPicPr>
        <p:blipFill rotWithShape="1">
          <a:blip r:embed="rId6">
            <a:alphaModFix/>
          </a:blip>
          <a:srcRect b="0" l="0" r="0" t="0"/>
          <a:stretch/>
        </p:blipFill>
        <p:spPr>
          <a:xfrm>
            <a:off x="267788" y="3919707"/>
            <a:ext cx="1619794" cy="12425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
                                        </p:tgtEl>
                                        <p:attrNameLst>
                                          <p:attrName>style.visibility</p:attrName>
                                        </p:attrNameLst>
                                      </p:cBhvr>
                                      <p:to>
                                        <p:strVal val="visible"/>
                                      </p:to>
                                    </p:set>
                                    <p:animEffect filter="fade" transition="in">
                                      <p:cBhvr>
                                        <p:cTn dur="1000"/>
                                        <p:tgtEl>
                                          <p:spTgt spid="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pic>
        <p:nvPicPr>
          <p:cNvPr id="25" name="Google Shape;25;p3"/>
          <p:cNvPicPr preferRelativeResize="0"/>
          <p:nvPr/>
        </p:nvPicPr>
        <p:blipFill rotWithShape="1">
          <a:blip r:embed="rId3">
            <a:alphaModFix/>
          </a:blip>
          <a:srcRect b="0" l="0" r="0" t="0"/>
          <a:stretch/>
        </p:blipFill>
        <p:spPr>
          <a:xfrm>
            <a:off x="29391" y="4651466"/>
            <a:ext cx="738051" cy="492034"/>
          </a:xfrm>
          <a:prstGeom prst="rect">
            <a:avLst/>
          </a:prstGeom>
          <a:noFill/>
          <a:ln>
            <a:noFill/>
          </a:ln>
        </p:spPr>
      </p:pic>
      <p:pic>
        <p:nvPicPr>
          <p:cNvPr descr="/home/workdir/artifacts/cogs_logo.png" id="26" name="Google Shape;26;p3"/>
          <p:cNvPicPr preferRelativeResize="0"/>
          <p:nvPr/>
        </p:nvPicPr>
        <p:blipFill rotWithShape="1">
          <a:blip r:embed="rId4">
            <a:alphaModFix/>
          </a:blip>
          <a:srcRect b="0" l="0" r="0" t="0"/>
          <a:stretch/>
        </p:blipFill>
        <p:spPr>
          <a:xfrm>
            <a:off x="8654143" y="4722223"/>
            <a:ext cx="385354" cy="385354"/>
          </a:xfrm>
          <a:prstGeom prst="rect">
            <a:avLst/>
          </a:prstGeom>
          <a:noFill/>
          <a:ln>
            <a:noFill/>
          </a:ln>
        </p:spPr>
      </p:pic>
      <p:sp>
        <p:nvSpPr>
          <p:cNvPr id="27" name="Google Shape;27;p3"/>
          <p:cNvSpPr/>
          <p:nvPr/>
        </p:nvSpPr>
        <p:spPr>
          <a:xfrm>
            <a:off x="457200" y="3200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2800"/>
              <a:buFont typeface="Arial"/>
              <a:buNone/>
            </a:pPr>
            <a:r>
              <a:rPr b="1" lang="en-US" sz="2800">
                <a:solidFill>
                  <a:srgbClr val="1B365D"/>
                </a:solidFill>
                <a:latin typeface="Arial"/>
                <a:ea typeface="Arial"/>
                <a:cs typeface="Arial"/>
                <a:sym typeface="Arial"/>
              </a:rPr>
              <a:t>In this module</a:t>
            </a:r>
            <a:endParaRPr sz="2800">
              <a:solidFill>
                <a:schemeClr val="dk1"/>
              </a:solidFill>
              <a:latin typeface="Calibri"/>
              <a:ea typeface="Calibri"/>
              <a:cs typeface="Calibri"/>
              <a:sym typeface="Calibri"/>
            </a:endParaRPr>
          </a:p>
        </p:txBody>
      </p:sp>
      <p:sp>
        <p:nvSpPr>
          <p:cNvPr id="28" name="Google Shape;28;p3"/>
          <p:cNvSpPr/>
          <p:nvPr/>
        </p:nvSpPr>
        <p:spPr>
          <a:xfrm>
            <a:off x="365760" y="1051560"/>
            <a:ext cx="4114800" cy="1691640"/>
          </a:xfrm>
          <a:prstGeom prst="roundRect">
            <a:avLst>
              <a:gd fmla="val 6486"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594360" y="1325880"/>
            <a:ext cx="502920" cy="502920"/>
          </a:xfrm>
          <a:prstGeom prst="ellipse">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594360" y="1325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1</a:t>
            </a:r>
            <a:endParaRPr sz="1800">
              <a:solidFill>
                <a:schemeClr val="dk1"/>
              </a:solidFill>
              <a:latin typeface="Calibri"/>
              <a:ea typeface="Calibri"/>
              <a:cs typeface="Calibri"/>
              <a:sym typeface="Calibri"/>
            </a:endParaRPr>
          </a:p>
        </p:txBody>
      </p:sp>
      <p:sp>
        <p:nvSpPr>
          <p:cNvPr id="31" name="Google Shape;31;p3"/>
          <p:cNvSpPr/>
          <p:nvPr/>
        </p:nvSpPr>
        <p:spPr>
          <a:xfrm>
            <a:off x="1280160" y="132588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500"/>
              <a:buFont typeface="Arial"/>
              <a:buNone/>
            </a:pPr>
            <a:r>
              <a:rPr b="1" lang="en-US" sz="1500">
                <a:solidFill>
                  <a:srgbClr val="1B365D"/>
                </a:solidFill>
                <a:latin typeface="Arial"/>
                <a:ea typeface="Arial"/>
                <a:cs typeface="Arial"/>
                <a:sym typeface="Arial"/>
              </a:rPr>
              <a:t>Language Creates Hierarchy</a:t>
            </a:r>
            <a:endParaRPr sz="1500">
              <a:solidFill>
                <a:schemeClr val="dk1"/>
              </a:solidFill>
              <a:latin typeface="Calibri"/>
              <a:ea typeface="Calibri"/>
              <a:cs typeface="Calibri"/>
              <a:sym typeface="Calibri"/>
            </a:endParaRPr>
          </a:p>
        </p:txBody>
      </p:sp>
      <p:sp>
        <p:nvSpPr>
          <p:cNvPr id="32" name="Google Shape;32;p3"/>
          <p:cNvSpPr/>
          <p:nvPr/>
        </p:nvSpPr>
        <p:spPr>
          <a:xfrm>
            <a:off x="1280160" y="1737360"/>
            <a:ext cx="2971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Arial"/>
              <a:buNone/>
            </a:pPr>
            <a:r>
              <a:rPr lang="en-US" sz="1300">
                <a:solidFill>
                  <a:srgbClr val="64748B"/>
                </a:solidFill>
                <a:latin typeface="Arial"/>
                <a:ea typeface="Arial"/>
                <a:cs typeface="Arial"/>
                <a:sym typeface="Arial"/>
              </a:rPr>
              <a:t>Replace “add-on / upsell” language with “Solution Component” so nothing feels optional.</a:t>
            </a:r>
            <a:endParaRPr sz="1300">
              <a:solidFill>
                <a:schemeClr val="dk1"/>
              </a:solidFill>
              <a:latin typeface="Calibri"/>
              <a:ea typeface="Calibri"/>
              <a:cs typeface="Calibri"/>
              <a:sym typeface="Calibri"/>
            </a:endParaRPr>
          </a:p>
        </p:txBody>
      </p:sp>
      <p:sp>
        <p:nvSpPr>
          <p:cNvPr id="33" name="Google Shape;33;p3"/>
          <p:cNvSpPr/>
          <p:nvPr/>
        </p:nvSpPr>
        <p:spPr>
          <a:xfrm>
            <a:off x="4663440" y="1028700"/>
            <a:ext cx="4114800" cy="1691640"/>
          </a:xfrm>
          <a:prstGeom prst="roundRect">
            <a:avLst>
              <a:gd fmla="val 6486"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4892040" y="1325880"/>
            <a:ext cx="502920" cy="502920"/>
          </a:xfrm>
          <a:prstGeom prst="ellipse">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4892040" y="1325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2</a:t>
            </a:r>
            <a:endParaRPr sz="1800">
              <a:solidFill>
                <a:schemeClr val="dk1"/>
              </a:solidFill>
              <a:latin typeface="Calibri"/>
              <a:ea typeface="Calibri"/>
              <a:cs typeface="Calibri"/>
              <a:sym typeface="Calibri"/>
            </a:endParaRPr>
          </a:p>
        </p:txBody>
      </p:sp>
      <p:sp>
        <p:nvSpPr>
          <p:cNvPr id="36" name="Google Shape;36;p3"/>
          <p:cNvSpPr/>
          <p:nvPr/>
        </p:nvSpPr>
        <p:spPr>
          <a:xfrm>
            <a:off x="5577840" y="132588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500"/>
              <a:buFont typeface="Arial"/>
              <a:buNone/>
            </a:pPr>
            <a:r>
              <a:rPr b="1" lang="en-US" sz="1500">
                <a:solidFill>
                  <a:srgbClr val="1B365D"/>
                </a:solidFill>
                <a:latin typeface="Arial"/>
                <a:ea typeface="Arial"/>
                <a:cs typeface="Arial"/>
                <a:sym typeface="Arial"/>
              </a:rPr>
              <a:t>Partial = Incomplete</a:t>
            </a:r>
            <a:endParaRPr sz="1500">
              <a:solidFill>
                <a:schemeClr val="dk1"/>
              </a:solidFill>
              <a:latin typeface="Calibri"/>
              <a:ea typeface="Calibri"/>
              <a:cs typeface="Calibri"/>
              <a:sym typeface="Calibri"/>
            </a:endParaRPr>
          </a:p>
        </p:txBody>
      </p:sp>
      <p:sp>
        <p:nvSpPr>
          <p:cNvPr id="37" name="Google Shape;37;p3"/>
          <p:cNvSpPr/>
          <p:nvPr/>
        </p:nvSpPr>
        <p:spPr>
          <a:xfrm>
            <a:off x="5577840" y="1737360"/>
            <a:ext cx="2971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Arial"/>
              <a:buNone/>
            </a:pPr>
            <a:r>
              <a:rPr lang="en-US" sz="1300">
                <a:solidFill>
                  <a:srgbClr val="64748B"/>
                </a:solidFill>
                <a:latin typeface="Arial"/>
                <a:ea typeface="Arial"/>
                <a:cs typeface="Arial"/>
                <a:sym typeface="Arial"/>
              </a:rPr>
              <a:t>Frame every component as required for full pain resolution — not an extra.</a:t>
            </a:r>
            <a:endParaRPr sz="1300">
              <a:solidFill>
                <a:schemeClr val="dk1"/>
              </a:solidFill>
              <a:latin typeface="Calibri"/>
              <a:ea typeface="Calibri"/>
              <a:cs typeface="Calibri"/>
              <a:sym typeface="Calibri"/>
            </a:endParaRPr>
          </a:p>
        </p:txBody>
      </p:sp>
      <p:sp>
        <p:nvSpPr>
          <p:cNvPr id="38" name="Google Shape;38;p3"/>
          <p:cNvSpPr/>
          <p:nvPr/>
        </p:nvSpPr>
        <p:spPr>
          <a:xfrm>
            <a:off x="398417" y="2968534"/>
            <a:ext cx="4114800" cy="1691640"/>
          </a:xfrm>
          <a:prstGeom prst="roundRect">
            <a:avLst>
              <a:gd fmla="val 6486"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594360" y="3246120"/>
            <a:ext cx="502920" cy="502920"/>
          </a:xfrm>
          <a:prstGeom prst="ellipse">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594360" y="32461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3</a:t>
            </a:r>
            <a:endParaRPr sz="1800">
              <a:solidFill>
                <a:schemeClr val="dk1"/>
              </a:solidFill>
              <a:latin typeface="Calibri"/>
              <a:ea typeface="Calibri"/>
              <a:cs typeface="Calibri"/>
              <a:sym typeface="Calibri"/>
            </a:endParaRPr>
          </a:p>
        </p:txBody>
      </p:sp>
      <p:sp>
        <p:nvSpPr>
          <p:cNvPr id="41" name="Google Shape;41;p3"/>
          <p:cNvSpPr/>
          <p:nvPr/>
        </p:nvSpPr>
        <p:spPr>
          <a:xfrm>
            <a:off x="1280160" y="324612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500"/>
              <a:buFont typeface="Arial"/>
              <a:buNone/>
            </a:pPr>
            <a:r>
              <a:rPr b="1" lang="en-US" sz="1500">
                <a:solidFill>
                  <a:srgbClr val="1B365D"/>
                </a:solidFill>
                <a:latin typeface="Arial"/>
                <a:ea typeface="Arial"/>
                <a:cs typeface="Arial"/>
                <a:sym typeface="Arial"/>
              </a:rPr>
              <a:t>Name Each Component’s Job</a:t>
            </a:r>
            <a:endParaRPr sz="1500">
              <a:solidFill>
                <a:schemeClr val="dk1"/>
              </a:solidFill>
              <a:latin typeface="Calibri"/>
              <a:ea typeface="Calibri"/>
              <a:cs typeface="Calibri"/>
              <a:sym typeface="Calibri"/>
            </a:endParaRPr>
          </a:p>
        </p:txBody>
      </p:sp>
      <p:sp>
        <p:nvSpPr>
          <p:cNvPr id="42" name="Google Shape;42;p3"/>
          <p:cNvSpPr/>
          <p:nvPr/>
        </p:nvSpPr>
        <p:spPr>
          <a:xfrm>
            <a:off x="1280160" y="3657600"/>
            <a:ext cx="2971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Arial"/>
              <a:buNone/>
            </a:pPr>
            <a:r>
              <a:rPr lang="en-US" sz="1300">
                <a:solidFill>
                  <a:srgbClr val="64748B"/>
                </a:solidFill>
                <a:latin typeface="Arial"/>
                <a:ea typeface="Arial"/>
                <a:cs typeface="Arial"/>
                <a:sym typeface="Arial"/>
              </a:rPr>
              <a:t>Explain what Brooks, OS1st, MedMassager, and Architek each deliver for the Client.</a:t>
            </a:r>
            <a:endParaRPr sz="1300">
              <a:solidFill>
                <a:schemeClr val="dk1"/>
              </a:solidFill>
              <a:latin typeface="Calibri"/>
              <a:ea typeface="Calibri"/>
              <a:cs typeface="Calibri"/>
              <a:sym typeface="Calibri"/>
            </a:endParaRPr>
          </a:p>
        </p:txBody>
      </p:sp>
      <p:sp>
        <p:nvSpPr>
          <p:cNvPr id="43" name="Google Shape;43;p3"/>
          <p:cNvSpPr/>
          <p:nvPr/>
        </p:nvSpPr>
        <p:spPr>
          <a:xfrm>
            <a:off x="4663440" y="2971800"/>
            <a:ext cx="4114800" cy="1691640"/>
          </a:xfrm>
          <a:prstGeom prst="roundRect">
            <a:avLst>
              <a:gd fmla="val 6486"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4892040" y="3246120"/>
            <a:ext cx="502920" cy="502920"/>
          </a:xfrm>
          <a:prstGeom prst="ellipse">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4892040" y="32461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4</a:t>
            </a:r>
            <a:endParaRPr sz="1800">
              <a:solidFill>
                <a:schemeClr val="dk1"/>
              </a:solidFill>
              <a:latin typeface="Calibri"/>
              <a:ea typeface="Calibri"/>
              <a:cs typeface="Calibri"/>
              <a:sym typeface="Calibri"/>
            </a:endParaRPr>
          </a:p>
        </p:txBody>
      </p:sp>
      <p:sp>
        <p:nvSpPr>
          <p:cNvPr id="46" name="Google Shape;46;p3"/>
          <p:cNvSpPr/>
          <p:nvPr/>
        </p:nvSpPr>
        <p:spPr>
          <a:xfrm>
            <a:off x="5577840" y="324612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500"/>
              <a:buFont typeface="Arial"/>
              <a:buNone/>
            </a:pPr>
            <a:r>
              <a:rPr b="1" lang="en-US" sz="1500">
                <a:solidFill>
                  <a:srgbClr val="1B365D"/>
                </a:solidFill>
                <a:latin typeface="Arial"/>
                <a:ea typeface="Arial"/>
                <a:cs typeface="Arial"/>
                <a:sym typeface="Arial"/>
              </a:rPr>
              <a:t>Match Without Stepping Down</a:t>
            </a:r>
            <a:endParaRPr sz="1500">
              <a:solidFill>
                <a:schemeClr val="dk1"/>
              </a:solidFill>
              <a:latin typeface="Calibri"/>
              <a:ea typeface="Calibri"/>
              <a:cs typeface="Calibri"/>
              <a:sym typeface="Calibri"/>
            </a:endParaRPr>
          </a:p>
        </p:txBody>
      </p:sp>
      <p:sp>
        <p:nvSpPr>
          <p:cNvPr id="47" name="Google Shape;47;p3"/>
          <p:cNvSpPr/>
          <p:nvPr/>
        </p:nvSpPr>
        <p:spPr>
          <a:xfrm>
            <a:off x="5577840" y="3657600"/>
            <a:ext cx="2971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Arial"/>
              <a:buNone/>
            </a:pPr>
            <a:r>
              <a:rPr lang="en-US" sz="1300">
                <a:solidFill>
                  <a:srgbClr val="64748B"/>
                </a:solidFill>
                <a:latin typeface="Arial"/>
                <a:ea typeface="Arial"/>
                <a:cs typeface="Arial"/>
                <a:sym typeface="Arial"/>
              </a:rPr>
              <a:t>When investment is questioned, reconnect to the goal, protect credibility, keep the core strong.</a:t>
            </a:r>
            <a:endParaRPr sz="1300">
              <a:solidFill>
                <a:schemeClr val="dk1"/>
              </a:solidFill>
              <a:latin typeface="Calibri"/>
              <a:ea typeface="Calibri"/>
              <a:cs typeface="Calibri"/>
              <a:sym typeface="Calibri"/>
            </a:endParaRPr>
          </a:p>
        </p:txBody>
      </p:sp>
      <p:pic>
        <p:nvPicPr>
          <p:cNvPr id="48" name="Google Shape;48;p3" title="caprec-2026-07-28-15-06-19.webm">
            <a:hlinkClick r:id="rId5"/>
          </p:cNvPr>
          <p:cNvPicPr preferRelativeResize="0"/>
          <p:nvPr/>
        </p:nvPicPr>
        <p:blipFill>
          <a:blip r:embed="rId6">
            <a:alphaModFix/>
          </a:blip>
          <a:stretch>
            <a:fillRect/>
          </a:stretch>
        </p:blipFill>
        <p:spPr>
          <a:xfrm>
            <a:off x="6912700" y="4840600"/>
            <a:ext cx="1560550" cy="148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
                                        </p:tgtEl>
                                        <p:attrNameLst>
                                          <p:attrName>style.visibility</p:attrName>
                                        </p:attrNameLst>
                                      </p:cBhvr>
                                      <p:to>
                                        <p:strVal val="visible"/>
                                      </p:to>
                                    </p:set>
                                    <p:animEffect filter="fade" transition="in">
                                      <p:cBhvr>
                                        <p:cTn dur="1000"/>
                                        <p:tgtEl>
                                          <p:spTgt spid="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4"/>
          <p:cNvSpPr/>
          <p:nvPr/>
        </p:nvSpPr>
        <p:spPr>
          <a:xfrm>
            <a:off x="457200" y="274320"/>
            <a:ext cx="7498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2600"/>
              <a:buFont typeface="Arial"/>
              <a:buNone/>
            </a:pPr>
            <a:r>
              <a:rPr b="1" lang="en-US" sz="2600">
                <a:solidFill>
                  <a:srgbClr val="1B365D"/>
                </a:solidFill>
                <a:latin typeface="Arial"/>
                <a:ea typeface="Arial"/>
                <a:cs typeface="Arial"/>
                <a:sym typeface="Arial"/>
              </a:rPr>
              <a:t>The Language Creates the Hierarchy</a:t>
            </a:r>
            <a:endParaRPr sz="2600">
              <a:solidFill>
                <a:schemeClr val="dk1"/>
              </a:solidFill>
              <a:latin typeface="Calibri"/>
              <a:ea typeface="Calibri"/>
              <a:cs typeface="Calibri"/>
              <a:sym typeface="Calibri"/>
            </a:endParaRPr>
          </a:p>
        </p:txBody>
      </p:sp>
      <p:sp>
        <p:nvSpPr>
          <p:cNvPr id="55" name="Google Shape;55;p4"/>
          <p:cNvSpPr/>
          <p:nvPr/>
        </p:nvSpPr>
        <p:spPr>
          <a:xfrm>
            <a:off x="365760" y="1005840"/>
            <a:ext cx="4023360" cy="3566160"/>
          </a:xfrm>
          <a:prstGeom prst="roundRect">
            <a:avLst>
              <a:gd fmla="val 3077" name="adj"/>
            </a:avLst>
          </a:prstGeom>
          <a:solidFill>
            <a:srgbClr val="FEF2F2"/>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365760" y="1005840"/>
            <a:ext cx="109728" cy="356616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685800" y="118872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400"/>
              <a:buFont typeface="Arial"/>
              <a:buNone/>
            </a:pPr>
            <a:r>
              <a:rPr b="1" lang="en-US" sz="1400">
                <a:solidFill>
                  <a:srgbClr val="DC2626"/>
                </a:solidFill>
                <a:latin typeface="Arial"/>
                <a:ea typeface="Arial"/>
                <a:cs typeface="Arial"/>
                <a:sym typeface="Arial"/>
              </a:rPr>
              <a:t>OLD LANGUAGE</a:t>
            </a:r>
            <a:endParaRPr sz="1400">
              <a:solidFill>
                <a:schemeClr val="dk1"/>
              </a:solidFill>
              <a:latin typeface="Calibri"/>
              <a:ea typeface="Calibri"/>
              <a:cs typeface="Calibri"/>
              <a:sym typeface="Calibri"/>
            </a:endParaRPr>
          </a:p>
        </p:txBody>
      </p:sp>
      <p:sp>
        <p:nvSpPr>
          <p:cNvPr id="58" name="Google Shape;58;p4"/>
          <p:cNvSpPr/>
          <p:nvPr/>
        </p:nvSpPr>
        <p:spPr>
          <a:xfrm>
            <a:off x="685800" y="1645920"/>
            <a:ext cx="3474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600"/>
              <a:buFont typeface="Arial"/>
              <a:buNone/>
            </a:pPr>
            <a:r>
              <a:rPr b="1" lang="en-US" sz="1600">
                <a:solidFill>
                  <a:srgbClr val="1B365D"/>
                </a:solidFill>
                <a:latin typeface="Arial"/>
                <a:ea typeface="Arial"/>
                <a:cs typeface="Arial"/>
                <a:sym typeface="Arial"/>
              </a:rPr>
              <a:t>“Add-on”  ·  “Accessory”</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1B365D"/>
              </a:buClr>
              <a:buSzPts val="1600"/>
              <a:buFont typeface="Arial"/>
              <a:buNone/>
            </a:pPr>
            <a:r>
              <a:rPr b="1" lang="en-US" sz="1600">
                <a:solidFill>
                  <a:srgbClr val="1B365D"/>
                </a:solidFill>
                <a:latin typeface="Arial"/>
                <a:ea typeface="Arial"/>
                <a:cs typeface="Arial"/>
                <a:sym typeface="Arial"/>
              </a:rPr>
              <a:t>“Extra”  ·  “Upsell”</a:t>
            </a:r>
            <a:endParaRPr sz="1600">
              <a:solidFill>
                <a:schemeClr val="dk1"/>
              </a:solidFill>
              <a:latin typeface="Calibri"/>
              <a:ea typeface="Calibri"/>
              <a:cs typeface="Calibri"/>
              <a:sym typeface="Calibri"/>
            </a:endParaRPr>
          </a:p>
        </p:txBody>
      </p:sp>
      <p:sp>
        <p:nvSpPr>
          <p:cNvPr id="59" name="Google Shape;59;p4"/>
          <p:cNvSpPr/>
          <p:nvPr/>
        </p:nvSpPr>
        <p:spPr>
          <a:xfrm>
            <a:off x="685800" y="2468880"/>
            <a:ext cx="347472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400"/>
              <a:buFont typeface="Arial"/>
              <a:buNone/>
            </a:pPr>
            <a:r>
              <a:rPr lang="en-US" sz="1400">
                <a:solidFill>
                  <a:srgbClr val="4B5563"/>
                </a:solidFill>
                <a:latin typeface="Arial"/>
                <a:ea typeface="Arial"/>
                <a:cs typeface="Arial"/>
                <a:sym typeface="Arial"/>
              </a:rPr>
              <a:t>These words tell the Client (and the Specialist) that there is a real product… and then some optional stuff hanging off it.</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4B5563"/>
              </a:buClr>
              <a:buSzPts val="1400"/>
              <a:buFont typeface="Arial"/>
              <a:buNone/>
            </a:pPr>
            <a:r>
              <a:rPr lang="en-US" sz="1400">
                <a:solidFill>
                  <a:srgbClr val="4B5563"/>
                </a:solidFill>
                <a:latin typeface="Arial"/>
                <a:ea typeface="Arial"/>
                <a:cs typeface="Arial"/>
                <a:sym typeface="Arial"/>
              </a:rPr>
              <a:t>The hierarchy is baked into the word before we ever make the case.</a:t>
            </a:r>
            <a:endParaRPr sz="1400">
              <a:solidFill>
                <a:schemeClr val="dk1"/>
              </a:solidFill>
              <a:latin typeface="Calibri"/>
              <a:ea typeface="Calibri"/>
              <a:cs typeface="Calibri"/>
              <a:sym typeface="Calibri"/>
            </a:endParaRPr>
          </a:p>
        </p:txBody>
      </p:sp>
      <p:sp>
        <p:nvSpPr>
          <p:cNvPr id="60" name="Google Shape;60;p4"/>
          <p:cNvSpPr/>
          <p:nvPr/>
        </p:nvSpPr>
        <p:spPr>
          <a:xfrm>
            <a:off x="4754880" y="1005840"/>
            <a:ext cx="4023360" cy="3566160"/>
          </a:xfrm>
          <a:prstGeom prst="roundRect">
            <a:avLst>
              <a:gd fmla="val 3077"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4754880" y="1005840"/>
            <a:ext cx="109728" cy="3566160"/>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5074920" y="118872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400"/>
              <a:buFont typeface="Arial"/>
              <a:buNone/>
            </a:pPr>
            <a:r>
              <a:rPr b="1" lang="en-US" sz="1400">
                <a:solidFill>
                  <a:srgbClr val="2E75B6"/>
                </a:solidFill>
                <a:latin typeface="Arial"/>
                <a:ea typeface="Arial"/>
                <a:cs typeface="Arial"/>
                <a:sym typeface="Arial"/>
              </a:rPr>
              <a:t>NEW LANGUAGE</a:t>
            </a:r>
            <a:endParaRPr sz="1400">
              <a:solidFill>
                <a:schemeClr val="dk1"/>
              </a:solidFill>
              <a:latin typeface="Calibri"/>
              <a:ea typeface="Calibri"/>
              <a:cs typeface="Calibri"/>
              <a:sym typeface="Calibri"/>
            </a:endParaRPr>
          </a:p>
        </p:txBody>
      </p:sp>
      <p:sp>
        <p:nvSpPr>
          <p:cNvPr id="63" name="Google Shape;63;p4"/>
          <p:cNvSpPr/>
          <p:nvPr/>
        </p:nvSpPr>
        <p:spPr>
          <a:xfrm>
            <a:off x="5074920" y="1645920"/>
            <a:ext cx="3474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600"/>
              <a:buFont typeface="Arial"/>
              <a:buNone/>
            </a:pPr>
            <a:r>
              <a:rPr b="1" lang="en-US" sz="1600">
                <a:solidFill>
                  <a:srgbClr val="1B365D"/>
                </a:solidFill>
                <a:latin typeface="Arial"/>
                <a:ea typeface="Arial"/>
                <a:cs typeface="Arial"/>
                <a:sym typeface="Arial"/>
              </a:rPr>
              <a:t>“Solution Component”</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1B365D"/>
              </a:buClr>
              <a:buSzPts val="1600"/>
              <a:buFont typeface="Arial"/>
              <a:buNone/>
            </a:pPr>
            <a:r>
              <a:rPr b="1" lang="en-US" sz="1600">
                <a:solidFill>
                  <a:srgbClr val="1B365D"/>
                </a:solidFill>
                <a:latin typeface="Arial"/>
                <a:ea typeface="Arial"/>
                <a:cs typeface="Arial"/>
                <a:sym typeface="Arial"/>
              </a:rPr>
              <a:t>“Part of the System”</a:t>
            </a:r>
            <a:endParaRPr sz="1600">
              <a:solidFill>
                <a:schemeClr val="dk1"/>
              </a:solidFill>
              <a:latin typeface="Calibri"/>
              <a:ea typeface="Calibri"/>
              <a:cs typeface="Calibri"/>
              <a:sym typeface="Calibri"/>
            </a:endParaRPr>
          </a:p>
        </p:txBody>
      </p:sp>
      <p:sp>
        <p:nvSpPr>
          <p:cNvPr id="64" name="Google Shape;64;p4"/>
          <p:cNvSpPr/>
          <p:nvPr/>
        </p:nvSpPr>
        <p:spPr>
          <a:xfrm>
            <a:off x="5074920" y="2468880"/>
            <a:ext cx="347472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400"/>
              <a:buFont typeface="Arial"/>
              <a:buNone/>
            </a:pPr>
            <a:r>
              <a:rPr lang="en-US" sz="1400">
                <a:solidFill>
                  <a:srgbClr val="4B5563"/>
                </a:solidFill>
                <a:latin typeface="Arial"/>
                <a:ea typeface="Arial"/>
                <a:cs typeface="Arial"/>
                <a:sym typeface="Arial"/>
              </a:rPr>
              <a:t>Everything belongs to one complete Solution. Nothing was ever separate.</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4B5563"/>
              </a:buClr>
              <a:buSzPts val="1400"/>
              <a:buFont typeface="Arial"/>
              <a:buNone/>
            </a:pPr>
            <a:r>
              <a:rPr lang="en-US" sz="1400">
                <a:solidFill>
                  <a:srgbClr val="4B5563"/>
                </a:solidFill>
                <a:latin typeface="Arial"/>
                <a:ea typeface="Arial"/>
                <a:cs typeface="Arial"/>
                <a:sym typeface="Arial"/>
              </a:rPr>
              <a:t>We explain each component’s job in the Client’s outcome, not its position in the transaction.</a:t>
            </a:r>
            <a:endParaRPr sz="1400">
              <a:solidFill>
                <a:schemeClr val="dk1"/>
              </a:solidFill>
              <a:latin typeface="Calibri"/>
              <a:ea typeface="Calibri"/>
              <a:cs typeface="Calibri"/>
              <a:sym typeface="Calibri"/>
            </a:endParaRPr>
          </a:p>
        </p:txBody>
      </p:sp>
      <p:pic>
        <p:nvPicPr>
          <p:cNvPr descr="/home/workdir/artifacts/cogs_logo.png" id="65" name="Google Shape;65;p4"/>
          <p:cNvPicPr preferRelativeResize="0"/>
          <p:nvPr/>
        </p:nvPicPr>
        <p:blipFill rotWithShape="1">
          <a:blip r:embed="rId3">
            <a:alphaModFix/>
          </a:blip>
          <a:srcRect b="0" l="0" r="0" t="0"/>
          <a:stretch/>
        </p:blipFill>
        <p:spPr>
          <a:xfrm>
            <a:off x="8646868" y="4704811"/>
            <a:ext cx="385355" cy="385355"/>
          </a:xfrm>
          <a:prstGeom prst="rect">
            <a:avLst/>
          </a:prstGeom>
          <a:noFill/>
          <a:ln>
            <a:noFill/>
          </a:ln>
        </p:spPr>
      </p:pic>
      <p:pic>
        <p:nvPicPr>
          <p:cNvPr id="66" name="Google Shape;66;p4"/>
          <p:cNvPicPr preferRelativeResize="0"/>
          <p:nvPr/>
        </p:nvPicPr>
        <p:blipFill rotWithShape="1">
          <a:blip r:embed="rId4">
            <a:alphaModFix/>
          </a:blip>
          <a:srcRect b="0" l="0" r="0" t="0"/>
          <a:stretch/>
        </p:blipFill>
        <p:spPr>
          <a:xfrm>
            <a:off x="29391" y="4651466"/>
            <a:ext cx="738051" cy="492034"/>
          </a:xfrm>
          <a:prstGeom prst="rect">
            <a:avLst/>
          </a:prstGeom>
          <a:noFill/>
          <a:ln>
            <a:noFill/>
          </a:ln>
        </p:spPr>
      </p:pic>
      <p:pic>
        <p:nvPicPr>
          <p:cNvPr id="67" name="Google Shape;67;p4" title="caprec-2026-07-28-15-06-19.webm">
            <a:hlinkClick r:id="rId5"/>
          </p:cNvPr>
          <p:cNvPicPr preferRelativeResize="0"/>
          <p:nvPr/>
        </p:nvPicPr>
        <p:blipFill>
          <a:blip r:embed="rId6">
            <a:alphaModFix/>
          </a:blip>
          <a:stretch>
            <a:fillRect/>
          </a:stretch>
        </p:blipFill>
        <p:spPr>
          <a:xfrm>
            <a:off x="6635925" y="4846325"/>
            <a:ext cx="1855450" cy="129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100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5"/>
          <p:cNvSpPr/>
          <p:nvPr/>
        </p:nvSpPr>
        <p:spPr>
          <a:xfrm>
            <a:off x="457200" y="274320"/>
            <a:ext cx="7498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2600"/>
              <a:buFont typeface="Arial"/>
              <a:buNone/>
            </a:pPr>
            <a:r>
              <a:rPr b="1" lang="en-US" sz="2600">
                <a:solidFill>
                  <a:srgbClr val="1B365D"/>
                </a:solidFill>
                <a:latin typeface="Arial"/>
                <a:ea typeface="Arial"/>
                <a:cs typeface="Arial"/>
                <a:sym typeface="Arial"/>
              </a:rPr>
              <a:t>The Frame Underneath Everything</a:t>
            </a:r>
            <a:endParaRPr sz="2600">
              <a:solidFill>
                <a:schemeClr val="dk1"/>
              </a:solidFill>
              <a:latin typeface="Calibri"/>
              <a:ea typeface="Calibri"/>
              <a:cs typeface="Calibri"/>
              <a:sym typeface="Calibri"/>
            </a:endParaRPr>
          </a:p>
        </p:txBody>
      </p:sp>
      <p:sp>
        <p:nvSpPr>
          <p:cNvPr id="74" name="Google Shape;74;p5"/>
          <p:cNvSpPr/>
          <p:nvPr/>
        </p:nvSpPr>
        <p:spPr>
          <a:xfrm>
            <a:off x="457200" y="1097280"/>
            <a:ext cx="82296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5B6"/>
              </a:buClr>
              <a:buSzPts val="2400"/>
              <a:buFont typeface="Arial"/>
              <a:buNone/>
            </a:pPr>
            <a:r>
              <a:rPr b="1" lang="en-US" sz="2400">
                <a:solidFill>
                  <a:srgbClr val="2E75B6"/>
                </a:solidFill>
                <a:latin typeface="Arial"/>
                <a:ea typeface="Arial"/>
                <a:cs typeface="Arial"/>
                <a:sym typeface="Arial"/>
              </a:rPr>
              <a:t>A partial Solution is an incomplete Solution.</a:t>
            </a:r>
            <a:endParaRPr sz="2400">
              <a:solidFill>
                <a:schemeClr val="dk1"/>
              </a:solidFill>
              <a:latin typeface="Calibri"/>
              <a:ea typeface="Calibri"/>
              <a:cs typeface="Calibri"/>
              <a:sym typeface="Calibri"/>
            </a:endParaRPr>
          </a:p>
        </p:txBody>
      </p:sp>
      <p:sp>
        <p:nvSpPr>
          <p:cNvPr id="75" name="Google Shape;75;p5"/>
          <p:cNvSpPr/>
          <p:nvPr/>
        </p:nvSpPr>
        <p:spPr>
          <a:xfrm>
            <a:off x="457200" y="164592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65D"/>
              </a:buClr>
              <a:buSzPts val="1800"/>
              <a:buFont typeface="Arial"/>
              <a:buNone/>
            </a:pPr>
            <a:r>
              <a:rPr i="1" lang="en-US" sz="1800">
                <a:solidFill>
                  <a:srgbClr val="1B365D"/>
                </a:solidFill>
                <a:latin typeface="Arial"/>
                <a:ea typeface="Arial"/>
                <a:cs typeface="Arial"/>
                <a:sym typeface="Arial"/>
              </a:rPr>
              <a:t>Nobody takes half a prescription.</a:t>
            </a:r>
            <a:endParaRPr sz="1800">
              <a:solidFill>
                <a:schemeClr val="dk1"/>
              </a:solidFill>
              <a:latin typeface="Calibri"/>
              <a:ea typeface="Calibri"/>
              <a:cs typeface="Calibri"/>
              <a:sym typeface="Calibri"/>
            </a:endParaRPr>
          </a:p>
        </p:txBody>
      </p:sp>
      <p:sp>
        <p:nvSpPr>
          <p:cNvPr id="76" name="Google Shape;76;p5"/>
          <p:cNvSpPr/>
          <p:nvPr/>
        </p:nvSpPr>
        <p:spPr>
          <a:xfrm>
            <a:off x="914400" y="2377440"/>
            <a:ext cx="7315200" cy="2103120"/>
          </a:xfrm>
          <a:prstGeom prst="roundRect">
            <a:avLst>
              <a:gd fmla="val 5217"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1234440" y="2606040"/>
            <a:ext cx="667512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500"/>
              <a:buFont typeface="Arial"/>
              <a:buNone/>
            </a:pPr>
            <a:r>
              <a:rPr lang="en-US" sz="1500">
                <a:solidFill>
                  <a:srgbClr val="1B365D"/>
                </a:solidFill>
                <a:latin typeface="Arial"/>
                <a:ea typeface="Arial"/>
                <a:cs typeface="Arial"/>
                <a:sym typeface="Arial"/>
              </a:rPr>
              <a:t>If a Client has support in one pair of shoes and is unsupported the other sixteen hours of the day, they haven’t solved the problem — they’ve solved part of it.</a:t>
            </a:r>
            <a:endParaRPr sz="15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1B365D"/>
              </a:buClr>
              <a:buSzPts val="1500"/>
              <a:buFont typeface="Arial"/>
              <a:buNone/>
            </a:pPr>
            <a:r>
              <a:rPr lang="en-US" sz="1500">
                <a:solidFill>
                  <a:srgbClr val="1B365D"/>
                </a:solidFill>
                <a:latin typeface="Arial"/>
                <a:ea typeface="Arial"/>
                <a:cs typeface="Arial"/>
                <a:sym typeface="Arial"/>
              </a:rPr>
              <a:t>That’s not an “extra” conversation. That’s a “here’s what completing your pain resolution actually requires” conversation.</a:t>
            </a:r>
            <a:endParaRPr sz="1500">
              <a:solidFill>
                <a:schemeClr val="dk1"/>
              </a:solidFill>
              <a:latin typeface="Calibri"/>
              <a:ea typeface="Calibri"/>
              <a:cs typeface="Calibri"/>
              <a:sym typeface="Calibri"/>
            </a:endParaRPr>
          </a:p>
        </p:txBody>
      </p:sp>
      <p:pic>
        <p:nvPicPr>
          <p:cNvPr descr="/home/workdir/artifacts/cogs_logo.png" id="78" name="Google Shape;78;p5"/>
          <p:cNvPicPr preferRelativeResize="0"/>
          <p:nvPr/>
        </p:nvPicPr>
        <p:blipFill rotWithShape="1">
          <a:blip r:embed="rId3">
            <a:alphaModFix/>
          </a:blip>
          <a:srcRect b="0" l="0" r="0" t="0"/>
          <a:stretch/>
        </p:blipFill>
        <p:spPr>
          <a:xfrm>
            <a:off x="8654143" y="4722223"/>
            <a:ext cx="385354" cy="385354"/>
          </a:xfrm>
          <a:prstGeom prst="rect">
            <a:avLst/>
          </a:prstGeom>
          <a:noFill/>
          <a:ln>
            <a:noFill/>
          </a:ln>
        </p:spPr>
      </p:pic>
      <p:pic>
        <p:nvPicPr>
          <p:cNvPr id="79" name="Google Shape;79;p5"/>
          <p:cNvPicPr preferRelativeResize="0"/>
          <p:nvPr/>
        </p:nvPicPr>
        <p:blipFill rotWithShape="1">
          <a:blip r:embed="rId4">
            <a:alphaModFix/>
          </a:blip>
          <a:srcRect b="0" l="0" r="0" t="0"/>
          <a:stretch/>
        </p:blipFill>
        <p:spPr>
          <a:xfrm>
            <a:off x="29391" y="4651466"/>
            <a:ext cx="738051" cy="492034"/>
          </a:xfrm>
          <a:prstGeom prst="rect">
            <a:avLst/>
          </a:prstGeom>
          <a:noFill/>
          <a:ln>
            <a:noFill/>
          </a:ln>
        </p:spPr>
      </p:pic>
      <p:pic>
        <p:nvPicPr>
          <p:cNvPr id="80" name="Google Shape;80;p5" title="caprec-2026-07-28-15-14-16.webm">
            <a:hlinkClick r:id="rId5"/>
          </p:cNvPr>
          <p:cNvPicPr preferRelativeResize="0"/>
          <p:nvPr/>
        </p:nvPicPr>
        <p:blipFill>
          <a:blip r:embed="rId6">
            <a:alphaModFix/>
          </a:blip>
          <a:stretch>
            <a:fillRect/>
          </a:stretch>
        </p:blipFill>
        <p:spPr>
          <a:xfrm>
            <a:off x="6803375" y="4878250"/>
            <a:ext cx="1680700" cy="151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1000"/>
                                        <p:tgtEl>
                                          <p:spTgt spid="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6"/>
          <p:cNvSpPr/>
          <p:nvPr/>
        </p:nvSpPr>
        <p:spPr>
          <a:xfrm>
            <a:off x="365760" y="228600"/>
            <a:ext cx="7680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2200"/>
              <a:buFont typeface="Arial"/>
              <a:buNone/>
            </a:pPr>
            <a:r>
              <a:rPr b="1" lang="en-US" sz="2200">
                <a:solidFill>
                  <a:srgbClr val="1B365D"/>
                </a:solidFill>
                <a:latin typeface="Arial"/>
                <a:ea typeface="Arial"/>
                <a:cs typeface="Arial"/>
                <a:sym typeface="Arial"/>
              </a:rPr>
              <a:t>What the Data Shows About Complete Solutions</a:t>
            </a:r>
            <a:endParaRPr sz="2200">
              <a:solidFill>
                <a:schemeClr val="dk1"/>
              </a:solidFill>
              <a:latin typeface="Calibri"/>
              <a:ea typeface="Calibri"/>
              <a:cs typeface="Calibri"/>
              <a:sym typeface="Calibri"/>
            </a:endParaRPr>
          </a:p>
        </p:txBody>
      </p:sp>
      <p:sp>
        <p:nvSpPr>
          <p:cNvPr id="87" name="Google Shape;87;p6"/>
          <p:cNvSpPr/>
          <p:nvPr/>
        </p:nvSpPr>
        <p:spPr>
          <a:xfrm>
            <a:off x="365760" y="6400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Arial"/>
              <a:buNone/>
            </a:pPr>
            <a:r>
              <a:rPr i="1" lang="en-US" sz="1400">
                <a:solidFill>
                  <a:srgbClr val="64748B"/>
                </a:solidFill>
                <a:latin typeface="Arial"/>
                <a:ea typeface="Arial"/>
                <a:cs typeface="Arial"/>
                <a:sym typeface="Arial"/>
              </a:rPr>
              <a:t>Stores that present a fuller system close more and generate higher total sales</a:t>
            </a:r>
            <a:endParaRPr sz="1400">
              <a:solidFill>
                <a:schemeClr val="dk1"/>
              </a:solidFill>
              <a:latin typeface="Calibri"/>
              <a:ea typeface="Calibri"/>
              <a:cs typeface="Calibri"/>
              <a:sym typeface="Calibri"/>
            </a:endParaRPr>
          </a:p>
        </p:txBody>
      </p:sp>
      <p:pic>
        <p:nvPicPr>
          <p:cNvPr descr="/home/workdir/artifacts/cogs_logo.png" id="88" name="Google Shape;88;p6"/>
          <p:cNvPicPr preferRelativeResize="0"/>
          <p:nvPr/>
        </p:nvPicPr>
        <p:blipFill rotWithShape="1">
          <a:blip r:embed="rId3">
            <a:alphaModFix/>
          </a:blip>
          <a:srcRect b="0" l="0" r="0" t="0"/>
          <a:stretch/>
        </p:blipFill>
        <p:spPr>
          <a:xfrm>
            <a:off x="8654143" y="4722223"/>
            <a:ext cx="385354" cy="385354"/>
          </a:xfrm>
          <a:prstGeom prst="rect">
            <a:avLst/>
          </a:prstGeom>
          <a:noFill/>
          <a:ln>
            <a:noFill/>
          </a:ln>
        </p:spPr>
      </p:pic>
      <p:pic>
        <p:nvPicPr>
          <p:cNvPr id="89" name="Google Shape;89;p6"/>
          <p:cNvPicPr preferRelativeResize="0"/>
          <p:nvPr/>
        </p:nvPicPr>
        <p:blipFill rotWithShape="1">
          <a:blip r:embed="rId4">
            <a:alphaModFix/>
          </a:blip>
          <a:srcRect b="0" l="0" r="0" t="0"/>
          <a:stretch/>
        </p:blipFill>
        <p:spPr>
          <a:xfrm>
            <a:off x="29391" y="4651466"/>
            <a:ext cx="738051" cy="492034"/>
          </a:xfrm>
          <a:prstGeom prst="rect">
            <a:avLst/>
          </a:prstGeom>
          <a:noFill/>
          <a:ln>
            <a:noFill/>
          </a:ln>
        </p:spPr>
      </p:pic>
      <p:pic>
        <p:nvPicPr>
          <p:cNvPr id="90" name="Google Shape;90;p6" title="caprec-2026-07-28-15-15-46.webm">
            <a:hlinkClick r:id="rId5"/>
          </p:cNvPr>
          <p:cNvPicPr preferRelativeResize="0"/>
          <p:nvPr/>
        </p:nvPicPr>
        <p:blipFill>
          <a:blip r:embed="rId6">
            <a:alphaModFix/>
          </a:blip>
          <a:stretch>
            <a:fillRect/>
          </a:stretch>
        </p:blipFill>
        <p:spPr>
          <a:xfrm>
            <a:off x="6526200" y="4922000"/>
            <a:ext cx="1895900" cy="141800"/>
          </a:xfrm>
          <a:prstGeom prst="rect">
            <a:avLst/>
          </a:prstGeom>
          <a:noFill/>
          <a:ln>
            <a:noFill/>
          </a:ln>
        </p:spPr>
      </p:pic>
      <p:pic>
        <p:nvPicPr>
          <p:cNvPr descr="/home/workdir/artifacts/bubble_chart.png" id="91" name="Google Shape;91;p6"/>
          <p:cNvPicPr preferRelativeResize="0"/>
          <p:nvPr/>
        </p:nvPicPr>
        <p:blipFill rotWithShape="1">
          <a:blip r:embed="rId7">
            <a:alphaModFix/>
          </a:blip>
          <a:srcRect b="0" l="0" r="0" t="0"/>
          <a:stretch/>
        </p:blipFill>
        <p:spPr>
          <a:xfrm>
            <a:off x="822960" y="1051560"/>
            <a:ext cx="7498080" cy="324612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pic>
        <p:nvPicPr>
          <p:cNvPr id="97" name="Google Shape;97;p7"/>
          <p:cNvPicPr preferRelativeResize="0"/>
          <p:nvPr/>
        </p:nvPicPr>
        <p:blipFill rotWithShape="1">
          <a:blip r:embed="rId3">
            <a:alphaModFix/>
          </a:blip>
          <a:srcRect b="0" l="0" r="0" t="0"/>
          <a:stretch/>
        </p:blipFill>
        <p:spPr>
          <a:xfrm>
            <a:off x="29391" y="4651466"/>
            <a:ext cx="738051" cy="492034"/>
          </a:xfrm>
          <a:prstGeom prst="rect">
            <a:avLst/>
          </a:prstGeom>
          <a:noFill/>
          <a:ln>
            <a:noFill/>
          </a:ln>
        </p:spPr>
      </p:pic>
      <p:sp>
        <p:nvSpPr>
          <p:cNvPr id="98" name="Google Shape;98;p7"/>
          <p:cNvSpPr/>
          <p:nvPr/>
        </p:nvSpPr>
        <p:spPr>
          <a:xfrm>
            <a:off x="365760" y="182880"/>
            <a:ext cx="7680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2200"/>
              <a:buFont typeface="Arial"/>
              <a:buNone/>
            </a:pPr>
            <a:r>
              <a:rPr b="1" lang="en-US" sz="2200">
                <a:solidFill>
                  <a:srgbClr val="1B365D"/>
                </a:solidFill>
                <a:latin typeface="Arial"/>
                <a:ea typeface="Arial"/>
                <a:cs typeface="Arial"/>
                <a:sym typeface="Arial"/>
              </a:rPr>
              <a:t>Four Solution Components — Each Has a Job</a:t>
            </a:r>
            <a:endParaRPr sz="2200">
              <a:solidFill>
                <a:schemeClr val="dk1"/>
              </a:solidFill>
              <a:latin typeface="Calibri"/>
              <a:ea typeface="Calibri"/>
              <a:cs typeface="Calibri"/>
              <a:sym typeface="Calibri"/>
            </a:endParaRPr>
          </a:p>
        </p:txBody>
      </p:sp>
      <p:sp>
        <p:nvSpPr>
          <p:cNvPr id="99" name="Google Shape;99;p7"/>
          <p:cNvSpPr/>
          <p:nvPr/>
        </p:nvSpPr>
        <p:spPr>
          <a:xfrm>
            <a:off x="365760" y="548640"/>
            <a:ext cx="7680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Arial"/>
              <a:buNone/>
            </a:pPr>
            <a:r>
              <a:rPr i="1" lang="en-US" sz="1300">
                <a:solidFill>
                  <a:srgbClr val="64748B"/>
                </a:solidFill>
                <a:latin typeface="Arial"/>
                <a:ea typeface="Arial"/>
                <a:cs typeface="Arial"/>
                <a:sym typeface="Arial"/>
              </a:rPr>
              <a:t>Name what it does for the Client, not where it sits in the transaction</a:t>
            </a:r>
            <a:endParaRPr sz="1300">
              <a:solidFill>
                <a:schemeClr val="dk1"/>
              </a:solidFill>
              <a:latin typeface="Calibri"/>
              <a:ea typeface="Calibri"/>
              <a:cs typeface="Calibri"/>
              <a:sym typeface="Calibri"/>
            </a:endParaRPr>
          </a:p>
        </p:txBody>
      </p:sp>
      <p:sp>
        <p:nvSpPr>
          <p:cNvPr id="100" name="Google Shape;100;p7"/>
          <p:cNvSpPr/>
          <p:nvPr/>
        </p:nvSpPr>
        <p:spPr>
          <a:xfrm>
            <a:off x="274320" y="1005840"/>
            <a:ext cx="2103120" cy="3749040"/>
          </a:xfrm>
          <a:prstGeom prst="roundRect">
            <a:avLst>
              <a:gd fmla="val 4348"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274320" y="1005840"/>
            <a:ext cx="2103120" cy="73152"/>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365760" y="1188720"/>
            <a:ext cx="1920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800"/>
              <a:buFont typeface="Arial"/>
              <a:buNone/>
            </a:pPr>
            <a:r>
              <a:rPr b="1" lang="en-US" sz="1800">
                <a:solidFill>
                  <a:srgbClr val="2E75B6"/>
                </a:solidFill>
                <a:latin typeface="Arial"/>
                <a:ea typeface="Arial"/>
                <a:cs typeface="Arial"/>
                <a:sym typeface="Arial"/>
              </a:rPr>
              <a:t>01</a:t>
            </a:r>
            <a:endParaRPr sz="1800">
              <a:solidFill>
                <a:schemeClr val="dk1"/>
              </a:solidFill>
              <a:latin typeface="Calibri"/>
              <a:ea typeface="Calibri"/>
              <a:cs typeface="Calibri"/>
              <a:sym typeface="Calibri"/>
            </a:endParaRPr>
          </a:p>
        </p:txBody>
      </p:sp>
      <p:sp>
        <p:nvSpPr>
          <p:cNvPr id="103" name="Google Shape;103;p7"/>
          <p:cNvSpPr/>
          <p:nvPr/>
        </p:nvSpPr>
        <p:spPr>
          <a:xfrm>
            <a:off x="384048" y="1554480"/>
            <a:ext cx="1874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300"/>
              <a:buFont typeface="Arial"/>
              <a:buNone/>
            </a:pPr>
            <a:r>
              <a:rPr b="1" lang="en-US" sz="1300">
                <a:solidFill>
                  <a:srgbClr val="1B365D"/>
                </a:solidFill>
                <a:latin typeface="Arial"/>
                <a:ea typeface="Arial"/>
                <a:cs typeface="Arial"/>
                <a:sym typeface="Arial"/>
              </a:rPr>
              <a:t>Brooks </a:t>
            </a:r>
            <a:r>
              <a:rPr b="1" lang="en-US" sz="1300">
                <a:solidFill>
                  <a:srgbClr val="1B365D"/>
                </a:solidFill>
              </a:rPr>
              <a:t>Shoes</a:t>
            </a:r>
            <a:endParaRPr sz="1300">
              <a:solidFill>
                <a:schemeClr val="dk1"/>
              </a:solidFill>
              <a:latin typeface="Calibri"/>
              <a:ea typeface="Calibri"/>
              <a:cs typeface="Calibri"/>
              <a:sym typeface="Calibri"/>
            </a:endParaRPr>
          </a:p>
        </p:txBody>
      </p:sp>
      <p:sp>
        <p:nvSpPr>
          <p:cNvPr id="104" name="Google Shape;104;p7"/>
          <p:cNvSpPr/>
          <p:nvPr/>
        </p:nvSpPr>
        <p:spPr>
          <a:xfrm>
            <a:off x="384048" y="2286000"/>
            <a:ext cx="18745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200"/>
              <a:buFont typeface="Arial"/>
              <a:buNone/>
            </a:pPr>
            <a:r>
              <a:rPr b="1" lang="en-US" sz="1200">
                <a:solidFill>
                  <a:srgbClr val="2E75B6"/>
                </a:solidFill>
                <a:latin typeface="Arial"/>
                <a:ea typeface="Arial"/>
                <a:cs typeface="Arial"/>
                <a:sym typeface="Arial"/>
              </a:rPr>
              <a:t>Carries the correction into the shoes they wear most</a:t>
            </a:r>
            <a:endParaRPr sz="1200">
              <a:solidFill>
                <a:schemeClr val="dk1"/>
              </a:solidFill>
              <a:latin typeface="Calibri"/>
              <a:ea typeface="Calibri"/>
              <a:cs typeface="Calibri"/>
              <a:sym typeface="Calibri"/>
            </a:endParaRPr>
          </a:p>
        </p:txBody>
      </p:sp>
      <p:sp>
        <p:nvSpPr>
          <p:cNvPr id="105" name="Google Shape;105;p7"/>
          <p:cNvSpPr/>
          <p:nvPr/>
        </p:nvSpPr>
        <p:spPr>
          <a:xfrm>
            <a:off x="384048" y="3154680"/>
            <a:ext cx="187452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100"/>
              <a:buFont typeface="Arial"/>
              <a:buNone/>
            </a:pPr>
            <a:r>
              <a:rPr lang="en-US" sz="1100">
                <a:solidFill>
                  <a:srgbClr val="4B5563"/>
                </a:solidFill>
                <a:latin typeface="Arial"/>
                <a:ea typeface="Arial"/>
                <a:cs typeface="Arial"/>
                <a:sym typeface="Arial"/>
              </a:rPr>
              <a:t>The supports do their job only when the footwear works with them. This is how the Solution travels with the Client all day.</a:t>
            </a:r>
            <a:endParaRPr sz="1100">
              <a:solidFill>
                <a:schemeClr val="dk1"/>
              </a:solidFill>
              <a:latin typeface="Calibri"/>
              <a:ea typeface="Calibri"/>
              <a:cs typeface="Calibri"/>
              <a:sym typeface="Calibri"/>
            </a:endParaRPr>
          </a:p>
        </p:txBody>
      </p:sp>
      <p:sp>
        <p:nvSpPr>
          <p:cNvPr id="106" name="Google Shape;106;p7"/>
          <p:cNvSpPr/>
          <p:nvPr/>
        </p:nvSpPr>
        <p:spPr>
          <a:xfrm>
            <a:off x="2468880" y="1005840"/>
            <a:ext cx="2103120" cy="3749040"/>
          </a:xfrm>
          <a:prstGeom prst="roundRect">
            <a:avLst>
              <a:gd fmla="val 4348"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2468880" y="1005840"/>
            <a:ext cx="2103120" cy="73152"/>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2560320" y="1188720"/>
            <a:ext cx="1920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800"/>
              <a:buFont typeface="Arial"/>
              <a:buNone/>
            </a:pPr>
            <a:r>
              <a:rPr b="1" lang="en-US" sz="1800">
                <a:solidFill>
                  <a:srgbClr val="2E75B6"/>
                </a:solidFill>
                <a:latin typeface="Arial"/>
                <a:ea typeface="Arial"/>
                <a:cs typeface="Arial"/>
                <a:sym typeface="Arial"/>
              </a:rPr>
              <a:t>02</a:t>
            </a:r>
            <a:endParaRPr sz="1800">
              <a:solidFill>
                <a:schemeClr val="dk1"/>
              </a:solidFill>
              <a:latin typeface="Calibri"/>
              <a:ea typeface="Calibri"/>
              <a:cs typeface="Calibri"/>
              <a:sym typeface="Calibri"/>
            </a:endParaRPr>
          </a:p>
        </p:txBody>
      </p:sp>
      <p:sp>
        <p:nvSpPr>
          <p:cNvPr id="109" name="Google Shape;109;p7"/>
          <p:cNvSpPr/>
          <p:nvPr/>
        </p:nvSpPr>
        <p:spPr>
          <a:xfrm>
            <a:off x="2578608" y="1554480"/>
            <a:ext cx="1874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300"/>
              <a:buFont typeface="Arial"/>
              <a:buNone/>
            </a:pPr>
            <a:r>
              <a:rPr b="1" lang="en-US" sz="1300">
                <a:solidFill>
                  <a:srgbClr val="1B365D"/>
                </a:solidFill>
                <a:latin typeface="Arial"/>
                <a:ea typeface="Arial"/>
                <a:cs typeface="Arial"/>
                <a:sym typeface="Arial"/>
              </a:rPr>
              <a:t>OS1st Wellness</a:t>
            </a:r>
            <a:r>
              <a:rPr b="1" lang="en-US" sz="1300">
                <a:solidFill>
                  <a:srgbClr val="1B365D"/>
                </a:solidFill>
              </a:rPr>
              <a:t> </a:t>
            </a:r>
            <a:r>
              <a:rPr b="1" lang="en-US" sz="1300">
                <a:solidFill>
                  <a:srgbClr val="1B365D"/>
                </a:solidFill>
                <a:latin typeface="Arial"/>
                <a:ea typeface="Arial"/>
                <a:cs typeface="Arial"/>
                <a:sym typeface="Arial"/>
              </a:rPr>
              <a:t>Socks</a:t>
            </a:r>
            <a:endParaRPr sz="1300">
              <a:solidFill>
                <a:schemeClr val="dk1"/>
              </a:solidFill>
              <a:latin typeface="Calibri"/>
              <a:ea typeface="Calibri"/>
              <a:cs typeface="Calibri"/>
              <a:sym typeface="Calibri"/>
            </a:endParaRPr>
          </a:p>
        </p:txBody>
      </p:sp>
      <p:sp>
        <p:nvSpPr>
          <p:cNvPr id="110" name="Google Shape;110;p7"/>
          <p:cNvSpPr/>
          <p:nvPr/>
        </p:nvSpPr>
        <p:spPr>
          <a:xfrm>
            <a:off x="2578608" y="2286000"/>
            <a:ext cx="18745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200"/>
              <a:buFont typeface="Arial"/>
              <a:buNone/>
            </a:pPr>
            <a:r>
              <a:rPr b="1" lang="en-US" sz="1200">
                <a:solidFill>
                  <a:srgbClr val="2E75B6"/>
                </a:solidFill>
                <a:latin typeface="Arial"/>
                <a:ea typeface="Arial"/>
                <a:cs typeface="Arial"/>
                <a:sym typeface="Arial"/>
              </a:rPr>
              <a:t>Protects comfort and consistency every hour</a:t>
            </a:r>
            <a:endParaRPr sz="1200">
              <a:solidFill>
                <a:schemeClr val="dk1"/>
              </a:solidFill>
              <a:latin typeface="Calibri"/>
              <a:ea typeface="Calibri"/>
              <a:cs typeface="Calibri"/>
              <a:sym typeface="Calibri"/>
            </a:endParaRPr>
          </a:p>
        </p:txBody>
      </p:sp>
      <p:sp>
        <p:nvSpPr>
          <p:cNvPr id="111" name="Google Shape;111;p7"/>
          <p:cNvSpPr/>
          <p:nvPr/>
        </p:nvSpPr>
        <p:spPr>
          <a:xfrm>
            <a:off x="2578608" y="3154680"/>
            <a:ext cx="187452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100"/>
              <a:buFont typeface="Arial"/>
              <a:buNone/>
            </a:pPr>
            <a:r>
              <a:rPr lang="en-US" sz="1100">
                <a:solidFill>
                  <a:srgbClr val="4B5563"/>
                </a:solidFill>
                <a:latin typeface="Arial"/>
                <a:ea typeface="Arial"/>
                <a:cs typeface="Arial"/>
                <a:sym typeface="Arial"/>
              </a:rPr>
              <a:t>Reduces friction, manages moisture, and helps the supports feel right from the first step to the last.</a:t>
            </a:r>
            <a:endParaRPr sz="1100">
              <a:solidFill>
                <a:schemeClr val="dk1"/>
              </a:solidFill>
              <a:latin typeface="Calibri"/>
              <a:ea typeface="Calibri"/>
              <a:cs typeface="Calibri"/>
              <a:sym typeface="Calibri"/>
            </a:endParaRPr>
          </a:p>
        </p:txBody>
      </p:sp>
      <p:sp>
        <p:nvSpPr>
          <p:cNvPr id="112" name="Google Shape;112;p7"/>
          <p:cNvSpPr/>
          <p:nvPr/>
        </p:nvSpPr>
        <p:spPr>
          <a:xfrm>
            <a:off x="4663440" y="1005840"/>
            <a:ext cx="2103120" cy="3749040"/>
          </a:xfrm>
          <a:prstGeom prst="roundRect">
            <a:avLst>
              <a:gd fmla="val 4348"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4663440" y="1005840"/>
            <a:ext cx="2103120" cy="73152"/>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4754880" y="1188720"/>
            <a:ext cx="1920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800"/>
              <a:buFont typeface="Arial"/>
              <a:buNone/>
            </a:pPr>
            <a:r>
              <a:rPr b="1" lang="en-US" sz="1800">
                <a:solidFill>
                  <a:srgbClr val="2E75B6"/>
                </a:solidFill>
                <a:latin typeface="Arial"/>
                <a:ea typeface="Arial"/>
                <a:cs typeface="Arial"/>
                <a:sym typeface="Arial"/>
              </a:rPr>
              <a:t>03</a:t>
            </a:r>
            <a:endParaRPr sz="1800">
              <a:solidFill>
                <a:schemeClr val="dk1"/>
              </a:solidFill>
              <a:latin typeface="Calibri"/>
              <a:ea typeface="Calibri"/>
              <a:cs typeface="Calibri"/>
              <a:sym typeface="Calibri"/>
            </a:endParaRPr>
          </a:p>
        </p:txBody>
      </p:sp>
      <p:sp>
        <p:nvSpPr>
          <p:cNvPr id="115" name="Google Shape;115;p7"/>
          <p:cNvSpPr/>
          <p:nvPr/>
        </p:nvSpPr>
        <p:spPr>
          <a:xfrm>
            <a:off x="4773168" y="1554480"/>
            <a:ext cx="1874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300"/>
              <a:buFont typeface="Arial"/>
              <a:buNone/>
            </a:pPr>
            <a:r>
              <a:rPr b="1" lang="en-US" sz="1300">
                <a:solidFill>
                  <a:srgbClr val="1B365D"/>
                </a:solidFill>
                <a:latin typeface="Arial"/>
                <a:ea typeface="Arial"/>
                <a:cs typeface="Arial"/>
                <a:sym typeface="Arial"/>
              </a:rPr>
              <a:t>MedMassager</a:t>
            </a:r>
            <a:endParaRPr sz="1300">
              <a:solidFill>
                <a:schemeClr val="dk1"/>
              </a:solidFill>
              <a:latin typeface="Calibri"/>
              <a:ea typeface="Calibri"/>
              <a:cs typeface="Calibri"/>
              <a:sym typeface="Calibri"/>
            </a:endParaRPr>
          </a:p>
        </p:txBody>
      </p:sp>
      <p:sp>
        <p:nvSpPr>
          <p:cNvPr id="116" name="Google Shape;116;p7"/>
          <p:cNvSpPr/>
          <p:nvPr/>
        </p:nvSpPr>
        <p:spPr>
          <a:xfrm>
            <a:off x="4773168" y="2286000"/>
            <a:ext cx="18745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200"/>
              <a:buFont typeface="Arial"/>
              <a:buNone/>
            </a:pPr>
            <a:r>
              <a:rPr b="1" lang="en-US" sz="1200">
                <a:solidFill>
                  <a:srgbClr val="2E75B6"/>
                </a:solidFill>
                <a:latin typeface="Arial"/>
                <a:ea typeface="Arial"/>
                <a:cs typeface="Arial"/>
                <a:sym typeface="Arial"/>
              </a:rPr>
              <a:t>Extends recovery beyond the fitting</a:t>
            </a:r>
            <a:endParaRPr sz="1200">
              <a:solidFill>
                <a:schemeClr val="dk1"/>
              </a:solidFill>
              <a:latin typeface="Calibri"/>
              <a:ea typeface="Calibri"/>
              <a:cs typeface="Calibri"/>
              <a:sym typeface="Calibri"/>
            </a:endParaRPr>
          </a:p>
        </p:txBody>
      </p:sp>
      <p:sp>
        <p:nvSpPr>
          <p:cNvPr id="117" name="Google Shape;117;p7"/>
          <p:cNvSpPr/>
          <p:nvPr/>
        </p:nvSpPr>
        <p:spPr>
          <a:xfrm>
            <a:off x="4773168" y="3154680"/>
            <a:ext cx="187452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100"/>
              <a:buFont typeface="Arial"/>
              <a:buNone/>
            </a:pPr>
            <a:r>
              <a:rPr lang="en-US" sz="1100">
                <a:solidFill>
                  <a:srgbClr val="4B5563"/>
                </a:solidFill>
                <a:latin typeface="Arial"/>
                <a:ea typeface="Arial"/>
                <a:cs typeface="Arial"/>
                <a:sym typeface="Arial"/>
              </a:rPr>
              <a:t>Supports circulation and comfort at home so the work done in the store keeps paying off after they leave.</a:t>
            </a:r>
            <a:endParaRPr sz="1100">
              <a:solidFill>
                <a:schemeClr val="dk1"/>
              </a:solidFill>
              <a:latin typeface="Calibri"/>
              <a:ea typeface="Calibri"/>
              <a:cs typeface="Calibri"/>
              <a:sym typeface="Calibri"/>
            </a:endParaRPr>
          </a:p>
        </p:txBody>
      </p:sp>
      <p:sp>
        <p:nvSpPr>
          <p:cNvPr id="118" name="Google Shape;118;p7"/>
          <p:cNvSpPr/>
          <p:nvPr/>
        </p:nvSpPr>
        <p:spPr>
          <a:xfrm>
            <a:off x="6858000" y="1005840"/>
            <a:ext cx="2103120" cy="3749040"/>
          </a:xfrm>
          <a:prstGeom prst="roundRect">
            <a:avLst>
              <a:gd fmla="val 4348"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6858000" y="1005840"/>
            <a:ext cx="2103120" cy="73152"/>
          </a:xfrm>
          <a:prstGeom prst="rect">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6949440" y="1188720"/>
            <a:ext cx="1920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800"/>
              <a:buFont typeface="Arial"/>
              <a:buNone/>
            </a:pPr>
            <a:r>
              <a:rPr b="1" lang="en-US" sz="1800">
                <a:solidFill>
                  <a:srgbClr val="2E75B6"/>
                </a:solidFill>
                <a:latin typeface="Arial"/>
                <a:ea typeface="Arial"/>
                <a:cs typeface="Arial"/>
                <a:sym typeface="Arial"/>
              </a:rPr>
              <a:t>04</a:t>
            </a:r>
            <a:endParaRPr sz="1800">
              <a:solidFill>
                <a:schemeClr val="dk1"/>
              </a:solidFill>
              <a:latin typeface="Calibri"/>
              <a:ea typeface="Calibri"/>
              <a:cs typeface="Calibri"/>
              <a:sym typeface="Calibri"/>
            </a:endParaRPr>
          </a:p>
        </p:txBody>
      </p:sp>
      <p:sp>
        <p:nvSpPr>
          <p:cNvPr id="121" name="Google Shape;121;p7"/>
          <p:cNvSpPr/>
          <p:nvPr/>
        </p:nvSpPr>
        <p:spPr>
          <a:xfrm>
            <a:off x="6967728" y="1554480"/>
            <a:ext cx="1874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300"/>
              <a:buFont typeface="Arial"/>
              <a:buNone/>
            </a:pPr>
            <a:r>
              <a:rPr b="1" lang="en-US" sz="1300">
                <a:solidFill>
                  <a:srgbClr val="1B365D"/>
                </a:solidFill>
                <a:latin typeface="Arial"/>
                <a:ea typeface="Arial"/>
                <a:cs typeface="Arial"/>
                <a:sym typeface="Arial"/>
              </a:rPr>
              <a:t>Architek by Good Feet</a:t>
            </a:r>
            <a:endParaRPr sz="1300">
              <a:solidFill>
                <a:schemeClr val="dk1"/>
              </a:solidFill>
              <a:latin typeface="Calibri"/>
              <a:ea typeface="Calibri"/>
              <a:cs typeface="Calibri"/>
              <a:sym typeface="Calibri"/>
            </a:endParaRPr>
          </a:p>
        </p:txBody>
      </p:sp>
      <p:sp>
        <p:nvSpPr>
          <p:cNvPr id="122" name="Google Shape;122;p7"/>
          <p:cNvSpPr/>
          <p:nvPr/>
        </p:nvSpPr>
        <p:spPr>
          <a:xfrm>
            <a:off x="6967728" y="2286000"/>
            <a:ext cx="18745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200"/>
              <a:buFont typeface="Arial"/>
              <a:buNone/>
            </a:pPr>
            <a:r>
              <a:rPr b="1" lang="en-US" sz="1200">
                <a:solidFill>
                  <a:srgbClr val="2E75B6"/>
                </a:solidFill>
                <a:latin typeface="Arial"/>
                <a:ea typeface="Arial"/>
                <a:cs typeface="Arial"/>
                <a:sym typeface="Arial"/>
              </a:rPr>
              <a:t>Completes the system with the right shoe</a:t>
            </a:r>
            <a:endParaRPr sz="1200">
              <a:solidFill>
                <a:schemeClr val="dk1"/>
              </a:solidFill>
              <a:latin typeface="Calibri"/>
              <a:ea typeface="Calibri"/>
              <a:cs typeface="Calibri"/>
              <a:sym typeface="Calibri"/>
            </a:endParaRPr>
          </a:p>
        </p:txBody>
      </p:sp>
      <p:sp>
        <p:nvSpPr>
          <p:cNvPr id="123" name="Google Shape;123;p7"/>
          <p:cNvSpPr/>
          <p:nvPr/>
        </p:nvSpPr>
        <p:spPr>
          <a:xfrm>
            <a:off x="6967728" y="3154680"/>
            <a:ext cx="187452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100"/>
              <a:buFont typeface="Arial"/>
              <a:buNone/>
            </a:pPr>
            <a:r>
              <a:rPr lang="en-US" sz="1100">
                <a:solidFill>
                  <a:srgbClr val="4B5563"/>
                </a:solidFill>
                <a:latin typeface="Arial"/>
                <a:ea typeface="Arial"/>
                <a:cs typeface="Arial"/>
                <a:sym typeface="Arial"/>
              </a:rPr>
              <a:t>Designed to work with the supports. Gives the Client a full Good Feet Solution instead of fighting against regular footwear.</a:t>
            </a:r>
            <a:endParaRPr sz="1100">
              <a:solidFill>
                <a:schemeClr val="dk1"/>
              </a:solidFill>
              <a:latin typeface="Calibri"/>
              <a:ea typeface="Calibri"/>
              <a:cs typeface="Calibri"/>
              <a:sym typeface="Calibri"/>
            </a:endParaRPr>
          </a:p>
        </p:txBody>
      </p:sp>
      <p:pic>
        <p:nvPicPr>
          <p:cNvPr descr="/home/workdir/artifacts/cogs_logo.png" id="124" name="Google Shape;124;p7"/>
          <p:cNvPicPr preferRelativeResize="0"/>
          <p:nvPr/>
        </p:nvPicPr>
        <p:blipFill rotWithShape="1">
          <a:blip r:embed="rId4">
            <a:alphaModFix/>
          </a:blip>
          <a:srcRect b="0" l="0" r="0" t="0"/>
          <a:stretch/>
        </p:blipFill>
        <p:spPr>
          <a:xfrm>
            <a:off x="8654143" y="4722223"/>
            <a:ext cx="385354" cy="385354"/>
          </a:xfrm>
          <a:prstGeom prst="rect">
            <a:avLst/>
          </a:prstGeom>
          <a:noFill/>
          <a:ln>
            <a:noFill/>
          </a:ln>
        </p:spPr>
      </p:pic>
      <p:pic>
        <p:nvPicPr>
          <p:cNvPr id="125" name="Google Shape;125;p7" title="caprec-2026-07-28-15-38-55.webm">
            <a:hlinkClick r:id="rId5"/>
          </p:cNvPr>
          <p:cNvPicPr preferRelativeResize="0"/>
          <p:nvPr/>
        </p:nvPicPr>
        <p:blipFill>
          <a:blip r:embed="rId6">
            <a:alphaModFix/>
          </a:blip>
          <a:stretch>
            <a:fillRect/>
          </a:stretch>
        </p:blipFill>
        <p:spPr>
          <a:xfrm>
            <a:off x="6468475" y="4900125"/>
            <a:ext cx="2103125" cy="108900"/>
          </a:xfrm>
          <a:prstGeom prst="rect">
            <a:avLst/>
          </a:prstGeom>
          <a:noFill/>
          <a:ln>
            <a:noFill/>
          </a:ln>
          <a:effectLst>
            <a:outerShdw blurRad="57150" rotWithShape="0" algn="bl" dist="19050">
              <a:srgbClr val="000000">
                <a:alpha val="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pic>
        <p:nvPicPr>
          <p:cNvPr id="131" name="Google Shape;131;p8"/>
          <p:cNvPicPr preferRelativeResize="0"/>
          <p:nvPr/>
        </p:nvPicPr>
        <p:blipFill rotWithShape="1">
          <a:blip r:embed="rId3">
            <a:alphaModFix/>
          </a:blip>
          <a:srcRect b="0" l="0" r="0" t="0"/>
          <a:stretch/>
        </p:blipFill>
        <p:spPr>
          <a:xfrm>
            <a:off x="29391" y="4651466"/>
            <a:ext cx="738051" cy="492034"/>
          </a:xfrm>
          <a:prstGeom prst="rect">
            <a:avLst/>
          </a:prstGeom>
          <a:noFill/>
          <a:ln>
            <a:noFill/>
          </a:ln>
        </p:spPr>
      </p:pic>
      <p:sp>
        <p:nvSpPr>
          <p:cNvPr id="132" name="Google Shape;132;p8"/>
          <p:cNvSpPr/>
          <p:nvPr/>
        </p:nvSpPr>
        <p:spPr>
          <a:xfrm>
            <a:off x="457200" y="228600"/>
            <a:ext cx="7498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2400"/>
              <a:buFont typeface="Arial"/>
              <a:buNone/>
            </a:pPr>
            <a:r>
              <a:rPr b="1" lang="en-US" sz="2400">
                <a:solidFill>
                  <a:srgbClr val="1B365D"/>
                </a:solidFill>
                <a:latin typeface="Arial"/>
                <a:ea typeface="Arial"/>
                <a:cs typeface="Arial"/>
                <a:sym typeface="Arial"/>
              </a:rPr>
              <a:t>How We Talk About Each Component</a:t>
            </a:r>
            <a:endParaRPr sz="2400">
              <a:solidFill>
                <a:schemeClr val="dk1"/>
              </a:solidFill>
              <a:latin typeface="Calibri"/>
              <a:ea typeface="Calibri"/>
              <a:cs typeface="Calibri"/>
              <a:sym typeface="Calibri"/>
            </a:endParaRPr>
          </a:p>
        </p:txBody>
      </p:sp>
      <p:sp>
        <p:nvSpPr>
          <p:cNvPr id="133" name="Google Shape;133;p8"/>
          <p:cNvSpPr/>
          <p:nvPr/>
        </p:nvSpPr>
        <p:spPr>
          <a:xfrm>
            <a:off x="457200" y="640080"/>
            <a:ext cx="7498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Arial"/>
              <a:buNone/>
            </a:pPr>
            <a:r>
              <a:rPr i="1" lang="en-US" sz="1300">
                <a:solidFill>
                  <a:srgbClr val="64748B"/>
                </a:solidFill>
                <a:latin typeface="Arial"/>
                <a:ea typeface="Arial"/>
                <a:cs typeface="Arial"/>
                <a:sym typeface="Arial"/>
              </a:rPr>
              <a:t>Language that keeps everything inside one Solution</a:t>
            </a:r>
            <a:endParaRPr sz="1300">
              <a:solidFill>
                <a:schemeClr val="dk1"/>
              </a:solidFill>
              <a:latin typeface="Calibri"/>
              <a:ea typeface="Calibri"/>
              <a:cs typeface="Calibri"/>
              <a:sym typeface="Calibri"/>
            </a:endParaRPr>
          </a:p>
        </p:txBody>
      </p:sp>
      <p:sp>
        <p:nvSpPr>
          <p:cNvPr id="134" name="Google Shape;134;p8"/>
          <p:cNvSpPr/>
          <p:nvPr/>
        </p:nvSpPr>
        <p:spPr>
          <a:xfrm>
            <a:off x="365760" y="1051560"/>
            <a:ext cx="2377440" cy="822960"/>
          </a:xfrm>
          <a:prstGeom prst="roundRect">
            <a:avLst>
              <a:gd fmla="val 8889" name="adj"/>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457200" y="1051560"/>
            <a:ext cx="21945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Brooks Ghost / Adrenaline</a:t>
            </a:r>
            <a:endParaRPr sz="1200">
              <a:solidFill>
                <a:schemeClr val="dk1"/>
              </a:solidFill>
              <a:latin typeface="Calibri"/>
              <a:ea typeface="Calibri"/>
              <a:cs typeface="Calibri"/>
              <a:sym typeface="Calibri"/>
            </a:endParaRPr>
          </a:p>
        </p:txBody>
      </p:sp>
      <p:sp>
        <p:nvSpPr>
          <p:cNvPr id="136" name="Google Shape;136;p8"/>
          <p:cNvSpPr/>
          <p:nvPr/>
        </p:nvSpPr>
        <p:spPr>
          <a:xfrm>
            <a:off x="2880360" y="1051560"/>
            <a:ext cx="5760720" cy="822960"/>
          </a:xfrm>
          <a:prstGeom prst="roundRect">
            <a:avLst>
              <a:gd fmla="val 8889" name="adj"/>
            </a:avLst>
          </a:prstGeom>
          <a:solidFill>
            <a:srgbClr val="E8F0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3017520" y="1143000"/>
            <a:ext cx="5486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200"/>
              <a:buFont typeface="Arial"/>
              <a:buNone/>
            </a:pPr>
            <a:r>
              <a:rPr lang="en-US" sz="1200">
                <a:solidFill>
                  <a:srgbClr val="1B365D"/>
                </a:solidFill>
                <a:latin typeface="Arial"/>
                <a:ea typeface="Arial"/>
                <a:cs typeface="Arial"/>
                <a:sym typeface="Arial"/>
              </a:rPr>
              <a:t>“These shoes carry the correction we just created into the footwear you wear most. That’s how the Solution stays with you all day, not just in the store.”</a:t>
            </a:r>
            <a:endParaRPr sz="1200">
              <a:solidFill>
                <a:schemeClr val="dk1"/>
              </a:solidFill>
              <a:latin typeface="Calibri"/>
              <a:ea typeface="Calibri"/>
              <a:cs typeface="Calibri"/>
              <a:sym typeface="Calibri"/>
            </a:endParaRPr>
          </a:p>
        </p:txBody>
      </p:sp>
      <p:sp>
        <p:nvSpPr>
          <p:cNvPr id="138" name="Google Shape;138;p8"/>
          <p:cNvSpPr/>
          <p:nvPr/>
        </p:nvSpPr>
        <p:spPr>
          <a:xfrm>
            <a:off x="365760" y="2011680"/>
            <a:ext cx="2377440" cy="822960"/>
          </a:xfrm>
          <a:prstGeom prst="roundRect">
            <a:avLst>
              <a:gd fmla="val 8889" name="adj"/>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457200" y="2011680"/>
            <a:ext cx="21945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OS1st Socks</a:t>
            </a:r>
            <a:endParaRPr sz="1200">
              <a:solidFill>
                <a:schemeClr val="dk1"/>
              </a:solidFill>
              <a:latin typeface="Calibri"/>
              <a:ea typeface="Calibri"/>
              <a:cs typeface="Calibri"/>
              <a:sym typeface="Calibri"/>
            </a:endParaRPr>
          </a:p>
        </p:txBody>
      </p:sp>
      <p:sp>
        <p:nvSpPr>
          <p:cNvPr id="140" name="Google Shape;140;p8"/>
          <p:cNvSpPr/>
          <p:nvPr/>
        </p:nvSpPr>
        <p:spPr>
          <a:xfrm>
            <a:off x="2880360" y="2011680"/>
            <a:ext cx="5760720" cy="822960"/>
          </a:xfrm>
          <a:prstGeom prst="roundRect">
            <a:avLst>
              <a:gd fmla="val 8889" name="adj"/>
            </a:avLst>
          </a:prstGeom>
          <a:solidFill>
            <a:srgbClr val="E8F0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3017520" y="2103120"/>
            <a:ext cx="5486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200"/>
              <a:buFont typeface="Arial"/>
              <a:buNone/>
            </a:pPr>
            <a:r>
              <a:rPr lang="en-US" sz="1200">
                <a:solidFill>
                  <a:srgbClr val="1B365D"/>
                </a:solidFill>
                <a:latin typeface="Arial"/>
                <a:ea typeface="Arial"/>
                <a:cs typeface="Arial"/>
                <a:sym typeface="Arial"/>
              </a:rPr>
              <a:t>“These protect the comfort and consistency of the supports every hour you’re on your feet. They help the system feel right from the first step to the last.”</a:t>
            </a:r>
            <a:endParaRPr sz="1200">
              <a:solidFill>
                <a:schemeClr val="dk1"/>
              </a:solidFill>
              <a:latin typeface="Calibri"/>
              <a:ea typeface="Calibri"/>
              <a:cs typeface="Calibri"/>
              <a:sym typeface="Calibri"/>
            </a:endParaRPr>
          </a:p>
        </p:txBody>
      </p:sp>
      <p:sp>
        <p:nvSpPr>
          <p:cNvPr id="142" name="Google Shape;142;p8"/>
          <p:cNvSpPr/>
          <p:nvPr/>
        </p:nvSpPr>
        <p:spPr>
          <a:xfrm>
            <a:off x="365760" y="2971800"/>
            <a:ext cx="2377440" cy="822960"/>
          </a:xfrm>
          <a:prstGeom prst="roundRect">
            <a:avLst>
              <a:gd fmla="val 8889" name="adj"/>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457200" y="2971800"/>
            <a:ext cx="21945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MedMassager</a:t>
            </a:r>
            <a:endParaRPr sz="1200">
              <a:solidFill>
                <a:schemeClr val="dk1"/>
              </a:solidFill>
              <a:latin typeface="Calibri"/>
              <a:ea typeface="Calibri"/>
              <a:cs typeface="Calibri"/>
              <a:sym typeface="Calibri"/>
            </a:endParaRPr>
          </a:p>
        </p:txBody>
      </p:sp>
      <p:sp>
        <p:nvSpPr>
          <p:cNvPr id="144" name="Google Shape;144;p8"/>
          <p:cNvSpPr/>
          <p:nvPr/>
        </p:nvSpPr>
        <p:spPr>
          <a:xfrm>
            <a:off x="2880360" y="2971800"/>
            <a:ext cx="5760720" cy="822960"/>
          </a:xfrm>
          <a:prstGeom prst="roundRect">
            <a:avLst>
              <a:gd fmla="val 8889" name="adj"/>
            </a:avLst>
          </a:prstGeom>
          <a:solidFill>
            <a:srgbClr val="E8F0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3017520" y="3063240"/>
            <a:ext cx="5486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200"/>
              <a:buFont typeface="Arial"/>
              <a:buNone/>
            </a:pPr>
            <a:r>
              <a:rPr lang="en-US" sz="1200">
                <a:solidFill>
                  <a:srgbClr val="1B365D"/>
                </a:solidFill>
                <a:latin typeface="Arial"/>
                <a:ea typeface="Arial"/>
                <a:cs typeface="Arial"/>
                <a:sym typeface="Arial"/>
              </a:rPr>
              <a:t>“This extends the recovery work beyond the fitting. It helps with circulation and comfort at home so what we did today keeps working after you leave.”</a:t>
            </a:r>
            <a:endParaRPr sz="1200">
              <a:solidFill>
                <a:schemeClr val="dk1"/>
              </a:solidFill>
              <a:latin typeface="Calibri"/>
              <a:ea typeface="Calibri"/>
              <a:cs typeface="Calibri"/>
              <a:sym typeface="Calibri"/>
            </a:endParaRPr>
          </a:p>
        </p:txBody>
      </p:sp>
      <p:sp>
        <p:nvSpPr>
          <p:cNvPr id="146" name="Google Shape;146;p8"/>
          <p:cNvSpPr/>
          <p:nvPr/>
        </p:nvSpPr>
        <p:spPr>
          <a:xfrm>
            <a:off x="365760" y="3931920"/>
            <a:ext cx="2377440" cy="822960"/>
          </a:xfrm>
          <a:prstGeom prst="roundRect">
            <a:avLst>
              <a:gd fmla="val 8889" name="adj"/>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457200" y="3931920"/>
            <a:ext cx="21945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Architek</a:t>
            </a:r>
            <a:endParaRPr sz="1200">
              <a:solidFill>
                <a:schemeClr val="dk1"/>
              </a:solidFill>
              <a:latin typeface="Calibri"/>
              <a:ea typeface="Calibri"/>
              <a:cs typeface="Calibri"/>
              <a:sym typeface="Calibri"/>
            </a:endParaRPr>
          </a:p>
        </p:txBody>
      </p:sp>
      <p:sp>
        <p:nvSpPr>
          <p:cNvPr id="148" name="Google Shape;148;p8"/>
          <p:cNvSpPr/>
          <p:nvPr/>
        </p:nvSpPr>
        <p:spPr>
          <a:xfrm>
            <a:off x="2880360" y="3931920"/>
            <a:ext cx="5760720" cy="822960"/>
          </a:xfrm>
          <a:prstGeom prst="roundRect">
            <a:avLst>
              <a:gd fmla="val 8889" name="adj"/>
            </a:avLst>
          </a:prstGeom>
          <a:solidFill>
            <a:srgbClr val="E8F0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3017520" y="4023360"/>
            <a:ext cx="5486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200"/>
              <a:buFont typeface="Arial"/>
              <a:buNone/>
            </a:pPr>
            <a:r>
              <a:rPr lang="en-US" sz="1200">
                <a:solidFill>
                  <a:srgbClr val="1B365D"/>
                </a:solidFill>
                <a:latin typeface="Arial"/>
                <a:ea typeface="Arial"/>
                <a:cs typeface="Arial"/>
                <a:sym typeface="Arial"/>
              </a:rPr>
              <a:t>“This is the shoe designed to work with the supports. It completes the system so you’re not fighting against regular footwear the rest of the day.”</a:t>
            </a:r>
            <a:endParaRPr sz="1200">
              <a:solidFill>
                <a:schemeClr val="dk1"/>
              </a:solidFill>
              <a:latin typeface="Calibri"/>
              <a:ea typeface="Calibri"/>
              <a:cs typeface="Calibri"/>
              <a:sym typeface="Calibri"/>
            </a:endParaRPr>
          </a:p>
        </p:txBody>
      </p:sp>
      <p:pic>
        <p:nvPicPr>
          <p:cNvPr descr="/home/workdir/artifacts/cogs_logo.png" id="150" name="Google Shape;150;p8"/>
          <p:cNvPicPr preferRelativeResize="0"/>
          <p:nvPr/>
        </p:nvPicPr>
        <p:blipFill rotWithShape="1">
          <a:blip r:embed="rId4">
            <a:alphaModFix/>
          </a:blip>
          <a:srcRect b="0" l="0" r="0" t="0"/>
          <a:stretch/>
        </p:blipFill>
        <p:spPr>
          <a:xfrm>
            <a:off x="8654143" y="4722223"/>
            <a:ext cx="385354" cy="385354"/>
          </a:xfrm>
          <a:prstGeom prst="rect">
            <a:avLst/>
          </a:prstGeom>
          <a:noFill/>
          <a:ln>
            <a:noFill/>
          </a:ln>
        </p:spPr>
      </p:pic>
      <p:pic>
        <p:nvPicPr>
          <p:cNvPr id="151" name="Google Shape;151;p8" title="caprec-2026-07-28-15-21-04.webm">
            <a:hlinkClick r:id="rId5"/>
          </p:cNvPr>
          <p:cNvPicPr preferRelativeResize="0"/>
          <p:nvPr/>
        </p:nvPicPr>
        <p:blipFill>
          <a:blip r:embed="rId6">
            <a:alphaModFix/>
          </a:blip>
          <a:stretch>
            <a:fillRect/>
          </a:stretch>
        </p:blipFill>
        <p:spPr>
          <a:xfrm>
            <a:off x="6278300" y="4892050"/>
            <a:ext cx="2225626" cy="116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75B6"/>
        </a:solidFill>
      </p:bgPr>
    </p:bg>
    <p:spTree>
      <p:nvGrpSpPr>
        <p:cNvPr id="156" name="Shape 156"/>
        <p:cNvGrpSpPr/>
        <p:nvPr/>
      </p:nvGrpSpPr>
      <p:grpSpPr>
        <a:xfrm>
          <a:off x="0" y="0"/>
          <a:ext cx="0" cy="0"/>
          <a:chOff x="0" y="0"/>
          <a:chExt cx="0" cy="0"/>
        </a:xfrm>
      </p:grpSpPr>
      <p:pic>
        <p:nvPicPr>
          <p:cNvPr descr="/home/workdir/artifacts/cogs_logo.png" id="157" name="Google Shape;157;p9"/>
          <p:cNvPicPr preferRelativeResize="0"/>
          <p:nvPr/>
        </p:nvPicPr>
        <p:blipFill rotWithShape="1">
          <a:blip r:embed="rId3">
            <a:alphaModFix/>
          </a:blip>
          <a:srcRect b="0" l="0" r="0" t="0"/>
          <a:stretch/>
        </p:blipFill>
        <p:spPr>
          <a:xfrm>
            <a:off x="3886200" y="365760"/>
            <a:ext cx="1371600" cy="1371600"/>
          </a:xfrm>
          <a:prstGeom prst="rect">
            <a:avLst/>
          </a:prstGeom>
          <a:noFill/>
          <a:ln>
            <a:noFill/>
          </a:ln>
        </p:spPr>
      </p:pic>
      <p:sp>
        <p:nvSpPr>
          <p:cNvPr id="158" name="Google Shape;158;p9"/>
          <p:cNvSpPr/>
          <p:nvPr/>
        </p:nvSpPr>
        <p:spPr>
          <a:xfrm>
            <a:off x="457200" y="192024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D0F0"/>
              </a:buClr>
              <a:buSzPts val="1800"/>
              <a:buFont typeface="Arial"/>
              <a:buNone/>
            </a:pPr>
            <a:r>
              <a:rPr b="1" lang="en-US" sz="1800">
                <a:solidFill>
                  <a:srgbClr val="A8D0F0"/>
                </a:solidFill>
                <a:latin typeface="Arial"/>
                <a:ea typeface="Arial"/>
                <a:cs typeface="Arial"/>
                <a:sym typeface="Arial"/>
              </a:rPr>
              <a:t>The Specialist Mindset</a:t>
            </a:r>
            <a:endParaRPr sz="1800">
              <a:solidFill>
                <a:schemeClr val="dk1"/>
              </a:solidFill>
              <a:latin typeface="Calibri"/>
              <a:ea typeface="Calibri"/>
              <a:cs typeface="Calibri"/>
              <a:sym typeface="Calibri"/>
            </a:endParaRPr>
          </a:p>
        </p:txBody>
      </p:sp>
      <p:sp>
        <p:nvSpPr>
          <p:cNvPr id="159" name="Google Shape;159;p9"/>
          <p:cNvSpPr/>
          <p:nvPr/>
        </p:nvSpPr>
        <p:spPr>
          <a:xfrm>
            <a:off x="731520" y="2377440"/>
            <a:ext cx="76809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lang="en-US" sz="2200">
                <a:solidFill>
                  <a:srgbClr val="FFFFFF"/>
                </a:solidFill>
                <a:latin typeface="Arial"/>
                <a:ea typeface="Arial"/>
                <a:cs typeface="Arial"/>
                <a:sym typeface="Arial"/>
              </a:rPr>
              <a:t>We don’t present a product and then upsell.</a:t>
            </a:r>
            <a:endParaRPr sz="22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2200"/>
              <a:buFont typeface="Arial"/>
              <a:buNone/>
            </a:pPr>
            <a:r>
              <a:rPr b="1" lang="en-US" sz="2200">
                <a:solidFill>
                  <a:srgbClr val="FFFFFF"/>
                </a:solidFill>
                <a:latin typeface="Arial"/>
                <a:ea typeface="Arial"/>
                <a:cs typeface="Arial"/>
                <a:sym typeface="Arial"/>
              </a:rPr>
              <a:t>We present one complete Solution and explain each component’s job.</a:t>
            </a:r>
            <a:endParaRPr sz="2200">
              <a:solidFill>
                <a:schemeClr val="dk1"/>
              </a:solidFill>
              <a:latin typeface="Calibri"/>
              <a:ea typeface="Calibri"/>
              <a:cs typeface="Calibri"/>
              <a:sym typeface="Calibri"/>
            </a:endParaRPr>
          </a:p>
        </p:txBody>
      </p:sp>
      <p:sp>
        <p:nvSpPr>
          <p:cNvPr id="160" name="Google Shape;160;p9"/>
          <p:cNvSpPr/>
          <p:nvPr/>
        </p:nvSpPr>
        <p:spPr>
          <a:xfrm>
            <a:off x="1097280" y="3520440"/>
            <a:ext cx="6949440" cy="1097280"/>
          </a:xfrm>
          <a:prstGeom prst="roundRect">
            <a:avLst>
              <a:gd fmla="val 8333" name="adj"/>
            </a:avLst>
          </a:prstGeom>
          <a:solidFill>
            <a:srgbClr val="1A5A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1371600" y="3657600"/>
            <a:ext cx="64008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i="1" lang="en-US" sz="1400">
                <a:solidFill>
                  <a:srgbClr val="FFFFFF"/>
                </a:solidFill>
                <a:latin typeface="Arial"/>
                <a:ea typeface="Arial"/>
                <a:cs typeface="Arial"/>
                <a:sym typeface="Arial"/>
              </a:rPr>
              <a:t>“Everything I’m showing you is part of the same Solution. It’s what it takes to keep you out of pain all day, not just some of the day.”</a:t>
            </a:r>
            <a:endParaRPr sz="1400">
              <a:solidFill>
                <a:schemeClr val="dk1"/>
              </a:solidFill>
              <a:latin typeface="Calibri"/>
              <a:ea typeface="Calibri"/>
              <a:cs typeface="Calibri"/>
              <a:sym typeface="Calibri"/>
            </a:endParaRPr>
          </a:p>
        </p:txBody>
      </p:sp>
      <p:sp>
        <p:nvSpPr>
          <p:cNvPr id="162" name="Google Shape;162;p9"/>
          <p:cNvSpPr/>
          <p:nvPr/>
        </p:nvSpPr>
        <p:spPr>
          <a:xfrm>
            <a:off x="1371600" y="4297680"/>
            <a:ext cx="6400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D0F0"/>
              </a:buClr>
              <a:buSzPts val="1200"/>
              <a:buFont typeface="Arial"/>
              <a:buNone/>
            </a:pPr>
            <a:r>
              <a:rPr lang="en-US" sz="1200">
                <a:solidFill>
                  <a:srgbClr val="A8D0F0"/>
                </a:solidFill>
                <a:latin typeface="Arial"/>
                <a:ea typeface="Arial"/>
                <a:cs typeface="Arial"/>
                <a:sym typeface="Arial"/>
              </a:rPr>
              <a:t>— The language that belongs in every presentation</a:t>
            </a:r>
            <a:endParaRPr sz="1200">
              <a:solidFill>
                <a:schemeClr val="dk1"/>
              </a:solidFill>
              <a:latin typeface="Calibri"/>
              <a:ea typeface="Calibri"/>
              <a:cs typeface="Calibri"/>
              <a:sym typeface="Calibri"/>
            </a:endParaRPr>
          </a:p>
        </p:txBody>
      </p:sp>
      <p:pic>
        <p:nvPicPr>
          <p:cNvPr id="163" name="Google Shape;163;p9"/>
          <p:cNvPicPr preferRelativeResize="0"/>
          <p:nvPr/>
        </p:nvPicPr>
        <p:blipFill rotWithShape="1">
          <a:blip r:embed="rId4">
            <a:alphaModFix/>
          </a:blip>
          <a:srcRect b="0" l="0" r="0" t="0"/>
          <a:stretch/>
        </p:blipFill>
        <p:spPr>
          <a:xfrm>
            <a:off x="91440" y="4512188"/>
            <a:ext cx="822960" cy="631312"/>
          </a:xfrm>
          <a:prstGeom prst="rect">
            <a:avLst/>
          </a:prstGeom>
          <a:noFill/>
          <a:ln>
            <a:noFill/>
          </a:ln>
        </p:spPr>
      </p:pic>
      <p:pic>
        <p:nvPicPr>
          <p:cNvPr id="164" name="Google Shape;164;p9" title="caprec-2026-07-28-15-22-43.webm">
            <a:hlinkClick r:id="rId5"/>
          </p:cNvPr>
          <p:cNvPicPr preferRelativeResize="0"/>
          <p:nvPr/>
        </p:nvPicPr>
        <p:blipFill>
          <a:blip r:embed="rId6">
            <a:alphaModFix/>
          </a:blip>
          <a:stretch>
            <a:fillRect/>
          </a:stretch>
        </p:blipFill>
        <p:spPr>
          <a:xfrm>
            <a:off x="6751525" y="4795266"/>
            <a:ext cx="2153926" cy="170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10"/>
          <p:cNvSpPr/>
          <p:nvPr/>
        </p:nvSpPr>
        <p:spPr>
          <a:xfrm>
            <a:off x="457200" y="228600"/>
            <a:ext cx="7498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2400"/>
              <a:buFont typeface="Arial"/>
              <a:buNone/>
            </a:pPr>
            <a:r>
              <a:rPr b="1" lang="en-US" sz="2400">
                <a:solidFill>
                  <a:srgbClr val="1B365D"/>
                </a:solidFill>
                <a:latin typeface="Arial"/>
                <a:ea typeface="Arial"/>
                <a:cs typeface="Arial"/>
                <a:sym typeface="Arial"/>
              </a:rPr>
              <a:t>When the Client Pushes Back</a:t>
            </a:r>
            <a:endParaRPr sz="2400">
              <a:solidFill>
                <a:schemeClr val="dk1"/>
              </a:solidFill>
              <a:latin typeface="Calibri"/>
              <a:ea typeface="Calibri"/>
              <a:cs typeface="Calibri"/>
              <a:sym typeface="Calibri"/>
            </a:endParaRPr>
          </a:p>
        </p:txBody>
      </p:sp>
      <p:sp>
        <p:nvSpPr>
          <p:cNvPr id="171" name="Google Shape;171;p10"/>
          <p:cNvSpPr/>
          <p:nvPr/>
        </p:nvSpPr>
        <p:spPr>
          <a:xfrm>
            <a:off x="457200" y="640080"/>
            <a:ext cx="7498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Arial"/>
              <a:buNone/>
            </a:pPr>
            <a:r>
              <a:rPr i="1" lang="en-US" sz="1400">
                <a:solidFill>
                  <a:srgbClr val="64748B"/>
                </a:solidFill>
                <a:latin typeface="Arial"/>
                <a:ea typeface="Arial"/>
                <a:cs typeface="Arial"/>
                <a:sym typeface="Arial"/>
              </a:rPr>
              <a:t>We Match the Right Solution — we never “step down”</a:t>
            </a:r>
            <a:endParaRPr sz="1400">
              <a:solidFill>
                <a:schemeClr val="dk1"/>
              </a:solidFill>
              <a:latin typeface="Calibri"/>
              <a:ea typeface="Calibri"/>
              <a:cs typeface="Calibri"/>
              <a:sym typeface="Calibri"/>
            </a:endParaRPr>
          </a:p>
        </p:txBody>
      </p:sp>
      <p:sp>
        <p:nvSpPr>
          <p:cNvPr id="172" name="Google Shape;172;p10"/>
          <p:cNvSpPr/>
          <p:nvPr/>
        </p:nvSpPr>
        <p:spPr>
          <a:xfrm>
            <a:off x="457200" y="1143000"/>
            <a:ext cx="640080" cy="640080"/>
          </a:xfrm>
          <a:prstGeom prst="ellipse">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
          <p:cNvSpPr/>
          <p:nvPr/>
        </p:nvSpPr>
        <p:spPr>
          <a:xfrm>
            <a:off x="457200" y="114300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lang="en-US" sz="2200">
                <a:solidFill>
                  <a:srgbClr val="FFFFFF"/>
                </a:solidFill>
                <a:latin typeface="Arial"/>
                <a:ea typeface="Arial"/>
                <a:cs typeface="Arial"/>
                <a:sym typeface="Arial"/>
              </a:rPr>
              <a:t>1</a:t>
            </a:r>
            <a:endParaRPr sz="2200">
              <a:solidFill>
                <a:schemeClr val="dk1"/>
              </a:solidFill>
              <a:latin typeface="Calibri"/>
              <a:ea typeface="Calibri"/>
              <a:cs typeface="Calibri"/>
              <a:sym typeface="Calibri"/>
            </a:endParaRPr>
          </a:p>
        </p:txBody>
      </p:sp>
      <p:sp>
        <p:nvSpPr>
          <p:cNvPr id="174" name="Google Shape;174;p10"/>
          <p:cNvSpPr/>
          <p:nvPr/>
        </p:nvSpPr>
        <p:spPr>
          <a:xfrm>
            <a:off x="1325880" y="1051560"/>
            <a:ext cx="7223760" cy="1051560"/>
          </a:xfrm>
          <a:prstGeom prst="roundRect">
            <a:avLst>
              <a:gd fmla="val 8696"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p:nvPr/>
        </p:nvSpPr>
        <p:spPr>
          <a:xfrm>
            <a:off x="1554480" y="1143000"/>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600"/>
              <a:buFont typeface="Arial"/>
              <a:buNone/>
            </a:pPr>
            <a:r>
              <a:rPr b="1" lang="en-US" sz="1600">
                <a:solidFill>
                  <a:srgbClr val="1B365D"/>
                </a:solidFill>
                <a:latin typeface="Arial"/>
                <a:ea typeface="Arial"/>
                <a:cs typeface="Arial"/>
                <a:sym typeface="Arial"/>
              </a:rPr>
              <a:t>Reconnect to the Goal</a:t>
            </a:r>
            <a:endParaRPr sz="1600">
              <a:solidFill>
                <a:schemeClr val="dk1"/>
              </a:solidFill>
              <a:latin typeface="Calibri"/>
              <a:ea typeface="Calibri"/>
              <a:cs typeface="Calibri"/>
              <a:sym typeface="Calibri"/>
            </a:endParaRPr>
          </a:p>
        </p:txBody>
      </p:sp>
      <p:sp>
        <p:nvSpPr>
          <p:cNvPr id="176" name="Google Shape;176;p10"/>
          <p:cNvSpPr/>
          <p:nvPr/>
        </p:nvSpPr>
        <p:spPr>
          <a:xfrm>
            <a:off x="1554480" y="1508760"/>
            <a:ext cx="6766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400"/>
              <a:buFont typeface="Arial"/>
              <a:buNone/>
            </a:pPr>
            <a:r>
              <a:rPr lang="en-US" sz="1400">
                <a:solidFill>
                  <a:srgbClr val="4B5563"/>
                </a:solidFill>
                <a:latin typeface="Arial"/>
                <a:ea typeface="Arial"/>
                <a:cs typeface="Arial"/>
                <a:sym typeface="Arial"/>
              </a:rPr>
              <a:t>Bring them back to why they came in before you change anything in the Solution.</a:t>
            </a:r>
            <a:endParaRPr sz="1400">
              <a:solidFill>
                <a:schemeClr val="dk1"/>
              </a:solidFill>
              <a:latin typeface="Calibri"/>
              <a:ea typeface="Calibri"/>
              <a:cs typeface="Calibri"/>
              <a:sym typeface="Calibri"/>
            </a:endParaRPr>
          </a:p>
        </p:txBody>
      </p:sp>
      <p:sp>
        <p:nvSpPr>
          <p:cNvPr id="177" name="Google Shape;177;p10"/>
          <p:cNvSpPr/>
          <p:nvPr/>
        </p:nvSpPr>
        <p:spPr>
          <a:xfrm>
            <a:off x="457200" y="2377440"/>
            <a:ext cx="640080" cy="640080"/>
          </a:xfrm>
          <a:prstGeom prst="ellipse">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p:nvPr/>
        </p:nvSpPr>
        <p:spPr>
          <a:xfrm>
            <a:off x="457200" y="23774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lang="en-US" sz="2200">
                <a:solidFill>
                  <a:srgbClr val="FFFFFF"/>
                </a:solidFill>
                <a:latin typeface="Arial"/>
                <a:ea typeface="Arial"/>
                <a:cs typeface="Arial"/>
                <a:sym typeface="Arial"/>
              </a:rPr>
              <a:t>2</a:t>
            </a:r>
            <a:endParaRPr sz="2200">
              <a:solidFill>
                <a:schemeClr val="dk1"/>
              </a:solidFill>
              <a:latin typeface="Calibri"/>
              <a:ea typeface="Calibri"/>
              <a:cs typeface="Calibri"/>
              <a:sym typeface="Calibri"/>
            </a:endParaRPr>
          </a:p>
        </p:txBody>
      </p:sp>
      <p:sp>
        <p:nvSpPr>
          <p:cNvPr id="179" name="Google Shape;179;p10"/>
          <p:cNvSpPr/>
          <p:nvPr/>
        </p:nvSpPr>
        <p:spPr>
          <a:xfrm>
            <a:off x="1325880" y="2286000"/>
            <a:ext cx="7223760" cy="1051560"/>
          </a:xfrm>
          <a:prstGeom prst="roundRect">
            <a:avLst>
              <a:gd fmla="val 8696"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1554480" y="2377440"/>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600"/>
              <a:buFont typeface="Arial"/>
              <a:buNone/>
            </a:pPr>
            <a:r>
              <a:rPr b="1" lang="en-US" sz="1600">
                <a:solidFill>
                  <a:srgbClr val="1B365D"/>
                </a:solidFill>
                <a:latin typeface="Arial"/>
                <a:ea typeface="Arial"/>
                <a:cs typeface="Arial"/>
                <a:sym typeface="Arial"/>
              </a:rPr>
              <a:t>Explain the Component’s Job</a:t>
            </a:r>
            <a:endParaRPr sz="1600">
              <a:solidFill>
                <a:schemeClr val="dk1"/>
              </a:solidFill>
              <a:latin typeface="Calibri"/>
              <a:ea typeface="Calibri"/>
              <a:cs typeface="Calibri"/>
              <a:sym typeface="Calibri"/>
            </a:endParaRPr>
          </a:p>
        </p:txBody>
      </p:sp>
      <p:sp>
        <p:nvSpPr>
          <p:cNvPr id="181" name="Google Shape;181;p10"/>
          <p:cNvSpPr/>
          <p:nvPr/>
        </p:nvSpPr>
        <p:spPr>
          <a:xfrm>
            <a:off x="1554480" y="2743200"/>
            <a:ext cx="6766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400"/>
              <a:buFont typeface="Arial"/>
              <a:buNone/>
            </a:pPr>
            <a:r>
              <a:rPr lang="en-US" sz="1400">
                <a:solidFill>
                  <a:srgbClr val="4B5563"/>
                </a:solidFill>
                <a:latin typeface="Arial"/>
                <a:ea typeface="Arial"/>
                <a:cs typeface="Arial"/>
                <a:sym typeface="Arial"/>
              </a:rPr>
              <a:t>Protect credibility. Tell them why that component was part of the original Solution for them.</a:t>
            </a:r>
            <a:endParaRPr sz="1400">
              <a:solidFill>
                <a:schemeClr val="dk1"/>
              </a:solidFill>
              <a:latin typeface="Calibri"/>
              <a:ea typeface="Calibri"/>
              <a:cs typeface="Calibri"/>
              <a:sym typeface="Calibri"/>
            </a:endParaRPr>
          </a:p>
        </p:txBody>
      </p:sp>
      <p:sp>
        <p:nvSpPr>
          <p:cNvPr id="182" name="Google Shape;182;p10"/>
          <p:cNvSpPr/>
          <p:nvPr/>
        </p:nvSpPr>
        <p:spPr>
          <a:xfrm>
            <a:off x="457200" y="3611880"/>
            <a:ext cx="640080" cy="640080"/>
          </a:xfrm>
          <a:prstGeom prst="ellipse">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457200" y="361188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lang="en-US" sz="2200">
                <a:solidFill>
                  <a:srgbClr val="FFFFFF"/>
                </a:solidFill>
                <a:latin typeface="Arial"/>
                <a:ea typeface="Arial"/>
                <a:cs typeface="Arial"/>
                <a:sym typeface="Arial"/>
              </a:rPr>
              <a:t>3</a:t>
            </a:r>
            <a:endParaRPr sz="2200">
              <a:solidFill>
                <a:schemeClr val="dk1"/>
              </a:solidFill>
              <a:latin typeface="Calibri"/>
              <a:ea typeface="Calibri"/>
              <a:cs typeface="Calibri"/>
              <a:sym typeface="Calibri"/>
            </a:endParaRPr>
          </a:p>
        </p:txBody>
      </p:sp>
      <p:sp>
        <p:nvSpPr>
          <p:cNvPr id="184" name="Google Shape;184;p10"/>
          <p:cNvSpPr/>
          <p:nvPr/>
        </p:nvSpPr>
        <p:spPr>
          <a:xfrm>
            <a:off x="1325880" y="3520440"/>
            <a:ext cx="7223760" cy="1051560"/>
          </a:xfrm>
          <a:prstGeom prst="roundRect">
            <a:avLst>
              <a:gd fmla="val 8696" name="adj"/>
            </a:avLst>
          </a:prstGeom>
          <a:solidFill>
            <a:srgbClr val="E8F0F9"/>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p:nvPr/>
        </p:nvSpPr>
        <p:spPr>
          <a:xfrm>
            <a:off x="1554480" y="3611880"/>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600"/>
              <a:buFont typeface="Arial"/>
              <a:buNone/>
            </a:pPr>
            <a:r>
              <a:rPr b="1" lang="en-US" sz="1600">
                <a:solidFill>
                  <a:srgbClr val="1B365D"/>
                </a:solidFill>
                <a:latin typeface="Arial"/>
                <a:ea typeface="Arial"/>
                <a:cs typeface="Arial"/>
                <a:sym typeface="Arial"/>
              </a:rPr>
              <a:t>Keep the Core Strong</a:t>
            </a:r>
            <a:endParaRPr sz="1600">
              <a:solidFill>
                <a:schemeClr val="dk1"/>
              </a:solidFill>
              <a:latin typeface="Calibri"/>
              <a:ea typeface="Calibri"/>
              <a:cs typeface="Calibri"/>
              <a:sym typeface="Calibri"/>
            </a:endParaRPr>
          </a:p>
        </p:txBody>
      </p:sp>
      <p:sp>
        <p:nvSpPr>
          <p:cNvPr id="186" name="Google Shape;186;p10"/>
          <p:cNvSpPr/>
          <p:nvPr/>
        </p:nvSpPr>
        <p:spPr>
          <a:xfrm>
            <a:off x="1554480" y="3977640"/>
            <a:ext cx="6766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400"/>
              <a:buFont typeface="Arial"/>
              <a:buNone/>
            </a:pPr>
            <a:r>
              <a:rPr lang="en-US" sz="1400">
                <a:solidFill>
                  <a:srgbClr val="4B5563"/>
                </a:solidFill>
                <a:latin typeface="Arial"/>
                <a:ea typeface="Arial"/>
                <a:cs typeface="Arial"/>
                <a:sym typeface="Arial"/>
              </a:rPr>
              <a:t>If the Solution needs to be adjusted, make sure they still feel the foundation will deliver what they need most.</a:t>
            </a:r>
            <a:endParaRPr sz="1400">
              <a:solidFill>
                <a:schemeClr val="dk1"/>
              </a:solidFill>
              <a:latin typeface="Calibri"/>
              <a:ea typeface="Calibri"/>
              <a:cs typeface="Calibri"/>
              <a:sym typeface="Calibri"/>
            </a:endParaRPr>
          </a:p>
        </p:txBody>
      </p:sp>
      <p:pic>
        <p:nvPicPr>
          <p:cNvPr descr="/home/workdir/artifacts/cogs_logo.png" id="187" name="Google Shape;187;p10"/>
          <p:cNvPicPr preferRelativeResize="0"/>
          <p:nvPr/>
        </p:nvPicPr>
        <p:blipFill rotWithShape="1">
          <a:blip r:embed="rId3">
            <a:alphaModFix/>
          </a:blip>
          <a:srcRect b="0" l="0" r="0" t="0"/>
          <a:stretch/>
        </p:blipFill>
        <p:spPr>
          <a:xfrm>
            <a:off x="8654143" y="4722223"/>
            <a:ext cx="385354" cy="385354"/>
          </a:xfrm>
          <a:prstGeom prst="rect">
            <a:avLst/>
          </a:prstGeom>
          <a:noFill/>
          <a:ln>
            <a:noFill/>
          </a:ln>
        </p:spPr>
      </p:pic>
      <p:pic>
        <p:nvPicPr>
          <p:cNvPr id="188" name="Google Shape;188;p10"/>
          <p:cNvPicPr preferRelativeResize="0"/>
          <p:nvPr/>
        </p:nvPicPr>
        <p:blipFill rotWithShape="1">
          <a:blip r:embed="rId4">
            <a:alphaModFix/>
          </a:blip>
          <a:srcRect b="0" l="0" r="0" t="0"/>
          <a:stretch/>
        </p:blipFill>
        <p:spPr>
          <a:xfrm>
            <a:off x="29391" y="4651466"/>
            <a:ext cx="738051" cy="492034"/>
          </a:xfrm>
          <a:prstGeom prst="rect">
            <a:avLst/>
          </a:prstGeom>
          <a:noFill/>
          <a:ln>
            <a:noFill/>
          </a:ln>
        </p:spPr>
      </p:pic>
      <p:pic>
        <p:nvPicPr>
          <p:cNvPr id="189" name="Google Shape;189;p10" title="caprec-2026-07-28-15-24-02.webm">
            <a:hlinkClick r:id="rId5"/>
          </p:cNvPr>
          <p:cNvPicPr preferRelativeResize="0"/>
          <p:nvPr/>
        </p:nvPicPr>
        <p:blipFill>
          <a:blip r:embed="rId6">
            <a:alphaModFix/>
          </a:blip>
          <a:stretch>
            <a:fillRect/>
          </a:stretch>
        </p:blipFill>
        <p:spPr>
          <a:xfrm>
            <a:off x="6952975" y="4892050"/>
            <a:ext cx="1487350" cy="127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pic>
        <p:nvPicPr>
          <p:cNvPr id="195" name="Google Shape;195;p11"/>
          <p:cNvPicPr preferRelativeResize="0"/>
          <p:nvPr/>
        </p:nvPicPr>
        <p:blipFill rotWithShape="1">
          <a:blip r:embed="rId3">
            <a:alphaModFix/>
          </a:blip>
          <a:srcRect b="0" l="0" r="0" t="0"/>
          <a:stretch/>
        </p:blipFill>
        <p:spPr>
          <a:xfrm>
            <a:off x="29391" y="4651466"/>
            <a:ext cx="738051" cy="492034"/>
          </a:xfrm>
          <a:prstGeom prst="rect">
            <a:avLst/>
          </a:prstGeom>
          <a:noFill/>
          <a:ln>
            <a:noFill/>
          </a:ln>
        </p:spPr>
      </p:pic>
      <p:sp>
        <p:nvSpPr>
          <p:cNvPr id="196" name="Google Shape;196;p11"/>
          <p:cNvSpPr/>
          <p:nvPr/>
        </p:nvSpPr>
        <p:spPr>
          <a:xfrm>
            <a:off x="365760" y="182880"/>
            <a:ext cx="7680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2200"/>
              <a:buFont typeface="Arial"/>
              <a:buNone/>
            </a:pPr>
            <a:r>
              <a:rPr b="1" lang="en-US" sz="2200">
                <a:solidFill>
                  <a:srgbClr val="1B365D"/>
                </a:solidFill>
                <a:latin typeface="Arial"/>
                <a:ea typeface="Arial"/>
                <a:cs typeface="Arial"/>
                <a:sym typeface="Arial"/>
              </a:rPr>
              <a:t>Example: Matching the Right Solution</a:t>
            </a:r>
            <a:endParaRPr sz="2200">
              <a:solidFill>
                <a:schemeClr val="dk1"/>
              </a:solidFill>
              <a:latin typeface="Calibri"/>
              <a:ea typeface="Calibri"/>
              <a:cs typeface="Calibri"/>
              <a:sym typeface="Calibri"/>
            </a:endParaRPr>
          </a:p>
        </p:txBody>
      </p:sp>
      <p:sp>
        <p:nvSpPr>
          <p:cNvPr id="197" name="Google Shape;197;p11"/>
          <p:cNvSpPr/>
          <p:nvPr/>
        </p:nvSpPr>
        <p:spPr>
          <a:xfrm>
            <a:off x="365760" y="548640"/>
            <a:ext cx="7680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Arial"/>
              <a:buNone/>
            </a:pPr>
            <a:r>
              <a:rPr i="1" lang="en-US" sz="1300">
                <a:solidFill>
                  <a:srgbClr val="64748B"/>
                </a:solidFill>
                <a:latin typeface="Arial"/>
                <a:ea typeface="Arial"/>
                <a:cs typeface="Arial"/>
                <a:sym typeface="Arial"/>
              </a:rPr>
              <a:t>When the Client says the investment is higher than expected</a:t>
            </a:r>
            <a:endParaRPr sz="1300">
              <a:solidFill>
                <a:schemeClr val="dk1"/>
              </a:solidFill>
              <a:latin typeface="Calibri"/>
              <a:ea typeface="Calibri"/>
              <a:cs typeface="Calibri"/>
              <a:sym typeface="Calibri"/>
            </a:endParaRPr>
          </a:p>
        </p:txBody>
      </p:sp>
      <p:sp>
        <p:nvSpPr>
          <p:cNvPr id="198" name="Google Shape;198;p11"/>
          <p:cNvSpPr/>
          <p:nvPr/>
        </p:nvSpPr>
        <p:spPr>
          <a:xfrm>
            <a:off x="365760" y="960120"/>
            <a:ext cx="2103120" cy="1143000"/>
          </a:xfrm>
          <a:prstGeom prst="roundRect">
            <a:avLst>
              <a:gd fmla="val 6400" name="adj"/>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p:nvPr/>
        </p:nvSpPr>
        <p:spPr>
          <a:xfrm>
            <a:off x="457200" y="960120"/>
            <a:ext cx="1920240" cy="114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RECONNECT</a:t>
            </a:r>
            <a:endParaRPr sz="1300">
              <a:solidFill>
                <a:schemeClr val="dk1"/>
              </a:solidFill>
              <a:latin typeface="Calibri"/>
              <a:ea typeface="Calibri"/>
              <a:cs typeface="Calibri"/>
              <a:sym typeface="Calibri"/>
            </a:endParaRPr>
          </a:p>
        </p:txBody>
      </p:sp>
      <p:sp>
        <p:nvSpPr>
          <p:cNvPr id="200" name="Google Shape;200;p11"/>
          <p:cNvSpPr/>
          <p:nvPr/>
        </p:nvSpPr>
        <p:spPr>
          <a:xfrm>
            <a:off x="2606040" y="960120"/>
            <a:ext cx="6126480" cy="1143000"/>
          </a:xfrm>
          <a:prstGeom prst="roundRect">
            <a:avLst>
              <a:gd fmla="val 6400" name="adj"/>
            </a:avLst>
          </a:prstGeom>
          <a:solidFill>
            <a:srgbClr val="E8F0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2788920" y="1069848"/>
            <a:ext cx="58064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200"/>
              <a:buFont typeface="Arial"/>
              <a:buNone/>
            </a:pPr>
            <a:r>
              <a:rPr lang="en-US" sz="1200">
                <a:solidFill>
                  <a:srgbClr val="1B365D"/>
                </a:solidFill>
                <a:latin typeface="Arial"/>
                <a:ea typeface="Arial"/>
                <a:cs typeface="Arial"/>
                <a:sym typeface="Arial"/>
              </a:rPr>
              <a:t>“I hear you. Before we look at any changes, can I make sure I’m still focused on what brought you in? You said the aching after work has been going on for months and it’s starting to limit time with the family. Is getting that relief still the main goal?”</a:t>
            </a:r>
            <a:endParaRPr sz="1200">
              <a:solidFill>
                <a:schemeClr val="dk1"/>
              </a:solidFill>
              <a:latin typeface="Calibri"/>
              <a:ea typeface="Calibri"/>
              <a:cs typeface="Calibri"/>
              <a:sym typeface="Calibri"/>
            </a:endParaRPr>
          </a:p>
        </p:txBody>
      </p:sp>
      <p:sp>
        <p:nvSpPr>
          <p:cNvPr id="202" name="Google Shape;202;p11"/>
          <p:cNvSpPr/>
          <p:nvPr/>
        </p:nvSpPr>
        <p:spPr>
          <a:xfrm>
            <a:off x="365760" y="2240280"/>
            <a:ext cx="2103120" cy="1143000"/>
          </a:xfrm>
          <a:prstGeom prst="roundRect">
            <a:avLst>
              <a:gd fmla="val 6400" name="adj"/>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457200" y="2240280"/>
            <a:ext cx="1920240" cy="114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EXPLAIN THE JOB</a:t>
            </a:r>
            <a:endParaRPr sz="1300">
              <a:solidFill>
                <a:schemeClr val="dk1"/>
              </a:solidFill>
              <a:latin typeface="Calibri"/>
              <a:ea typeface="Calibri"/>
              <a:cs typeface="Calibri"/>
              <a:sym typeface="Calibri"/>
            </a:endParaRPr>
          </a:p>
        </p:txBody>
      </p:sp>
      <p:sp>
        <p:nvSpPr>
          <p:cNvPr id="204" name="Google Shape;204;p11"/>
          <p:cNvSpPr/>
          <p:nvPr/>
        </p:nvSpPr>
        <p:spPr>
          <a:xfrm>
            <a:off x="2606040" y="2240280"/>
            <a:ext cx="6126480" cy="1143000"/>
          </a:xfrm>
          <a:prstGeom prst="roundRect">
            <a:avLst>
              <a:gd fmla="val 6400" name="adj"/>
            </a:avLst>
          </a:prstGeom>
          <a:solidFill>
            <a:srgbClr val="E8F0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a:off x="2788920" y="2350008"/>
            <a:ext cx="58064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200"/>
              <a:buFont typeface="Arial"/>
              <a:buNone/>
            </a:pPr>
            <a:r>
              <a:rPr lang="en-US" sz="1200">
                <a:solidFill>
                  <a:srgbClr val="1B365D"/>
                </a:solidFill>
                <a:latin typeface="Arial"/>
                <a:ea typeface="Arial"/>
                <a:cs typeface="Arial"/>
                <a:sym typeface="Arial"/>
              </a:rPr>
              <a:t>“I included the MedMassager because it extends the recovery work beyond the fitting. It supports circulation at home so the correction we created keeps working after you leave.”</a:t>
            </a:r>
            <a:endParaRPr sz="1200">
              <a:solidFill>
                <a:schemeClr val="dk1"/>
              </a:solidFill>
              <a:latin typeface="Calibri"/>
              <a:ea typeface="Calibri"/>
              <a:cs typeface="Calibri"/>
              <a:sym typeface="Calibri"/>
            </a:endParaRPr>
          </a:p>
        </p:txBody>
      </p:sp>
      <p:sp>
        <p:nvSpPr>
          <p:cNvPr id="206" name="Google Shape;206;p11"/>
          <p:cNvSpPr/>
          <p:nvPr/>
        </p:nvSpPr>
        <p:spPr>
          <a:xfrm>
            <a:off x="365760" y="3520440"/>
            <a:ext cx="2103120" cy="1143000"/>
          </a:xfrm>
          <a:prstGeom prst="roundRect">
            <a:avLst>
              <a:gd fmla="val 6400" name="adj"/>
            </a:avLst>
          </a:prstGeom>
          <a:solidFill>
            <a:srgbClr val="2E75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457200" y="3520440"/>
            <a:ext cx="1920240" cy="114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lang="en-US" sz="1300">
                <a:solidFill>
                  <a:srgbClr val="FFFFFF"/>
                </a:solidFill>
                <a:latin typeface="Arial"/>
                <a:ea typeface="Arial"/>
                <a:cs typeface="Arial"/>
                <a:sym typeface="Arial"/>
              </a:rPr>
              <a:t>KEEP THE CORE</a:t>
            </a:r>
            <a:endParaRPr sz="1300">
              <a:solidFill>
                <a:schemeClr val="dk1"/>
              </a:solidFill>
              <a:latin typeface="Calibri"/>
              <a:ea typeface="Calibri"/>
              <a:cs typeface="Calibri"/>
              <a:sym typeface="Calibri"/>
            </a:endParaRPr>
          </a:p>
        </p:txBody>
      </p:sp>
      <p:sp>
        <p:nvSpPr>
          <p:cNvPr id="208" name="Google Shape;208;p11"/>
          <p:cNvSpPr/>
          <p:nvPr/>
        </p:nvSpPr>
        <p:spPr>
          <a:xfrm>
            <a:off x="2606040" y="3520440"/>
            <a:ext cx="6126480" cy="1143000"/>
          </a:xfrm>
          <a:prstGeom prst="roundRect">
            <a:avLst>
              <a:gd fmla="val 6400" name="adj"/>
            </a:avLst>
          </a:prstGeom>
          <a:solidFill>
            <a:srgbClr val="E8F0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a:off x="2788920" y="3630168"/>
            <a:ext cx="58064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1200"/>
              <a:buFont typeface="Arial"/>
              <a:buNone/>
            </a:pPr>
            <a:r>
              <a:rPr lang="en-US" sz="1200">
                <a:solidFill>
                  <a:srgbClr val="1B365D"/>
                </a:solidFill>
                <a:latin typeface="Arial"/>
                <a:ea typeface="Arial"/>
                <a:cs typeface="Arial"/>
                <a:sym typeface="Arial"/>
              </a:rPr>
              <a:t>“The custom supports themselves are doing the majority of the work for the issue you described. They correct the alignment at the root. With this focused Solution you’ll still get the stability and relief you need. The recovery piece is a strong complement you can always add when you’re ready.”</a:t>
            </a:r>
            <a:endParaRPr sz="1200">
              <a:solidFill>
                <a:schemeClr val="dk1"/>
              </a:solidFill>
              <a:latin typeface="Calibri"/>
              <a:ea typeface="Calibri"/>
              <a:cs typeface="Calibri"/>
              <a:sym typeface="Calibri"/>
            </a:endParaRPr>
          </a:p>
        </p:txBody>
      </p:sp>
      <p:pic>
        <p:nvPicPr>
          <p:cNvPr descr="/home/workdir/artifacts/cogs_logo.png" id="210" name="Google Shape;210;p11"/>
          <p:cNvPicPr preferRelativeResize="0"/>
          <p:nvPr/>
        </p:nvPicPr>
        <p:blipFill rotWithShape="1">
          <a:blip r:embed="rId4">
            <a:alphaModFix/>
          </a:blip>
          <a:srcRect b="0" l="0" r="0" t="0"/>
          <a:stretch/>
        </p:blipFill>
        <p:spPr>
          <a:xfrm>
            <a:off x="8654143" y="4722223"/>
            <a:ext cx="385354" cy="385354"/>
          </a:xfrm>
          <a:prstGeom prst="rect">
            <a:avLst/>
          </a:prstGeom>
          <a:noFill/>
          <a:ln>
            <a:noFill/>
          </a:ln>
        </p:spPr>
      </p:pic>
      <p:pic>
        <p:nvPicPr>
          <p:cNvPr id="211" name="Google Shape;211;p11" title="caprec-2026-07-28-15-25-46.webm">
            <a:hlinkClick r:id="rId5"/>
          </p:cNvPr>
          <p:cNvPicPr preferRelativeResize="0"/>
          <p:nvPr/>
        </p:nvPicPr>
        <p:blipFill>
          <a:blip r:embed="rId6">
            <a:alphaModFix/>
          </a:blip>
          <a:stretch>
            <a:fillRect/>
          </a:stretch>
        </p:blipFill>
        <p:spPr>
          <a:xfrm>
            <a:off x="6234550" y="4781500"/>
            <a:ext cx="2256826" cy="231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13"/>
          <p:cNvSpPr/>
          <p:nvPr/>
        </p:nvSpPr>
        <p:spPr>
          <a:xfrm>
            <a:off x="457200" y="274320"/>
            <a:ext cx="7498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2600"/>
              <a:buFont typeface="Arial"/>
              <a:buNone/>
            </a:pPr>
            <a:r>
              <a:rPr b="1" lang="en-US" sz="2600">
                <a:solidFill>
                  <a:srgbClr val="1B365D"/>
                </a:solidFill>
                <a:latin typeface="Arial"/>
                <a:ea typeface="Arial"/>
                <a:cs typeface="Arial"/>
                <a:sym typeface="Arial"/>
              </a:rPr>
              <a:t>The Bottom Line</a:t>
            </a:r>
            <a:endParaRPr sz="2600">
              <a:solidFill>
                <a:schemeClr val="dk1"/>
              </a:solidFill>
              <a:latin typeface="Calibri"/>
              <a:ea typeface="Calibri"/>
              <a:cs typeface="Calibri"/>
              <a:sym typeface="Calibri"/>
            </a:endParaRPr>
          </a:p>
        </p:txBody>
      </p:sp>
      <p:sp>
        <p:nvSpPr>
          <p:cNvPr id="218" name="Google Shape;218;p13"/>
          <p:cNvSpPr/>
          <p:nvPr/>
        </p:nvSpPr>
        <p:spPr>
          <a:xfrm>
            <a:off x="457200" y="1097280"/>
            <a:ext cx="45720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65D"/>
              </a:buClr>
              <a:buSzPts val="2200"/>
              <a:buFont typeface="Arial"/>
              <a:buNone/>
            </a:pPr>
            <a:r>
              <a:rPr b="1" lang="en-US" sz="2200">
                <a:solidFill>
                  <a:srgbClr val="1B365D"/>
                </a:solidFill>
                <a:latin typeface="Arial"/>
                <a:ea typeface="Arial"/>
                <a:cs typeface="Arial"/>
                <a:sym typeface="Arial"/>
              </a:rPr>
              <a:t>We don’t sell a product and then add things to it.</a:t>
            </a:r>
            <a:endParaRPr sz="2200">
              <a:solidFill>
                <a:schemeClr val="dk1"/>
              </a:solidFill>
              <a:latin typeface="Calibri"/>
              <a:ea typeface="Calibri"/>
              <a:cs typeface="Calibri"/>
              <a:sym typeface="Calibri"/>
            </a:endParaRPr>
          </a:p>
        </p:txBody>
      </p:sp>
      <p:sp>
        <p:nvSpPr>
          <p:cNvPr id="219" name="Google Shape;219;p13"/>
          <p:cNvSpPr/>
          <p:nvPr/>
        </p:nvSpPr>
        <p:spPr>
          <a:xfrm>
            <a:off x="457200" y="2103120"/>
            <a:ext cx="4572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600"/>
              <a:buFont typeface="Arial"/>
              <a:buNone/>
            </a:pPr>
            <a:r>
              <a:rPr lang="en-US" sz="1600">
                <a:solidFill>
                  <a:srgbClr val="4B5563"/>
                </a:solidFill>
                <a:latin typeface="Arial"/>
                <a:ea typeface="Arial"/>
                <a:cs typeface="Arial"/>
                <a:sym typeface="Arial"/>
              </a:rPr>
              <a:t>We present one complete Solution and explain each component’s job in the Client’s outcome.</a:t>
            </a:r>
            <a:endParaRPr sz="1600">
              <a:solidFill>
                <a:schemeClr val="dk1"/>
              </a:solidFill>
              <a:latin typeface="Calibri"/>
              <a:ea typeface="Calibri"/>
              <a:cs typeface="Calibri"/>
              <a:sym typeface="Calibri"/>
            </a:endParaRPr>
          </a:p>
        </p:txBody>
      </p:sp>
      <p:sp>
        <p:nvSpPr>
          <p:cNvPr id="220" name="Google Shape;220;p13"/>
          <p:cNvSpPr/>
          <p:nvPr/>
        </p:nvSpPr>
        <p:spPr>
          <a:xfrm>
            <a:off x="5212080" y="1097280"/>
            <a:ext cx="3474720" cy="2743200"/>
          </a:xfrm>
          <a:prstGeom prst="roundRect">
            <a:avLst>
              <a:gd fmla="val 4000" name="adj"/>
            </a:avLst>
          </a:prstGeom>
          <a:solidFill>
            <a:srgbClr val="2E75B6"/>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
          <p:cNvSpPr/>
          <p:nvPr/>
        </p:nvSpPr>
        <p:spPr>
          <a:xfrm>
            <a:off x="5486400" y="1645920"/>
            <a:ext cx="29260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A partial Solution is an incomplete Solution.</a:t>
            </a:r>
            <a:endParaRPr sz="1800">
              <a:solidFill>
                <a:schemeClr val="dk1"/>
              </a:solidFill>
              <a:latin typeface="Calibri"/>
              <a:ea typeface="Calibri"/>
              <a:cs typeface="Calibri"/>
              <a:sym typeface="Calibri"/>
            </a:endParaRPr>
          </a:p>
        </p:txBody>
      </p:sp>
      <p:sp>
        <p:nvSpPr>
          <p:cNvPr id="222" name="Google Shape;222;p13"/>
          <p:cNvSpPr/>
          <p:nvPr/>
        </p:nvSpPr>
        <p:spPr>
          <a:xfrm>
            <a:off x="5486400" y="2743200"/>
            <a:ext cx="2926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D0F0"/>
              </a:buClr>
              <a:buSzPts val="1500"/>
              <a:buFont typeface="Arial"/>
              <a:buNone/>
            </a:pPr>
            <a:r>
              <a:rPr i="1" lang="en-US" sz="1500">
                <a:solidFill>
                  <a:srgbClr val="A8D0F0"/>
                </a:solidFill>
                <a:latin typeface="Arial"/>
                <a:ea typeface="Arial"/>
                <a:cs typeface="Arial"/>
                <a:sym typeface="Arial"/>
              </a:rPr>
              <a:t>Nobody takes half a prescription.</a:t>
            </a:r>
            <a:endParaRPr sz="1500">
              <a:solidFill>
                <a:schemeClr val="dk1"/>
              </a:solidFill>
              <a:latin typeface="Calibri"/>
              <a:ea typeface="Calibri"/>
              <a:cs typeface="Calibri"/>
              <a:sym typeface="Calibri"/>
            </a:endParaRPr>
          </a:p>
        </p:txBody>
      </p:sp>
      <p:pic>
        <p:nvPicPr>
          <p:cNvPr descr="/home/workdir/artifacts/cogs_logo.png" id="223" name="Google Shape;223;p13"/>
          <p:cNvPicPr preferRelativeResize="0"/>
          <p:nvPr/>
        </p:nvPicPr>
        <p:blipFill rotWithShape="1">
          <a:blip r:embed="rId3">
            <a:alphaModFix/>
          </a:blip>
          <a:srcRect b="0" l="0" r="0" t="0"/>
          <a:stretch/>
        </p:blipFill>
        <p:spPr>
          <a:xfrm>
            <a:off x="8654143" y="4722223"/>
            <a:ext cx="385354" cy="385354"/>
          </a:xfrm>
          <a:prstGeom prst="rect">
            <a:avLst/>
          </a:prstGeom>
          <a:noFill/>
          <a:ln>
            <a:noFill/>
          </a:ln>
        </p:spPr>
      </p:pic>
      <p:pic>
        <p:nvPicPr>
          <p:cNvPr id="224" name="Google Shape;224;p13"/>
          <p:cNvPicPr preferRelativeResize="0"/>
          <p:nvPr/>
        </p:nvPicPr>
        <p:blipFill rotWithShape="1">
          <a:blip r:embed="rId4">
            <a:alphaModFix/>
          </a:blip>
          <a:srcRect b="0" l="0" r="0" t="0"/>
          <a:stretch/>
        </p:blipFill>
        <p:spPr>
          <a:xfrm>
            <a:off x="29391" y="4651466"/>
            <a:ext cx="738051" cy="492034"/>
          </a:xfrm>
          <a:prstGeom prst="rect">
            <a:avLst/>
          </a:prstGeom>
          <a:noFill/>
          <a:ln>
            <a:noFill/>
          </a:ln>
        </p:spPr>
      </p:pic>
      <p:pic>
        <p:nvPicPr>
          <p:cNvPr id="225" name="Google Shape;225;p13" title="caprec-2026-07-28-15-27-29.webm">
            <a:hlinkClick r:id="rId5"/>
          </p:cNvPr>
          <p:cNvPicPr preferRelativeResize="0"/>
          <p:nvPr/>
        </p:nvPicPr>
        <p:blipFill>
          <a:blip r:embed="rId6">
            <a:alphaModFix/>
          </a:blip>
          <a:stretch>
            <a:fillRect/>
          </a:stretch>
        </p:blipFill>
        <p:spPr>
          <a:xfrm>
            <a:off x="5903100" y="4804137"/>
            <a:ext cx="2550150" cy="221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75B6"/>
        </a:solidFill>
      </p:bgPr>
    </p:bg>
    <p:spTree>
      <p:nvGrpSpPr>
        <p:cNvPr id="230" name="Shape 230"/>
        <p:cNvGrpSpPr/>
        <p:nvPr/>
      </p:nvGrpSpPr>
      <p:grpSpPr>
        <a:xfrm>
          <a:off x="0" y="0"/>
          <a:ext cx="0" cy="0"/>
          <a:chOff x="0" y="0"/>
          <a:chExt cx="0" cy="0"/>
        </a:xfrm>
      </p:grpSpPr>
      <p:pic>
        <p:nvPicPr>
          <p:cNvPr descr="/home/workdir/artifacts/cogs_logo.png" id="231" name="Google Shape;231;p14"/>
          <p:cNvPicPr preferRelativeResize="0"/>
          <p:nvPr/>
        </p:nvPicPr>
        <p:blipFill rotWithShape="1">
          <a:blip r:embed="rId3">
            <a:alphaModFix/>
          </a:blip>
          <a:srcRect b="0" l="0" r="0" t="0"/>
          <a:stretch/>
        </p:blipFill>
        <p:spPr>
          <a:xfrm>
            <a:off x="3657600" y="914400"/>
            <a:ext cx="1828800" cy="1828800"/>
          </a:xfrm>
          <a:prstGeom prst="rect">
            <a:avLst/>
          </a:prstGeom>
          <a:noFill/>
          <a:ln>
            <a:noFill/>
          </a:ln>
        </p:spPr>
      </p:pic>
      <p:sp>
        <p:nvSpPr>
          <p:cNvPr id="232" name="Google Shape;232;p14"/>
          <p:cNvSpPr/>
          <p:nvPr/>
        </p:nvSpPr>
        <p:spPr>
          <a:xfrm>
            <a:off x="457200" y="3017520"/>
            <a:ext cx="8229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lang="en-US" sz="2200">
                <a:solidFill>
                  <a:srgbClr val="FFFFFF"/>
                </a:solidFill>
                <a:latin typeface="Arial"/>
                <a:ea typeface="Arial"/>
                <a:cs typeface="Arial"/>
                <a:sym typeface="Arial"/>
              </a:rPr>
              <a:t>A Remarkable Experience. Every Client. Every </a:t>
            </a:r>
            <a:r>
              <a:rPr b="1" lang="en-US" sz="2200">
                <a:solidFill>
                  <a:srgbClr val="FFFFFF"/>
                </a:solidFill>
              </a:rPr>
              <a:t>T</a:t>
            </a:r>
            <a:r>
              <a:rPr b="1" lang="en-US" sz="2200">
                <a:solidFill>
                  <a:srgbClr val="FFFFFF"/>
                </a:solidFill>
                <a:latin typeface="Arial"/>
                <a:ea typeface="Arial"/>
                <a:cs typeface="Arial"/>
                <a:sym typeface="Arial"/>
              </a:rPr>
              <a:t>ime.</a:t>
            </a:r>
            <a:endParaRPr sz="2200">
              <a:solidFill>
                <a:schemeClr val="dk1"/>
              </a:solidFill>
              <a:latin typeface="Calibri"/>
              <a:ea typeface="Calibri"/>
              <a:cs typeface="Calibri"/>
              <a:sym typeface="Calibri"/>
            </a:endParaRPr>
          </a:p>
        </p:txBody>
      </p:sp>
      <p:sp>
        <p:nvSpPr>
          <p:cNvPr id="233" name="Google Shape;233;p14"/>
          <p:cNvSpPr/>
          <p:nvPr/>
        </p:nvSpPr>
        <p:spPr>
          <a:xfrm>
            <a:off x="457200" y="3840480"/>
            <a:ext cx="8229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D0F0"/>
              </a:buClr>
              <a:buSzPts val="1400"/>
              <a:buFont typeface="Arial"/>
              <a:buNone/>
            </a:pPr>
            <a:r>
              <a:rPr lang="en-US" sz="1400">
                <a:solidFill>
                  <a:srgbClr val="A8D0F0"/>
                </a:solidFill>
                <a:latin typeface="Arial"/>
                <a:ea typeface="Arial"/>
                <a:cs typeface="Arial"/>
                <a:sym typeface="Arial"/>
              </a:rPr>
              <a:t>Waterman COGS  ·  Blue Track</a:t>
            </a:r>
            <a:endParaRPr sz="1400">
              <a:solidFill>
                <a:schemeClr val="dk1"/>
              </a:solidFill>
              <a:latin typeface="Calibri"/>
              <a:ea typeface="Calibri"/>
              <a:cs typeface="Calibri"/>
              <a:sym typeface="Calibri"/>
            </a:endParaRPr>
          </a:p>
        </p:txBody>
      </p:sp>
      <p:pic>
        <p:nvPicPr>
          <p:cNvPr id="234" name="Google Shape;234;p14"/>
          <p:cNvPicPr preferRelativeResize="0"/>
          <p:nvPr/>
        </p:nvPicPr>
        <p:blipFill rotWithShape="1">
          <a:blip r:embed="rId4">
            <a:alphaModFix/>
          </a:blip>
          <a:srcRect b="0" l="0" r="0" t="0"/>
          <a:stretch/>
        </p:blipFill>
        <p:spPr>
          <a:xfrm>
            <a:off x="91440" y="4512188"/>
            <a:ext cx="822960" cy="631312"/>
          </a:xfrm>
          <a:prstGeom prst="rect">
            <a:avLst/>
          </a:prstGeom>
          <a:noFill/>
          <a:ln>
            <a:noFill/>
          </a:ln>
        </p:spPr>
      </p:pic>
      <p:pic>
        <p:nvPicPr>
          <p:cNvPr id="235" name="Google Shape;235;p14" title="caprec-2026-07-28-15-28-21.webm">
            <a:hlinkClick r:id="rId5"/>
          </p:cNvPr>
          <p:cNvPicPr preferRelativeResize="0"/>
          <p:nvPr/>
        </p:nvPicPr>
        <p:blipFill>
          <a:blip r:embed="rId6">
            <a:alphaModFix/>
          </a:blip>
          <a:stretch>
            <a:fillRect/>
          </a:stretch>
        </p:blipFill>
        <p:spPr>
          <a:xfrm>
            <a:off x="7233550" y="4819925"/>
            <a:ext cx="1725974" cy="165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2026-07-28T19:25:29Z</dcterms:created>
  <dc:creator>The Waterman Group</dc:creator>
</cp:coreProperties>
</file>