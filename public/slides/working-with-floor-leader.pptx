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5143500" cy="9144000"/>
  <p:embeddedFontLst>
    <p:embeddedFont>
      <p:font typeface="Raleway"/>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Idv6nYcHIZt+EEf25QZgtc58o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aleway-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Raleway-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Raleway-bold.fntdata"/><Relationship Id="rId6" Type="http://schemas.openxmlformats.org/officeDocument/2006/relationships/slide" Target="slides/slide2.xml"/><Relationship Id="rId18" Type="http://schemas.openxmlformats.org/officeDocument/2006/relationships/font" Target="fonts/Raleway-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Welcome.</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rPr lang="en-US" sz="1200">
                <a:solidFill>
                  <a:schemeClr val="dk1"/>
                </a:solidFill>
                <a:latin typeface="Calibri"/>
                <a:ea typeface="Calibri"/>
                <a:cs typeface="Calibri"/>
                <a:sym typeface="Calibri"/>
              </a:rPr>
              <a:t>This course is not written for managers.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It is written for you — the Specialist who is on the floor with the Client every day.</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When CARE is active, something important shifts. You are no longer operating alone. There is a designated Floor Leader whose job is to support the experience so you can stay fully present. The goal of this training is simple: help you understand exactly what that partnership looks like, how to use it well, and how to grow faster because of it.</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By the time you finish, you should feel clearer about what to expect, more confident receiving help, and more intentional about your own part in creating Remarkable experiences.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Let’s begin.</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200">
              <a:solidFill>
                <a:schemeClr val="dk1"/>
              </a:solidFill>
              <a:latin typeface="Calibri"/>
              <a:ea typeface="Calibri"/>
              <a:cs typeface="Calibri"/>
              <a:sym typeface="Calibri"/>
            </a:endParaRPr>
          </a:p>
        </p:txBody>
      </p:sp>
      <p:sp>
        <p:nvSpPr>
          <p:cNvPr id="58" name="Google Shape;58;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 name="Google Shape;7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Most Specialists have felt the difference between a day when someone is truly watching the floor and a day when everyone is just busy.</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On the days when leadership is active, you notice four things almost immediately.</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First, you are never alone. There is always a named Floor Leader. Someone is reading the room so you can stay locked in with the person in front of you.</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Second, coaching happens while the moment is still alive. Feedback is not delayed until the end of the week or buried in a general conversation. It arrives when the demo is still fresh in both of your minds.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Third, when a red flag appears or a real WOW is building, the Floor Leader steps in only long enough to help — then hands the Client back to you. You keep ownership of the relationship.</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Fourth, Clients feel the difference. Consistent, Remarkable experiences create advocates. More advocates mean more reviews, more referrals, and more confidence for you over time.</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This is not about being managed more closely. It is about being supported more effectively so you can do your best work.</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200">
              <a:solidFill>
                <a:schemeClr val="dk1"/>
              </a:solidFill>
              <a:latin typeface="Calibri"/>
              <a:ea typeface="Calibri"/>
              <a:cs typeface="Calibri"/>
              <a:sym typeface="Calibri"/>
            </a:endParaRPr>
          </a:p>
        </p:txBody>
      </p:sp>
      <p:sp>
        <p:nvSpPr>
          <p:cNvPr id="75" name="Google Shape;7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CARE is the system your Floor Leader runs on your behalf.</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C – Connect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They greet every Client and hand them to you with a warm, confident introduction so you start from a position of strength rather than having to rebuild trust from zero.</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A – Assess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They read every demo without interrupting a working one. Green flags stay protected. Red flags get answered before they quietly cost the sale.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R – Respond</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They step in only when it actually helps — using a simple method called AAH — then immediately return control so you finish the sale and keep the relationship.</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E – Elevate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Every observation becomes coaching. In the moment. In the backroom. And in your weekly 1:1. Always beginning with what went well.</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These four moves are not separate tools. They form one continuous promise: you will not be left alone with a drifting demo, and every experience on the floor will be used to make you better.</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marR="0" rtl="0" algn="l">
              <a:spcBef>
                <a:spcPts val="1200"/>
              </a:spcBef>
              <a:spcAft>
                <a:spcPts val="0"/>
              </a:spcAft>
              <a:buNone/>
            </a:pPr>
            <a:r>
              <a:t/>
            </a:r>
            <a:endParaRPr sz="1200">
              <a:solidFill>
                <a:schemeClr val="dk1"/>
              </a:solidFill>
              <a:latin typeface="Calibri"/>
              <a:ea typeface="Calibri"/>
              <a:cs typeface="Calibri"/>
              <a:sym typeface="Calibri"/>
            </a:endParaRPr>
          </a:p>
        </p:txBody>
      </p:sp>
      <p:sp>
        <p:nvSpPr>
          <p:cNvPr id="100" name="Google Shape;10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Connect is the starting point of the partnership.</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What you actually receive when Connect is done well:</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A Client who already feels the whole store is glad they came.</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A warm, specific introduction that positions you as the expert.</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Clients who are seated quickly so momentum does not die in the first sixty seconds.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A Floor Leader who has already confirmed you are ready before the hand-off happens.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You will hear language that sounds something like this: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“Hey, my name is [Name], I’m the manager here. [Your Name] is an excellent Specialist and they are going to take great care of you. Thank you for coming in.”</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That sentence is not filler. It is designed to transfer trust to you instantly.</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When you hear it, own it. Smile. Step forward. Take the lead. The introduction has already done part of the work for you. Your job is to accept that transferred confidence and build on it.</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A weak hand-off forces you to start cold. A strong hand-off lets you start warm. Learn to notice the difference — and protect the strong version whenever you can.</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200">
              <a:solidFill>
                <a:schemeClr val="dk1"/>
              </a:solidFill>
              <a:latin typeface="Calibri"/>
              <a:ea typeface="Calibri"/>
              <a:cs typeface="Calibri"/>
              <a:sym typeface="Calibri"/>
            </a:endParaRPr>
          </a:p>
        </p:txBody>
      </p:sp>
      <p:sp>
        <p:nvSpPr>
          <p:cNvPr id="125" name="Google Shape;12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This is one of the most important mindset shifts in the entire system.</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Your Floor Leader is reading the room so you can stay locked in with the Client. This is support, not surveillance.</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They are watching for two categories of signals.</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rPr lang="en-US" sz="1200">
                <a:solidFill>
                  <a:schemeClr val="dk1"/>
                </a:solidFill>
                <a:latin typeface="Calibri"/>
                <a:ea typeface="Calibri"/>
                <a:cs typeface="Calibri"/>
                <a:sym typeface="Calibri"/>
              </a:rPr>
              <a:t>Green flags — moments they will protect and leave alone: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Smiles, surprise, or visible WOW reactions.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The Client leaning in and trying multiple steps.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The balance technique landing as a clear “aha.”</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The Client beginning to put the supports into their own shoes.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Silence that is respected on test walks.</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rPr lang="en-US" sz="1200">
                <a:solidFill>
                  <a:schemeClr val="dk1"/>
                </a:solidFill>
                <a:latin typeface="Calibri"/>
                <a:ea typeface="Calibri"/>
                <a:cs typeface="Calibri"/>
                <a:sym typeface="Calibri"/>
              </a:rPr>
              <a:t>Red flags — moments they will answer before the demo drifts too far:</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Too much talking during test walks.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Neutral language such as “fine,” “maybe,” or “hard to tell.”</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The Client putting shoes back on early.</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One-word answers or clear disengagement.</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You (or anyone) oversharing personal stories instead of staying focused on the Client.</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key idea is simple: they only interrupt when the interruption helps the sale and protects the experience. When things are working, they stay out of the way on purpose.</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200">
              <a:solidFill>
                <a:schemeClr val="dk1"/>
              </a:solidFill>
              <a:latin typeface="Calibri"/>
              <a:ea typeface="Calibri"/>
              <a:cs typeface="Calibri"/>
              <a:sym typeface="Calibri"/>
            </a:endParaRPr>
          </a:p>
        </p:txBody>
      </p:sp>
      <p:sp>
        <p:nvSpPr>
          <p:cNvPr id="144" name="Google Shape;14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When the Floor Leader does step in, there is a clear method and a clear boundary.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The method is called AAH.</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Acknowledge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“I want to add to what [Your Name] is showing you.”</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This protects your credibility. The Client sees teamwork instead of a rescue.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Add Value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They name something the Client can feel or see right now — posture, ease of movement, the difference the supports are already making.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Hand It Back</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“[Your Name] will walk you through the next step.”</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Control returns to you on purpose. You finish the sale. The relationship stays yours.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This last move is the most important. If they never hand it back, they have quietly taken the demo. That is the one thing the system is designed to prevent.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When a clean AAH step-in happens, accept it as help. Do not freeze. Do not step back and wait. Take the Client back the moment they are returned to you and finish strong.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marR="0" rtl="0" algn="l">
              <a:spcBef>
                <a:spcPts val="1200"/>
              </a:spcBef>
              <a:spcAft>
                <a:spcPts val="0"/>
              </a:spcAft>
              <a:buNone/>
            </a:pPr>
            <a:r>
              <a:t/>
            </a:r>
            <a:endParaRPr sz="1200">
              <a:solidFill>
                <a:schemeClr val="dk1"/>
              </a:solidFill>
              <a:latin typeface="Calibri"/>
              <a:ea typeface="Calibri"/>
              <a:cs typeface="Calibri"/>
              <a:sym typeface="Calibri"/>
            </a:endParaRPr>
          </a:p>
        </p:txBody>
      </p:sp>
      <p:sp>
        <p:nvSpPr>
          <p:cNvPr id="168" name="Google Shape;16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Elevate is where the long-term growth lives.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Coaching happens in three places, each with a different purpose.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In the moment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When they model a clean close or amplify a WOW right in front of the Client, you are receiving live coaching with zero risk to the sale. Watch closely. Notice what they chose to say and what they chose not to say.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In the backroom</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Right after a demo, while the experience is still fresh. They will lead with what went well, then name one opportunity — not five. The discipline of one opportunity is intentional. Too many points create overwhelm. One clear point creates change.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In the weekly 1:1</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Patterns across many demos become the real coaching theme. A single short walk is a moment. Rushing every walk is a development conversation. This is where deeper skill work happens.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The standard you should expect: if they watched it, they own the coaching on it. And that coaching will almost always begin with wins.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200">
              <a:solidFill>
                <a:schemeClr val="dk1"/>
              </a:solidFill>
              <a:latin typeface="Calibri"/>
              <a:ea typeface="Calibri"/>
              <a:cs typeface="Calibri"/>
              <a:sym typeface="Calibri"/>
            </a:endParaRPr>
          </a:p>
        </p:txBody>
      </p:sp>
      <p:sp>
        <p:nvSpPr>
          <p:cNvPr id="195" name="Google Shape;19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Here is the practical picture of a normal shift when CARE is active:</a:t>
            </a:r>
            <a:endParaRPr sz="12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AutoNum type="arabicPeriod"/>
            </a:pPr>
            <a:r>
              <a:rPr lang="en-US" sz="1200">
                <a:solidFill>
                  <a:schemeClr val="dk1"/>
                </a:solidFill>
                <a:latin typeface="Calibri"/>
                <a:ea typeface="Calibri"/>
                <a:cs typeface="Calibri"/>
                <a:sym typeface="Calibri"/>
              </a:rPr>
              <a:t>A named Floor Leader is assigned out loud in the opening huddle and written on the board. You always know who owns the floor.</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Every Client receives double greetings so they feel the whole store is glad they came.</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Every demo is observed for green and red flags without interrupting what is already working.</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Step-ins use AAH and always end with the Client being returned to you.</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You can step into the backroom for quick plan help, an energy reset, or product support.</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After demos you receive short, fresh debriefs: wins first, then one clear opportunity.</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These six expectations remove a great deal of uncertainty. You know what support looks like and when it will show up.</a:t>
            </a:r>
            <a:endParaRPr sz="1200">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6" name="Google Shape;21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The partnership works best when both sides play their part intentionally.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Before you go back out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Share the Client type quickly.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Ask for the plan questions they use.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Let them read your energy and steady you if needed.</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Leave with a clear next move.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While you are on the floor</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Trust them to watch for red flags.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Stay present with your Client.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Accept a clean AAH step-in as help rather than interference.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Finish the sale the moment they hand the Client back.</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After the demo</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Be ready for a short debrief.</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Own the wins they name.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Take the one opportunity seriously.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Ask for a quick role-play if it will help you lock in the adjustment.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You do not have to wait to be rescued. You can also initiate the support by stepping to the backroom or giving a clear signal when you feel stuck.</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200">
              <a:solidFill>
                <a:schemeClr val="dk1"/>
              </a:solidFill>
              <a:latin typeface="Calibri"/>
              <a:ea typeface="Calibri"/>
              <a:cs typeface="Calibri"/>
              <a:sym typeface="Calibri"/>
            </a:endParaRPr>
          </a:p>
        </p:txBody>
      </p:sp>
      <p:sp>
        <p:nvSpPr>
          <p:cNvPr id="243" name="Google Shape;24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These questions exist to settle nerves and tighten the plan before you walk back out.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New Client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What brought them in today?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What is their pain level right now?</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What do they want to get back to?</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Which system will you present and how?</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Return with an Issue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What stands out about the complaint?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Do they have a full 3-Step System or is a step missing?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Where are they in the break-in process?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What is the condition of their shoes and cushions?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Successful Return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When was their last visit?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Did they leave a review?</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How many steps are currently in their system?</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Are there any new activities that lifestyle supports could enhance?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When you know these questions are coming, you can prepare clearer answers. That preparation alone often improves the next few minutes of the demo.</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marR="0" rtl="0" algn="l">
              <a:spcBef>
                <a:spcPts val="1200"/>
              </a:spcBef>
              <a:spcAft>
                <a:spcPts val="0"/>
              </a:spcAft>
              <a:buNone/>
            </a:pPr>
            <a:r>
              <a:t/>
            </a:r>
            <a:endParaRPr sz="1200">
              <a:solidFill>
                <a:schemeClr val="dk1"/>
              </a:solidFill>
              <a:latin typeface="Calibri"/>
              <a:ea typeface="Calibri"/>
              <a:cs typeface="Calibri"/>
              <a:sym typeface="Calibri"/>
            </a:endParaRPr>
          </a:p>
        </p:txBody>
      </p:sp>
      <p:sp>
        <p:nvSpPr>
          <p:cNvPr id="273" name="Google Shape;27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Support only works when the Specialist stays open and active in the relationship.</a:t>
            </a:r>
            <a:endParaRPr sz="12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AutoNum type="arabicPeriod"/>
            </a:pPr>
            <a:r>
              <a:rPr lang="en-US" sz="1200">
                <a:solidFill>
                  <a:schemeClr val="dk1"/>
                </a:solidFill>
                <a:latin typeface="Calibri"/>
                <a:ea typeface="Calibri"/>
                <a:cs typeface="Calibri"/>
                <a:sym typeface="Calibri"/>
              </a:rPr>
              <a:t>Stay open. Coaching is not criticism. Treat every observation as fuel for the next demo rather than a judgment of the last one.</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Signal early. If you feel stuck or the energy is off, a quick look or a step to the backroom is enough. They are already watching for the signal.</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Own the hand-back. When they return the Client to you, take the lead immediately and finish strong. The relationship remains yours.</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Protect the culture. Never talk down a Client or a teammate in front of the floor. The Floor Leader sets the tone — help keep it high.</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Celebrate the wins. When a WOW lands or a tough close succeeds, share the energy. High floors stay high because people feed each other.</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Ask for the 1:1. Bring patterns you notice. The weekly conversation is most powerful when you arrive with something specific you want to grow.</a:t>
            </a:r>
            <a:endParaRPr sz="1200">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1" name="Google Shape;301;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Here is the entire system in its simplest form.</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CARE — What it means for you</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C – They greet and hand off so you start warm.</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 – They watch every demo to protect or rescue.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R – They step in with AAH, then hand back.</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 – They coach in the moment, backroom, and 1:1.</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AAH — When they step in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Acknowledge: “I want to add to what [Name] is showing you.”</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Add Value: They name the change the Client can feel.</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Hand Back: “[Name] will walk you through the next step.”</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Keep this reference close until the partnership feels natural.</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200">
              <a:solidFill>
                <a:schemeClr val="dk1"/>
              </a:solidFill>
              <a:latin typeface="Calibri"/>
              <a:ea typeface="Calibri"/>
              <a:cs typeface="Calibri"/>
              <a:sym typeface="Calibri"/>
            </a:endParaRPr>
          </a:p>
        </p:txBody>
      </p:sp>
      <p:sp>
        <p:nvSpPr>
          <p:cNvPr id="340" name="Google Shape;340;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You and your Floor Leader are a team.</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When they lead with CARE and you stay open, Clients feel the difference. Your confidence grows. Remarkable results follow more consistently.</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rPr lang="en-US" sz="1200">
                <a:solidFill>
                  <a:schemeClr val="dk1"/>
                </a:solidFill>
                <a:latin typeface="Calibri"/>
                <a:ea typeface="Calibri"/>
                <a:cs typeface="Calibri"/>
                <a:sym typeface="Calibri"/>
              </a:rPr>
              <a:t>Client service creates happy Clients.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Happy Clients create high sales.</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rPr lang="en-US" sz="1200">
                <a:solidFill>
                  <a:schemeClr val="dk1"/>
                </a:solidFill>
                <a:latin typeface="Calibri"/>
                <a:ea typeface="Calibri"/>
                <a:cs typeface="Calibri"/>
                <a:sym typeface="Calibri"/>
              </a:rPr>
              <a:t>The system is now clear.</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next step is to use the partnership on purpose — starting with your next shift.</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rPr lang="en-US" sz="1200">
                <a:solidFill>
                  <a:schemeClr val="dk1"/>
                </a:solidFill>
                <a:latin typeface="Calibri"/>
                <a:ea typeface="Calibri"/>
                <a:cs typeface="Calibri"/>
                <a:sym typeface="Calibri"/>
              </a:rPr>
              <a:t>You are not meant to do this work alone.</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Use the support. Grow from it. And keep the standard high.</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200">
              <a:solidFill>
                <a:schemeClr val="dk1"/>
              </a:solidFill>
              <a:latin typeface="Calibri"/>
              <a:ea typeface="Calibri"/>
              <a:cs typeface="Calibri"/>
              <a:sym typeface="Calibri"/>
            </a:endParaRPr>
          </a:p>
        </p:txBody>
      </p:sp>
      <p:sp>
        <p:nvSpPr>
          <p:cNvPr id="381" name="Google Shape;381;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f978714b68_0_165"/>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g3f978714b68_0_165"/>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g3f978714b68_0_165"/>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g3f978714b68_0_16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g3f978714b68_0_170"/>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g3f978714b68_0_170"/>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g3f978714b68_0_17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g3f978714b68_0_17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g3f978714b68_0_1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g3f978714b68_0_17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g3f978714b68_0_178"/>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g3f978714b68_0_17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g3f978714b68_0_17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g3f978714b68_0_17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g3f978714b68_0_183"/>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g3f978714b68_0_18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g3f978714b68_0_186"/>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g3f978714b68_0_186"/>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g3f978714b68_0_18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g3f978714b68_0_190"/>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g3f978714b68_0_19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g3f978714b68_0_193"/>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g3f978714b68_0_193"/>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g3f978714b68_0_193"/>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g3f978714b68_0_193"/>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g3f978714b68_0_193"/>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g3f978714b68_0_19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g3f978714b68_0_20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g3f978714b68_0_20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g3f978714b68_0_20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g3f978714b68_0_203"/>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g3f978714b68_0_203"/>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g3f978714b68_0_20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f978714b68_0_20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g3f978714b68_0_16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g3f978714b68_0_16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g3f978714b68_0_16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C78D8"/>
        </a:solidFill>
      </p:bgPr>
    </p:bg>
    <p:spTree>
      <p:nvGrpSpPr>
        <p:cNvPr id="59" name="Shape 59"/>
        <p:cNvGrpSpPr/>
        <p:nvPr/>
      </p:nvGrpSpPr>
      <p:grpSpPr>
        <a:xfrm>
          <a:off x="0" y="0"/>
          <a:ext cx="0" cy="0"/>
          <a:chOff x="0" y="0"/>
          <a:chExt cx="0" cy="0"/>
        </a:xfrm>
      </p:grpSpPr>
      <p:sp>
        <p:nvSpPr>
          <p:cNvPr id="60" name="Google Shape;60;p1"/>
          <p:cNvSpPr/>
          <p:nvPr/>
        </p:nvSpPr>
        <p:spPr>
          <a:xfrm>
            <a:off x="667515" y="3795310"/>
            <a:ext cx="8046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1300"/>
              <a:buFont typeface="Arial"/>
              <a:buNone/>
            </a:pPr>
            <a:r>
              <a:rPr b="1" i="0" lang="en-US" sz="1300" u="none" cap="none" strike="noStrike">
                <a:solidFill>
                  <a:srgbClr val="F0FDFA"/>
                </a:solidFill>
                <a:latin typeface="Arial"/>
                <a:ea typeface="Arial"/>
                <a:cs typeface="Arial"/>
                <a:sym typeface="Arial"/>
              </a:rPr>
              <a:t>LEADERSHIP DEVELOPMENT SERIES</a:t>
            </a:r>
            <a:endParaRPr b="0" i="0" sz="1300" u="none" cap="none" strike="noStrike">
              <a:solidFill>
                <a:srgbClr val="F0FDFA"/>
              </a:solidFill>
              <a:latin typeface="Calibri"/>
              <a:ea typeface="Calibri"/>
              <a:cs typeface="Calibri"/>
              <a:sym typeface="Calibri"/>
            </a:endParaRPr>
          </a:p>
        </p:txBody>
      </p:sp>
      <p:sp>
        <p:nvSpPr>
          <p:cNvPr id="61" name="Google Shape;61;p1"/>
          <p:cNvSpPr/>
          <p:nvPr/>
        </p:nvSpPr>
        <p:spPr>
          <a:xfrm>
            <a:off x="415825" y="1890525"/>
            <a:ext cx="8480700" cy="146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Arial"/>
              <a:buNone/>
            </a:pPr>
            <a:r>
              <a:rPr b="1" i="0" lang="en-US" sz="3700" u="none" cap="none" strike="noStrike">
                <a:solidFill>
                  <a:srgbClr val="FFFFFF"/>
                </a:solidFill>
                <a:latin typeface="Arial"/>
                <a:ea typeface="Arial"/>
                <a:cs typeface="Arial"/>
                <a:sym typeface="Arial"/>
              </a:rPr>
              <a:t>Working with Your</a:t>
            </a:r>
            <a:r>
              <a:rPr lang="en-US" sz="3700">
                <a:solidFill>
                  <a:schemeClr val="dk1"/>
                </a:solidFill>
                <a:latin typeface="Calibri"/>
                <a:ea typeface="Calibri"/>
                <a:cs typeface="Calibri"/>
                <a:sym typeface="Calibri"/>
              </a:rPr>
              <a:t> </a:t>
            </a:r>
            <a:r>
              <a:rPr b="1" i="0" lang="en-US" sz="3700" u="none" cap="none" strike="noStrike">
                <a:solidFill>
                  <a:srgbClr val="FFFFFF"/>
                </a:solidFill>
                <a:latin typeface="Arial"/>
                <a:ea typeface="Arial"/>
                <a:cs typeface="Arial"/>
                <a:sym typeface="Arial"/>
              </a:rPr>
              <a:t>Sales Floor</a:t>
            </a:r>
            <a:r>
              <a:rPr b="1" lang="en-US" sz="3700">
                <a:solidFill>
                  <a:srgbClr val="FFFFFF"/>
                </a:solidFill>
              </a:rPr>
              <a:t> </a:t>
            </a:r>
            <a:r>
              <a:rPr b="1" i="0" lang="en-US" sz="3700" u="none" cap="none" strike="noStrike">
                <a:solidFill>
                  <a:srgbClr val="FFFFFF"/>
                </a:solidFill>
                <a:latin typeface="Arial"/>
                <a:ea typeface="Arial"/>
                <a:cs typeface="Arial"/>
                <a:sym typeface="Arial"/>
              </a:rPr>
              <a:t>Leader</a:t>
            </a:r>
            <a:endParaRPr b="0" i="0" sz="3700" u="none" cap="none" strike="noStrike">
              <a:solidFill>
                <a:schemeClr val="dk1"/>
              </a:solidFill>
              <a:latin typeface="Calibri"/>
              <a:ea typeface="Calibri"/>
              <a:cs typeface="Calibri"/>
              <a:sym typeface="Calibri"/>
            </a:endParaRPr>
          </a:p>
        </p:txBody>
      </p:sp>
      <p:sp>
        <p:nvSpPr>
          <p:cNvPr id="62" name="Google Shape;62;p1"/>
          <p:cNvSpPr/>
          <p:nvPr/>
        </p:nvSpPr>
        <p:spPr>
          <a:xfrm>
            <a:off x="804615" y="3155230"/>
            <a:ext cx="77724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800"/>
              <a:buFont typeface="Arial"/>
              <a:buNone/>
            </a:pPr>
            <a:r>
              <a:rPr b="0" i="0" lang="en-US" sz="1800" u="none" cap="none" strike="noStrike">
                <a:solidFill>
                  <a:schemeClr val="lt1"/>
                </a:solidFill>
                <a:latin typeface="Arial"/>
                <a:ea typeface="Arial"/>
                <a:cs typeface="Arial"/>
                <a:sym typeface="Arial"/>
              </a:rPr>
              <a:t>What every Specialist can expect when CARE is active on the floor</a:t>
            </a:r>
            <a:endParaRPr b="0" i="0" sz="1800" u="none" cap="none" strike="noStrike">
              <a:solidFill>
                <a:schemeClr val="lt1"/>
              </a:solidFill>
              <a:latin typeface="Calibri"/>
              <a:ea typeface="Calibri"/>
              <a:cs typeface="Calibri"/>
              <a:sym typeface="Calibri"/>
            </a:endParaRPr>
          </a:p>
        </p:txBody>
      </p:sp>
      <p:sp>
        <p:nvSpPr>
          <p:cNvPr id="63" name="Google Shape;63;p1"/>
          <p:cNvSpPr/>
          <p:nvPr/>
        </p:nvSpPr>
        <p:spPr>
          <a:xfrm>
            <a:off x="769965" y="4699040"/>
            <a:ext cx="77724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1500"/>
              <a:buFont typeface="Arial"/>
              <a:buNone/>
            </a:pPr>
            <a:r>
              <a:rPr b="0" i="1" lang="en-US" sz="1500" u="none" cap="none" strike="noStrike">
                <a:solidFill>
                  <a:srgbClr val="FFFFFF"/>
                </a:solidFill>
                <a:latin typeface="Arial"/>
                <a:ea typeface="Arial"/>
                <a:cs typeface="Arial"/>
                <a:sym typeface="Arial"/>
              </a:rPr>
              <a:t>A Remarkable Experience.  Every Client.  Every time</a:t>
            </a:r>
            <a:r>
              <a:rPr b="0" i="1" lang="en-US" sz="1500" u="none" cap="none" strike="noStrike">
                <a:solidFill>
                  <a:srgbClr val="14B8A6"/>
                </a:solidFill>
                <a:latin typeface="Arial"/>
                <a:ea typeface="Arial"/>
                <a:cs typeface="Arial"/>
                <a:sym typeface="Arial"/>
              </a:rPr>
              <a:t>.</a:t>
            </a:r>
            <a:endParaRPr b="0" i="0" sz="1500" u="none" cap="none" strike="noStrike">
              <a:solidFill>
                <a:schemeClr val="dk1"/>
              </a:solidFill>
              <a:latin typeface="Calibri"/>
              <a:ea typeface="Calibri"/>
              <a:cs typeface="Calibri"/>
              <a:sym typeface="Calibri"/>
            </a:endParaRPr>
          </a:p>
        </p:txBody>
      </p:sp>
      <p:sp>
        <p:nvSpPr>
          <p:cNvPr id="64" name="Google Shape;64;p1"/>
          <p:cNvSpPr/>
          <p:nvPr/>
        </p:nvSpPr>
        <p:spPr>
          <a:xfrm>
            <a:off x="2587678" y="4115400"/>
            <a:ext cx="4206300" cy="502800"/>
          </a:xfrm>
          <a:prstGeom prst="roundRect">
            <a:avLst>
              <a:gd fmla="val 49091"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5B6"/>
              </a:buClr>
              <a:buSzPts val="1400"/>
              <a:buFont typeface="Arial"/>
              <a:buNone/>
            </a:pPr>
            <a:r>
              <a:rPr b="1" i="0" lang="en-US" sz="1400" u="none" cap="none" strike="noStrike">
                <a:solidFill>
                  <a:srgbClr val="2E75B6"/>
                </a:solidFill>
                <a:latin typeface="Arial"/>
                <a:ea typeface="Arial"/>
                <a:cs typeface="Arial"/>
                <a:sym typeface="Arial"/>
              </a:rPr>
              <a:t>Specialists  ·  Blue Track</a:t>
            </a:r>
            <a:endParaRPr b="0" i="0" sz="1400" u="none" cap="none" strike="noStrike">
              <a:solidFill>
                <a:srgbClr val="000000"/>
              </a:solidFill>
              <a:latin typeface="Calibri"/>
              <a:ea typeface="Calibri"/>
              <a:cs typeface="Calibri"/>
              <a:sym typeface="Calibri"/>
            </a:endParaRPr>
          </a:p>
        </p:txBody>
      </p:sp>
      <p:sp>
        <p:nvSpPr>
          <p:cNvPr id="65" name="Google Shape;65;p1"/>
          <p:cNvSpPr/>
          <p:nvPr/>
        </p:nvSpPr>
        <p:spPr>
          <a:xfrm rot="2182080">
            <a:off x="5455804" y="1325797"/>
            <a:ext cx="534260" cy="1153904"/>
          </a:xfrm>
          <a:prstGeom prst="ellipse">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66" name="Google Shape;66;p1"/>
          <p:cNvSpPr/>
          <p:nvPr/>
        </p:nvSpPr>
        <p:spPr>
          <a:xfrm>
            <a:off x="5227450" y="-10025"/>
            <a:ext cx="2235900" cy="808800"/>
          </a:xfrm>
          <a:prstGeom prst="heart">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67" name="Google Shape;67;p1"/>
          <p:cNvSpPr/>
          <p:nvPr/>
        </p:nvSpPr>
        <p:spPr>
          <a:xfrm>
            <a:off x="3060150" y="68675"/>
            <a:ext cx="236700" cy="595200"/>
          </a:xfrm>
          <a:prstGeom prst="roundRect">
            <a:avLst>
              <a:gd fmla="val 16667" name="adj"/>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68" name="Google Shape;68;p1"/>
          <p:cNvSpPr/>
          <p:nvPr/>
        </p:nvSpPr>
        <p:spPr>
          <a:xfrm>
            <a:off x="2686225" y="1289700"/>
            <a:ext cx="1389000" cy="1007400"/>
          </a:xfrm>
          <a:prstGeom prst="rtTriangle">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69" name="Google Shape;69;p1"/>
          <p:cNvSpPr/>
          <p:nvPr/>
        </p:nvSpPr>
        <p:spPr>
          <a:xfrm rot="-1240047">
            <a:off x="2808325" y="120933"/>
            <a:ext cx="740345" cy="303230"/>
          </a:xfrm>
          <a:prstGeom prst="rect">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pic>
        <p:nvPicPr>
          <p:cNvPr id="70" name="Google Shape;70;p1" title="grok-image-6bee5419-570b-4123-8542-27b02a1104ea (1)-Picsart-BackgroundRemover (1).jpg"/>
          <p:cNvPicPr preferRelativeResize="0"/>
          <p:nvPr/>
        </p:nvPicPr>
        <p:blipFill>
          <a:blip r:embed="rId3">
            <a:alphaModFix/>
          </a:blip>
          <a:stretch>
            <a:fillRect/>
          </a:stretch>
        </p:blipFill>
        <p:spPr>
          <a:xfrm>
            <a:off x="66526" y="3851801"/>
            <a:ext cx="1868849" cy="1245899"/>
          </a:xfrm>
          <a:prstGeom prst="rect">
            <a:avLst/>
          </a:prstGeom>
          <a:noFill/>
          <a:ln>
            <a:noFill/>
          </a:ln>
        </p:spPr>
      </p:pic>
      <p:pic>
        <p:nvPicPr>
          <p:cNvPr id="71" name="Google Shape;71;p1" title="Picture1.png"/>
          <p:cNvPicPr preferRelativeResize="0"/>
          <p:nvPr/>
        </p:nvPicPr>
        <p:blipFill>
          <a:blip r:embed="rId4">
            <a:alphaModFix/>
          </a:blip>
          <a:stretch>
            <a:fillRect/>
          </a:stretch>
        </p:blipFill>
        <p:spPr>
          <a:xfrm>
            <a:off x="2960925" y="190325"/>
            <a:ext cx="2938300" cy="2060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 name="Shape 76"/>
        <p:cNvGrpSpPr/>
        <p:nvPr/>
      </p:nvGrpSpPr>
      <p:grpSpPr>
        <a:xfrm>
          <a:off x="0" y="0"/>
          <a:ext cx="0" cy="0"/>
          <a:chOff x="0" y="0"/>
          <a:chExt cx="0" cy="0"/>
        </a:xfrm>
      </p:grpSpPr>
      <p:sp>
        <p:nvSpPr>
          <p:cNvPr id="77" name="Google Shape;77;p2"/>
          <p:cNvSpPr/>
          <p:nvPr/>
        </p:nvSpPr>
        <p:spPr>
          <a:xfrm>
            <a:off x="0" y="0"/>
            <a:ext cx="9144000" cy="82296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457200" y="22860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Why Active Floor Leadership Matters to You</a:t>
            </a:r>
            <a:endParaRPr sz="2400">
              <a:solidFill>
                <a:schemeClr val="dk1"/>
              </a:solidFill>
              <a:latin typeface="Calibri"/>
              <a:ea typeface="Calibri"/>
              <a:cs typeface="Calibri"/>
              <a:sym typeface="Calibri"/>
            </a:endParaRPr>
          </a:p>
        </p:txBody>
      </p:sp>
      <p:sp>
        <p:nvSpPr>
          <p:cNvPr id="79" name="Google Shape;79;p2"/>
          <p:cNvSpPr/>
          <p:nvPr/>
        </p:nvSpPr>
        <p:spPr>
          <a:xfrm>
            <a:off x="365760" y="1097280"/>
            <a:ext cx="4114800" cy="1737360"/>
          </a:xfrm>
          <a:prstGeom prst="roundRect">
            <a:avLst>
              <a:gd fmla="val 5263"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 name="Google Shape;80;p2"/>
          <p:cNvPicPr preferRelativeResize="0"/>
          <p:nvPr/>
        </p:nvPicPr>
        <p:blipFill rotWithShape="1">
          <a:blip r:embed="rId3">
            <a:alphaModFix/>
          </a:blip>
          <a:srcRect b="0" l="0" r="0" t="0"/>
          <a:stretch/>
        </p:blipFill>
        <p:spPr>
          <a:xfrm>
            <a:off x="594360" y="1371600"/>
            <a:ext cx="365760" cy="365760"/>
          </a:xfrm>
          <a:prstGeom prst="rect">
            <a:avLst/>
          </a:prstGeom>
          <a:noFill/>
          <a:ln>
            <a:noFill/>
          </a:ln>
        </p:spPr>
      </p:pic>
      <p:sp>
        <p:nvSpPr>
          <p:cNvPr id="81" name="Google Shape;81;p2"/>
          <p:cNvSpPr/>
          <p:nvPr/>
        </p:nvSpPr>
        <p:spPr>
          <a:xfrm>
            <a:off x="1097280" y="137160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You Are Never Alone</a:t>
            </a:r>
            <a:endParaRPr sz="1600">
              <a:solidFill>
                <a:schemeClr val="dk1"/>
              </a:solidFill>
              <a:latin typeface="Calibri"/>
              <a:ea typeface="Calibri"/>
              <a:cs typeface="Calibri"/>
              <a:sym typeface="Calibri"/>
            </a:endParaRPr>
          </a:p>
        </p:txBody>
      </p:sp>
      <p:sp>
        <p:nvSpPr>
          <p:cNvPr id="82" name="Google Shape;82;p2"/>
          <p:cNvSpPr/>
          <p:nvPr/>
        </p:nvSpPr>
        <p:spPr>
          <a:xfrm>
            <a:off x="594360" y="1874520"/>
            <a:ext cx="36576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There is always a designated Floor Leader. Someone is watching the floor so you can stay fully present with your Client.</a:t>
            </a:r>
            <a:endParaRPr sz="1300">
              <a:solidFill>
                <a:schemeClr val="dk1"/>
              </a:solidFill>
              <a:latin typeface="Calibri"/>
              <a:ea typeface="Calibri"/>
              <a:cs typeface="Calibri"/>
              <a:sym typeface="Calibri"/>
            </a:endParaRPr>
          </a:p>
        </p:txBody>
      </p:sp>
      <p:sp>
        <p:nvSpPr>
          <p:cNvPr id="83" name="Google Shape;83;p2"/>
          <p:cNvSpPr/>
          <p:nvPr/>
        </p:nvSpPr>
        <p:spPr>
          <a:xfrm>
            <a:off x="4709160" y="1097280"/>
            <a:ext cx="4114800" cy="1737360"/>
          </a:xfrm>
          <a:prstGeom prst="roundRect">
            <a:avLst>
              <a:gd fmla="val 5263"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4" name="Google Shape;84;p2"/>
          <p:cNvPicPr preferRelativeResize="0"/>
          <p:nvPr/>
        </p:nvPicPr>
        <p:blipFill rotWithShape="1">
          <a:blip r:embed="rId4">
            <a:alphaModFix/>
          </a:blip>
          <a:srcRect b="0" l="0" r="0" t="0"/>
          <a:stretch/>
        </p:blipFill>
        <p:spPr>
          <a:xfrm>
            <a:off x="4937760" y="1371600"/>
            <a:ext cx="365760" cy="365760"/>
          </a:xfrm>
          <a:prstGeom prst="rect">
            <a:avLst/>
          </a:prstGeom>
          <a:noFill/>
          <a:ln>
            <a:noFill/>
          </a:ln>
        </p:spPr>
      </p:pic>
      <p:sp>
        <p:nvSpPr>
          <p:cNvPr id="85" name="Google Shape;85;p2"/>
          <p:cNvSpPr/>
          <p:nvPr/>
        </p:nvSpPr>
        <p:spPr>
          <a:xfrm>
            <a:off x="5440680" y="137160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Coaching in Real Time</a:t>
            </a:r>
            <a:endParaRPr sz="1600">
              <a:solidFill>
                <a:schemeClr val="dk1"/>
              </a:solidFill>
              <a:latin typeface="Calibri"/>
              <a:ea typeface="Calibri"/>
              <a:cs typeface="Calibri"/>
              <a:sym typeface="Calibri"/>
            </a:endParaRPr>
          </a:p>
        </p:txBody>
      </p:sp>
      <p:sp>
        <p:nvSpPr>
          <p:cNvPr id="86" name="Google Shape;86;p2"/>
          <p:cNvSpPr/>
          <p:nvPr/>
        </p:nvSpPr>
        <p:spPr>
          <a:xfrm>
            <a:off x="4937760" y="1874520"/>
            <a:ext cx="36576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Feedback comes while the demo is still fresh — not days later. You improve faster because the moment is still alive.</a:t>
            </a:r>
            <a:endParaRPr sz="1300">
              <a:solidFill>
                <a:schemeClr val="dk1"/>
              </a:solidFill>
              <a:latin typeface="Calibri"/>
              <a:ea typeface="Calibri"/>
              <a:cs typeface="Calibri"/>
              <a:sym typeface="Calibri"/>
            </a:endParaRPr>
          </a:p>
        </p:txBody>
      </p:sp>
      <p:sp>
        <p:nvSpPr>
          <p:cNvPr id="87" name="Google Shape;87;p2"/>
          <p:cNvSpPr/>
          <p:nvPr/>
        </p:nvSpPr>
        <p:spPr>
          <a:xfrm>
            <a:off x="365760" y="2971800"/>
            <a:ext cx="4114800" cy="1737360"/>
          </a:xfrm>
          <a:prstGeom prst="roundRect">
            <a:avLst>
              <a:gd fmla="val 5263"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 name="Google Shape;88;p2"/>
          <p:cNvPicPr preferRelativeResize="0"/>
          <p:nvPr/>
        </p:nvPicPr>
        <p:blipFill rotWithShape="1">
          <a:blip r:embed="rId5">
            <a:alphaModFix/>
          </a:blip>
          <a:srcRect b="0" l="0" r="0" t="0"/>
          <a:stretch/>
        </p:blipFill>
        <p:spPr>
          <a:xfrm>
            <a:off x="594360" y="3246120"/>
            <a:ext cx="365760" cy="365760"/>
          </a:xfrm>
          <a:prstGeom prst="rect">
            <a:avLst/>
          </a:prstGeom>
          <a:noFill/>
          <a:ln>
            <a:noFill/>
          </a:ln>
        </p:spPr>
      </p:pic>
      <p:sp>
        <p:nvSpPr>
          <p:cNvPr id="89" name="Google Shape;89;p2"/>
          <p:cNvSpPr/>
          <p:nvPr/>
        </p:nvSpPr>
        <p:spPr>
          <a:xfrm>
            <a:off x="1097280" y="324612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Stronger Closes</a:t>
            </a:r>
            <a:endParaRPr sz="1600">
              <a:solidFill>
                <a:schemeClr val="dk1"/>
              </a:solidFill>
              <a:latin typeface="Calibri"/>
              <a:ea typeface="Calibri"/>
              <a:cs typeface="Calibri"/>
              <a:sym typeface="Calibri"/>
            </a:endParaRPr>
          </a:p>
        </p:txBody>
      </p:sp>
      <p:sp>
        <p:nvSpPr>
          <p:cNvPr id="90" name="Google Shape;90;p2"/>
          <p:cNvSpPr/>
          <p:nvPr/>
        </p:nvSpPr>
        <p:spPr>
          <a:xfrm>
            <a:off x="594360" y="3749040"/>
            <a:ext cx="36576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When a red flag appears or a WOW moment builds, the Floor Leader steps in only long enough to help — then hands it back to you.</a:t>
            </a:r>
            <a:endParaRPr sz="1300">
              <a:solidFill>
                <a:schemeClr val="dk1"/>
              </a:solidFill>
              <a:latin typeface="Calibri"/>
              <a:ea typeface="Calibri"/>
              <a:cs typeface="Calibri"/>
              <a:sym typeface="Calibri"/>
            </a:endParaRPr>
          </a:p>
        </p:txBody>
      </p:sp>
      <p:sp>
        <p:nvSpPr>
          <p:cNvPr id="91" name="Google Shape;91;p2"/>
          <p:cNvSpPr/>
          <p:nvPr/>
        </p:nvSpPr>
        <p:spPr>
          <a:xfrm>
            <a:off x="4709160" y="2971800"/>
            <a:ext cx="4114800" cy="1737360"/>
          </a:xfrm>
          <a:prstGeom prst="roundRect">
            <a:avLst>
              <a:gd fmla="val 5263"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2" name="Google Shape;92;p2"/>
          <p:cNvPicPr preferRelativeResize="0"/>
          <p:nvPr/>
        </p:nvPicPr>
        <p:blipFill rotWithShape="1">
          <a:blip r:embed="rId6">
            <a:alphaModFix/>
          </a:blip>
          <a:srcRect b="0" l="0" r="0" t="0"/>
          <a:stretch/>
        </p:blipFill>
        <p:spPr>
          <a:xfrm>
            <a:off x="4937760" y="3246120"/>
            <a:ext cx="365760" cy="365760"/>
          </a:xfrm>
          <a:prstGeom prst="rect">
            <a:avLst/>
          </a:prstGeom>
          <a:noFill/>
          <a:ln>
            <a:noFill/>
          </a:ln>
        </p:spPr>
      </p:pic>
      <p:sp>
        <p:nvSpPr>
          <p:cNvPr id="93" name="Google Shape;93;p2"/>
          <p:cNvSpPr/>
          <p:nvPr/>
        </p:nvSpPr>
        <p:spPr>
          <a:xfrm>
            <a:off x="5440680" y="324612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Clients Feel the Difference</a:t>
            </a:r>
            <a:endParaRPr sz="1600">
              <a:solidFill>
                <a:schemeClr val="dk1"/>
              </a:solidFill>
              <a:latin typeface="Calibri"/>
              <a:ea typeface="Calibri"/>
              <a:cs typeface="Calibri"/>
              <a:sym typeface="Calibri"/>
            </a:endParaRPr>
          </a:p>
        </p:txBody>
      </p:sp>
      <p:sp>
        <p:nvSpPr>
          <p:cNvPr id="94" name="Google Shape;94;p2"/>
          <p:cNvSpPr/>
          <p:nvPr/>
        </p:nvSpPr>
        <p:spPr>
          <a:xfrm>
            <a:off x="4937760" y="3749040"/>
            <a:ext cx="36576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Consistent, Remarkable experiences create advocates. More advocates mean more reviews, more referrals, and more confidence for you.</a:t>
            </a:r>
            <a:endParaRPr sz="1300">
              <a:solidFill>
                <a:schemeClr val="dk1"/>
              </a:solidFill>
              <a:latin typeface="Calibri"/>
              <a:ea typeface="Calibri"/>
              <a:cs typeface="Calibri"/>
              <a:sym typeface="Calibri"/>
            </a:endParaRPr>
          </a:p>
        </p:txBody>
      </p:sp>
      <p:pic>
        <p:nvPicPr>
          <p:cNvPr id="95" name="Google Shape;95;p2" title="grok-image-6bee5419-570b-4123-8542-27b02a1104ea (1)-Picsart-BackgroundRemover (1).jpg"/>
          <p:cNvPicPr preferRelativeResize="0"/>
          <p:nvPr/>
        </p:nvPicPr>
        <p:blipFill>
          <a:blip r:embed="rId7">
            <a:alphaModFix/>
          </a:blip>
          <a:stretch>
            <a:fillRect/>
          </a:stretch>
        </p:blipFill>
        <p:spPr>
          <a:xfrm>
            <a:off x="-5" y="4583420"/>
            <a:ext cx="840107" cy="560075"/>
          </a:xfrm>
          <a:prstGeom prst="rect">
            <a:avLst/>
          </a:prstGeom>
          <a:noFill/>
          <a:ln>
            <a:noFill/>
          </a:ln>
        </p:spPr>
      </p:pic>
      <p:pic>
        <p:nvPicPr>
          <p:cNvPr id="96" name="Google Shape;96;p2" title="Picture1.png"/>
          <p:cNvPicPr preferRelativeResize="0"/>
          <p:nvPr/>
        </p:nvPicPr>
        <p:blipFill>
          <a:blip r:embed="rId8">
            <a:alphaModFix/>
          </a:blip>
          <a:stretch>
            <a:fillRect/>
          </a:stretch>
        </p:blipFill>
        <p:spPr>
          <a:xfrm>
            <a:off x="8595350" y="4587675"/>
            <a:ext cx="502400" cy="502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3"/>
          <p:cNvSpPr/>
          <p:nvPr/>
        </p:nvSpPr>
        <p:spPr>
          <a:xfrm>
            <a:off x="0" y="0"/>
            <a:ext cx="9144000" cy="822960"/>
          </a:xfrm>
          <a:prstGeom prst="rect">
            <a:avLst/>
          </a:prstGeom>
          <a:solidFill>
            <a:srgbClr val="3C78D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457200" y="22860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The CARE Promise to Every Specialist</a:t>
            </a:r>
            <a:endParaRPr sz="2400">
              <a:solidFill>
                <a:schemeClr val="dk1"/>
              </a:solidFill>
              <a:latin typeface="Calibri"/>
              <a:ea typeface="Calibri"/>
              <a:cs typeface="Calibri"/>
              <a:sym typeface="Calibri"/>
            </a:endParaRPr>
          </a:p>
        </p:txBody>
      </p:sp>
      <p:sp>
        <p:nvSpPr>
          <p:cNvPr id="104" name="Google Shape;104;p3"/>
          <p:cNvSpPr/>
          <p:nvPr/>
        </p:nvSpPr>
        <p:spPr>
          <a:xfrm>
            <a:off x="960120" y="1143000"/>
            <a:ext cx="640080" cy="6400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960120" y="114300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C</a:t>
            </a:r>
            <a:endParaRPr sz="2600">
              <a:solidFill>
                <a:schemeClr val="dk1"/>
              </a:solidFill>
              <a:latin typeface="Calibri"/>
              <a:ea typeface="Calibri"/>
              <a:cs typeface="Calibri"/>
              <a:sym typeface="Calibri"/>
            </a:endParaRPr>
          </a:p>
        </p:txBody>
      </p:sp>
      <p:sp>
        <p:nvSpPr>
          <p:cNvPr id="106" name="Google Shape;106;p3"/>
          <p:cNvSpPr/>
          <p:nvPr/>
        </p:nvSpPr>
        <p:spPr>
          <a:xfrm>
            <a:off x="320040" y="1965960"/>
            <a:ext cx="20116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Connect</a:t>
            </a:r>
            <a:endParaRPr sz="1600">
              <a:solidFill>
                <a:schemeClr val="dk1"/>
              </a:solidFill>
              <a:latin typeface="Calibri"/>
              <a:ea typeface="Calibri"/>
              <a:cs typeface="Calibri"/>
              <a:sym typeface="Calibri"/>
            </a:endParaRPr>
          </a:p>
        </p:txBody>
      </p:sp>
      <p:sp>
        <p:nvSpPr>
          <p:cNvPr id="107" name="Google Shape;107;p3"/>
          <p:cNvSpPr/>
          <p:nvPr/>
        </p:nvSpPr>
        <p:spPr>
          <a:xfrm>
            <a:off x="320040" y="2377440"/>
            <a:ext cx="2011680" cy="2194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Your Floor Leader greets every Client and hands them to you with a warm, confident introduction so you start strong.</a:t>
            </a:r>
            <a:endParaRPr sz="1300">
              <a:solidFill>
                <a:schemeClr val="dk1"/>
              </a:solidFill>
              <a:latin typeface="Calibri"/>
              <a:ea typeface="Calibri"/>
              <a:cs typeface="Calibri"/>
              <a:sym typeface="Calibri"/>
            </a:endParaRPr>
          </a:p>
        </p:txBody>
      </p:sp>
      <p:sp>
        <p:nvSpPr>
          <p:cNvPr id="108" name="Google Shape;108;p3"/>
          <p:cNvSpPr/>
          <p:nvPr/>
        </p:nvSpPr>
        <p:spPr>
          <a:xfrm>
            <a:off x="3154680" y="1143000"/>
            <a:ext cx="640080" cy="6400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3154680" y="114300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A</a:t>
            </a:r>
            <a:endParaRPr sz="2600">
              <a:solidFill>
                <a:schemeClr val="dk1"/>
              </a:solidFill>
              <a:latin typeface="Calibri"/>
              <a:ea typeface="Calibri"/>
              <a:cs typeface="Calibri"/>
              <a:sym typeface="Calibri"/>
            </a:endParaRPr>
          </a:p>
        </p:txBody>
      </p:sp>
      <p:sp>
        <p:nvSpPr>
          <p:cNvPr id="110" name="Google Shape;110;p3"/>
          <p:cNvSpPr/>
          <p:nvPr/>
        </p:nvSpPr>
        <p:spPr>
          <a:xfrm>
            <a:off x="2514600" y="1965960"/>
            <a:ext cx="20116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Assess</a:t>
            </a:r>
            <a:endParaRPr sz="1600">
              <a:solidFill>
                <a:schemeClr val="dk1"/>
              </a:solidFill>
              <a:latin typeface="Calibri"/>
              <a:ea typeface="Calibri"/>
              <a:cs typeface="Calibri"/>
              <a:sym typeface="Calibri"/>
            </a:endParaRPr>
          </a:p>
        </p:txBody>
      </p:sp>
      <p:sp>
        <p:nvSpPr>
          <p:cNvPr id="111" name="Google Shape;111;p3"/>
          <p:cNvSpPr/>
          <p:nvPr/>
        </p:nvSpPr>
        <p:spPr>
          <a:xfrm>
            <a:off x="2514600" y="2377440"/>
            <a:ext cx="2011680" cy="2194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They read every demo without interrupting. Green flags stay protected. Red flags get answered before they cost the sale.</a:t>
            </a:r>
            <a:endParaRPr sz="1300">
              <a:solidFill>
                <a:schemeClr val="dk1"/>
              </a:solidFill>
              <a:latin typeface="Calibri"/>
              <a:ea typeface="Calibri"/>
              <a:cs typeface="Calibri"/>
              <a:sym typeface="Calibri"/>
            </a:endParaRPr>
          </a:p>
        </p:txBody>
      </p:sp>
      <p:sp>
        <p:nvSpPr>
          <p:cNvPr id="112" name="Google Shape;112;p3"/>
          <p:cNvSpPr/>
          <p:nvPr/>
        </p:nvSpPr>
        <p:spPr>
          <a:xfrm>
            <a:off x="5349240" y="1143000"/>
            <a:ext cx="640080" cy="6400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5349240" y="114300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R</a:t>
            </a:r>
            <a:endParaRPr sz="2600">
              <a:solidFill>
                <a:schemeClr val="dk1"/>
              </a:solidFill>
              <a:latin typeface="Calibri"/>
              <a:ea typeface="Calibri"/>
              <a:cs typeface="Calibri"/>
              <a:sym typeface="Calibri"/>
            </a:endParaRPr>
          </a:p>
        </p:txBody>
      </p:sp>
      <p:sp>
        <p:nvSpPr>
          <p:cNvPr id="114" name="Google Shape;114;p3"/>
          <p:cNvSpPr/>
          <p:nvPr/>
        </p:nvSpPr>
        <p:spPr>
          <a:xfrm>
            <a:off x="4709160" y="1965960"/>
            <a:ext cx="20116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Respond</a:t>
            </a:r>
            <a:endParaRPr sz="1600">
              <a:solidFill>
                <a:schemeClr val="dk1"/>
              </a:solidFill>
              <a:latin typeface="Calibri"/>
              <a:ea typeface="Calibri"/>
              <a:cs typeface="Calibri"/>
              <a:sym typeface="Calibri"/>
            </a:endParaRPr>
          </a:p>
        </p:txBody>
      </p:sp>
      <p:sp>
        <p:nvSpPr>
          <p:cNvPr id="115" name="Google Shape;115;p3"/>
          <p:cNvSpPr/>
          <p:nvPr/>
        </p:nvSpPr>
        <p:spPr>
          <a:xfrm>
            <a:off x="4709160" y="2377440"/>
            <a:ext cx="2011680" cy="2194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They step in only when it helps — using AAH — then immediately hand control back so you finish the sale.</a:t>
            </a:r>
            <a:endParaRPr sz="1300">
              <a:solidFill>
                <a:schemeClr val="dk1"/>
              </a:solidFill>
              <a:latin typeface="Calibri"/>
              <a:ea typeface="Calibri"/>
              <a:cs typeface="Calibri"/>
              <a:sym typeface="Calibri"/>
            </a:endParaRPr>
          </a:p>
        </p:txBody>
      </p:sp>
      <p:sp>
        <p:nvSpPr>
          <p:cNvPr id="116" name="Google Shape;116;p3"/>
          <p:cNvSpPr/>
          <p:nvPr/>
        </p:nvSpPr>
        <p:spPr>
          <a:xfrm>
            <a:off x="7543800" y="1143000"/>
            <a:ext cx="640080" cy="6400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7543800" y="114300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E</a:t>
            </a:r>
            <a:endParaRPr sz="2600">
              <a:solidFill>
                <a:schemeClr val="dk1"/>
              </a:solidFill>
              <a:latin typeface="Calibri"/>
              <a:ea typeface="Calibri"/>
              <a:cs typeface="Calibri"/>
              <a:sym typeface="Calibri"/>
            </a:endParaRPr>
          </a:p>
        </p:txBody>
      </p:sp>
      <p:sp>
        <p:nvSpPr>
          <p:cNvPr id="118" name="Google Shape;118;p3"/>
          <p:cNvSpPr/>
          <p:nvPr/>
        </p:nvSpPr>
        <p:spPr>
          <a:xfrm>
            <a:off x="6903720" y="1965960"/>
            <a:ext cx="20116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Elevate</a:t>
            </a:r>
            <a:endParaRPr sz="1600">
              <a:solidFill>
                <a:schemeClr val="dk1"/>
              </a:solidFill>
              <a:latin typeface="Calibri"/>
              <a:ea typeface="Calibri"/>
              <a:cs typeface="Calibri"/>
              <a:sym typeface="Calibri"/>
            </a:endParaRPr>
          </a:p>
        </p:txBody>
      </p:sp>
      <p:sp>
        <p:nvSpPr>
          <p:cNvPr id="119" name="Google Shape;119;p3"/>
          <p:cNvSpPr/>
          <p:nvPr/>
        </p:nvSpPr>
        <p:spPr>
          <a:xfrm>
            <a:off x="6903720" y="2377440"/>
            <a:ext cx="2011680" cy="2194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Every observation becomes coaching: in the moment, in the backroom, and in your weekly 1:1. Always starting with wins.</a:t>
            </a:r>
            <a:endParaRPr sz="1300">
              <a:solidFill>
                <a:schemeClr val="dk1"/>
              </a:solidFill>
              <a:latin typeface="Calibri"/>
              <a:ea typeface="Calibri"/>
              <a:cs typeface="Calibri"/>
              <a:sym typeface="Calibri"/>
            </a:endParaRPr>
          </a:p>
        </p:txBody>
      </p:sp>
      <p:pic>
        <p:nvPicPr>
          <p:cNvPr id="120" name="Google Shape;120;p3" title="grok-image-6bee5419-570b-4123-8542-27b02a1104ea (1)-Picsart-BackgroundRemover (1).jpg"/>
          <p:cNvPicPr preferRelativeResize="0"/>
          <p:nvPr/>
        </p:nvPicPr>
        <p:blipFill>
          <a:blip r:embed="rId3">
            <a:alphaModFix/>
          </a:blip>
          <a:stretch>
            <a:fillRect/>
          </a:stretch>
        </p:blipFill>
        <p:spPr>
          <a:xfrm>
            <a:off x="-5" y="4583420"/>
            <a:ext cx="840107" cy="560075"/>
          </a:xfrm>
          <a:prstGeom prst="rect">
            <a:avLst/>
          </a:prstGeom>
          <a:noFill/>
          <a:ln>
            <a:noFill/>
          </a:ln>
        </p:spPr>
      </p:pic>
      <p:pic>
        <p:nvPicPr>
          <p:cNvPr id="121" name="Google Shape;121;p3" title="Picture1.png"/>
          <p:cNvPicPr preferRelativeResize="0"/>
          <p:nvPr/>
        </p:nvPicPr>
        <p:blipFill>
          <a:blip r:embed="rId4">
            <a:alphaModFix/>
          </a:blip>
          <a:stretch>
            <a:fillRect/>
          </a:stretch>
        </p:blipFill>
        <p:spPr>
          <a:xfrm>
            <a:off x="8595350" y="4587675"/>
            <a:ext cx="502400" cy="502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4"/>
          <p:cNvSpPr/>
          <p:nvPr/>
        </p:nvSpPr>
        <p:spPr>
          <a:xfrm>
            <a:off x="0" y="0"/>
            <a:ext cx="9144000" cy="82296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457200" y="22860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C — Connect: How They </a:t>
            </a:r>
            <a:r>
              <a:rPr b="1" lang="en-US" sz="2400">
                <a:solidFill>
                  <a:srgbClr val="FFFFFF"/>
                </a:solidFill>
              </a:rPr>
              <a:t>Will Help You Build Value</a:t>
            </a:r>
            <a:endParaRPr sz="2400">
              <a:solidFill>
                <a:schemeClr val="dk1"/>
              </a:solidFill>
              <a:latin typeface="Calibri"/>
              <a:ea typeface="Calibri"/>
              <a:cs typeface="Calibri"/>
              <a:sym typeface="Calibri"/>
            </a:endParaRPr>
          </a:p>
        </p:txBody>
      </p:sp>
      <p:sp>
        <p:nvSpPr>
          <p:cNvPr id="129" name="Google Shape;129;p4"/>
          <p:cNvSpPr/>
          <p:nvPr/>
        </p:nvSpPr>
        <p:spPr>
          <a:xfrm>
            <a:off x="365760" y="1097280"/>
            <a:ext cx="4114800" cy="3657600"/>
          </a:xfrm>
          <a:prstGeom prst="roundRect">
            <a:avLst>
              <a:gd fmla="val 2500" name="adj"/>
            </a:avLst>
          </a:prstGeom>
          <a:solidFill>
            <a:srgbClr val="F0FD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548640" y="128016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200"/>
              <a:buFont typeface="Arial"/>
              <a:buNone/>
            </a:pPr>
            <a:r>
              <a:rPr b="1" lang="en-US" sz="1200">
                <a:solidFill>
                  <a:srgbClr val="0F766E"/>
                </a:solidFill>
                <a:latin typeface="Arial"/>
                <a:ea typeface="Arial"/>
                <a:cs typeface="Arial"/>
                <a:sym typeface="Arial"/>
              </a:rPr>
              <a:t>WHAT YOU RECEIVE</a:t>
            </a:r>
            <a:endParaRPr sz="1200">
              <a:solidFill>
                <a:schemeClr val="dk1"/>
              </a:solidFill>
              <a:latin typeface="Calibri"/>
              <a:ea typeface="Calibri"/>
              <a:cs typeface="Calibri"/>
              <a:sym typeface="Calibri"/>
            </a:endParaRPr>
          </a:p>
        </p:txBody>
      </p:sp>
      <p:sp>
        <p:nvSpPr>
          <p:cNvPr id="131" name="Google Shape;131;p4"/>
          <p:cNvSpPr/>
          <p:nvPr/>
        </p:nvSpPr>
        <p:spPr>
          <a:xfrm>
            <a:off x="594360" y="1783080"/>
            <a:ext cx="3657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Arial"/>
              <a:buNone/>
            </a:pPr>
            <a:r>
              <a:rPr lang="en-US" sz="1500">
                <a:solidFill>
                  <a:srgbClr val="1E293B"/>
                </a:solidFill>
                <a:latin typeface="Arial"/>
                <a:ea typeface="Arial"/>
                <a:cs typeface="Arial"/>
                <a:sym typeface="Arial"/>
              </a:rPr>
              <a:t>▸  A Client who feels they </a:t>
            </a:r>
            <a:r>
              <a:rPr lang="en-US" sz="1500">
                <a:solidFill>
                  <a:srgbClr val="1E293B"/>
                </a:solidFill>
              </a:rPr>
              <a:t>have a full team </a:t>
            </a:r>
            <a:r>
              <a:rPr lang="en-US" sz="1500">
                <a:solidFill>
                  <a:srgbClr val="1E293B"/>
                </a:solidFill>
              </a:rPr>
              <a:t>behind them</a:t>
            </a:r>
            <a:r>
              <a:rPr lang="en-US" sz="1500">
                <a:solidFill>
                  <a:srgbClr val="1E293B"/>
                </a:solidFill>
                <a:latin typeface="Arial"/>
                <a:ea typeface="Arial"/>
                <a:cs typeface="Arial"/>
                <a:sym typeface="Arial"/>
              </a:rPr>
              <a:t> and cared for</a:t>
            </a:r>
            <a:endParaRPr sz="1500">
              <a:solidFill>
                <a:schemeClr val="dk1"/>
              </a:solidFill>
              <a:latin typeface="Calibri"/>
              <a:ea typeface="Calibri"/>
              <a:cs typeface="Calibri"/>
              <a:sym typeface="Calibri"/>
            </a:endParaRPr>
          </a:p>
        </p:txBody>
      </p:sp>
      <p:sp>
        <p:nvSpPr>
          <p:cNvPr id="132" name="Google Shape;132;p4"/>
          <p:cNvSpPr/>
          <p:nvPr/>
        </p:nvSpPr>
        <p:spPr>
          <a:xfrm>
            <a:off x="594360" y="2423160"/>
            <a:ext cx="3657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Arial"/>
              <a:buNone/>
            </a:pPr>
            <a:r>
              <a:rPr lang="en-US" sz="1500">
                <a:solidFill>
                  <a:srgbClr val="1E293B"/>
                </a:solidFill>
                <a:latin typeface="Arial"/>
                <a:ea typeface="Arial"/>
                <a:cs typeface="Arial"/>
                <a:sym typeface="Arial"/>
              </a:rPr>
              <a:t>▸  A warm, specific introduction that positions you as the expert</a:t>
            </a:r>
            <a:endParaRPr sz="1500">
              <a:solidFill>
                <a:schemeClr val="dk1"/>
              </a:solidFill>
              <a:latin typeface="Calibri"/>
              <a:ea typeface="Calibri"/>
              <a:cs typeface="Calibri"/>
              <a:sym typeface="Calibri"/>
            </a:endParaRPr>
          </a:p>
        </p:txBody>
      </p:sp>
      <p:sp>
        <p:nvSpPr>
          <p:cNvPr id="133" name="Google Shape;133;p4"/>
          <p:cNvSpPr/>
          <p:nvPr/>
        </p:nvSpPr>
        <p:spPr>
          <a:xfrm>
            <a:off x="594360" y="3063240"/>
            <a:ext cx="3657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Arial"/>
              <a:buNone/>
            </a:pPr>
            <a:r>
              <a:rPr lang="en-US" sz="1500">
                <a:solidFill>
                  <a:srgbClr val="1E293B"/>
                </a:solidFill>
                <a:latin typeface="Arial"/>
                <a:ea typeface="Arial"/>
                <a:cs typeface="Arial"/>
                <a:sym typeface="Arial"/>
              </a:rPr>
              <a:t>▸  Clients seated quickly so momentum never dies</a:t>
            </a:r>
            <a:endParaRPr sz="1500">
              <a:solidFill>
                <a:schemeClr val="dk1"/>
              </a:solidFill>
              <a:latin typeface="Calibri"/>
              <a:ea typeface="Calibri"/>
              <a:cs typeface="Calibri"/>
              <a:sym typeface="Calibri"/>
            </a:endParaRPr>
          </a:p>
        </p:txBody>
      </p:sp>
      <p:sp>
        <p:nvSpPr>
          <p:cNvPr id="134" name="Google Shape;134;p4"/>
          <p:cNvSpPr/>
          <p:nvPr/>
        </p:nvSpPr>
        <p:spPr>
          <a:xfrm>
            <a:off x="594360" y="3703320"/>
            <a:ext cx="3657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Arial"/>
              <a:buNone/>
            </a:pPr>
            <a:r>
              <a:rPr lang="en-US" sz="1500">
                <a:solidFill>
                  <a:srgbClr val="1E293B"/>
                </a:solidFill>
                <a:latin typeface="Arial"/>
                <a:ea typeface="Arial"/>
                <a:cs typeface="Arial"/>
                <a:sym typeface="Arial"/>
              </a:rPr>
              <a:t>▸  A Floor Leader who has already confirmed you are ready</a:t>
            </a:r>
            <a:endParaRPr sz="1500">
              <a:solidFill>
                <a:schemeClr val="dk1"/>
              </a:solidFill>
              <a:latin typeface="Calibri"/>
              <a:ea typeface="Calibri"/>
              <a:cs typeface="Calibri"/>
              <a:sym typeface="Calibri"/>
            </a:endParaRPr>
          </a:p>
        </p:txBody>
      </p:sp>
      <p:sp>
        <p:nvSpPr>
          <p:cNvPr id="135" name="Google Shape;135;p4"/>
          <p:cNvSpPr/>
          <p:nvPr/>
        </p:nvSpPr>
        <p:spPr>
          <a:xfrm>
            <a:off x="4709160" y="1097280"/>
            <a:ext cx="4114800" cy="3657600"/>
          </a:xfrm>
          <a:prstGeom prst="roundRect">
            <a:avLst>
              <a:gd fmla="val 25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4892040" y="128016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200"/>
              <a:buFont typeface="Arial"/>
              <a:buNone/>
            </a:pPr>
            <a:r>
              <a:rPr b="1" lang="en-US" sz="1200">
                <a:solidFill>
                  <a:srgbClr val="0F766E"/>
                </a:solidFill>
                <a:latin typeface="Arial"/>
                <a:ea typeface="Arial"/>
                <a:cs typeface="Arial"/>
                <a:sym typeface="Arial"/>
              </a:rPr>
              <a:t>THE </a:t>
            </a:r>
            <a:r>
              <a:rPr b="1" lang="en-US" sz="1200">
                <a:solidFill>
                  <a:srgbClr val="0F766E"/>
                </a:solidFill>
              </a:rPr>
              <a:t>GREETING </a:t>
            </a:r>
            <a:r>
              <a:rPr b="1" lang="en-US" sz="1200">
                <a:solidFill>
                  <a:srgbClr val="0F766E"/>
                </a:solidFill>
                <a:latin typeface="Arial"/>
                <a:ea typeface="Arial"/>
                <a:cs typeface="Arial"/>
                <a:sym typeface="Arial"/>
              </a:rPr>
              <a:t>YOU WILL HEAR</a:t>
            </a:r>
            <a:endParaRPr sz="1200">
              <a:solidFill>
                <a:schemeClr val="dk1"/>
              </a:solidFill>
              <a:latin typeface="Calibri"/>
              <a:ea typeface="Calibri"/>
              <a:cs typeface="Calibri"/>
              <a:sym typeface="Calibri"/>
            </a:endParaRPr>
          </a:p>
        </p:txBody>
      </p:sp>
      <p:sp>
        <p:nvSpPr>
          <p:cNvPr id="137" name="Google Shape;137;p4"/>
          <p:cNvSpPr/>
          <p:nvPr/>
        </p:nvSpPr>
        <p:spPr>
          <a:xfrm>
            <a:off x="4983480" y="1920240"/>
            <a:ext cx="3566160" cy="13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F1216"/>
              </a:buClr>
              <a:buSzPts val="1600"/>
              <a:buFont typeface="Arial"/>
              <a:buNone/>
            </a:pPr>
            <a:r>
              <a:rPr i="1" lang="en-US" sz="1600">
                <a:solidFill>
                  <a:srgbClr val="1F1216"/>
                </a:solidFill>
              </a:rPr>
              <a:t>"Hey my name is (Name) the manager here and (Name) is an excellent Specialist, and they are going to take great care of you. Thank you for coming in.”</a:t>
            </a:r>
            <a:endParaRPr sz="1800">
              <a:solidFill>
                <a:schemeClr val="dk1"/>
              </a:solidFill>
              <a:latin typeface="Calibri"/>
              <a:ea typeface="Calibri"/>
              <a:cs typeface="Calibri"/>
              <a:sym typeface="Calibri"/>
            </a:endParaRPr>
          </a:p>
        </p:txBody>
      </p:sp>
      <p:sp>
        <p:nvSpPr>
          <p:cNvPr id="138" name="Google Shape;138;p4"/>
          <p:cNvSpPr/>
          <p:nvPr/>
        </p:nvSpPr>
        <p:spPr>
          <a:xfrm>
            <a:off x="4983480" y="3474720"/>
            <a:ext cx="35661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That sentence is designed to transfer trust to you instantly. Own it. Smile. Take the lead.</a:t>
            </a:r>
            <a:endParaRPr sz="1400">
              <a:solidFill>
                <a:schemeClr val="dk1"/>
              </a:solidFill>
              <a:latin typeface="Calibri"/>
              <a:ea typeface="Calibri"/>
              <a:cs typeface="Calibri"/>
              <a:sym typeface="Calibri"/>
            </a:endParaRPr>
          </a:p>
        </p:txBody>
      </p:sp>
      <p:pic>
        <p:nvPicPr>
          <p:cNvPr id="139" name="Google Shape;139;p4" title="grok-image-6bee5419-570b-4123-8542-27b02a1104ea (1)-Picsart-BackgroundRemover (1).jpg"/>
          <p:cNvPicPr preferRelativeResize="0"/>
          <p:nvPr/>
        </p:nvPicPr>
        <p:blipFill>
          <a:blip r:embed="rId3">
            <a:alphaModFix/>
          </a:blip>
          <a:stretch>
            <a:fillRect/>
          </a:stretch>
        </p:blipFill>
        <p:spPr>
          <a:xfrm>
            <a:off x="-5" y="4583420"/>
            <a:ext cx="840107" cy="560075"/>
          </a:xfrm>
          <a:prstGeom prst="rect">
            <a:avLst/>
          </a:prstGeom>
          <a:noFill/>
          <a:ln>
            <a:noFill/>
          </a:ln>
        </p:spPr>
      </p:pic>
      <p:pic>
        <p:nvPicPr>
          <p:cNvPr id="140" name="Google Shape;140;p4" title="Picture1.png"/>
          <p:cNvPicPr preferRelativeResize="0"/>
          <p:nvPr/>
        </p:nvPicPr>
        <p:blipFill>
          <a:blip r:embed="rId4">
            <a:alphaModFix/>
          </a:blip>
          <a:stretch>
            <a:fillRect/>
          </a:stretch>
        </p:blipFill>
        <p:spPr>
          <a:xfrm>
            <a:off x="8595350" y="4587675"/>
            <a:ext cx="502400" cy="502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5"/>
          <p:cNvSpPr/>
          <p:nvPr/>
        </p:nvSpPr>
        <p:spPr>
          <a:xfrm>
            <a:off x="0" y="0"/>
            <a:ext cx="9144000" cy="82296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457200" y="22860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A — Assess: Support, Not Surveillance</a:t>
            </a:r>
            <a:endParaRPr sz="2400">
              <a:solidFill>
                <a:schemeClr val="dk1"/>
              </a:solidFill>
              <a:latin typeface="Calibri"/>
              <a:ea typeface="Calibri"/>
              <a:cs typeface="Calibri"/>
              <a:sym typeface="Calibri"/>
            </a:endParaRPr>
          </a:p>
        </p:txBody>
      </p:sp>
      <p:sp>
        <p:nvSpPr>
          <p:cNvPr id="148" name="Google Shape;148;p5"/>
          <p:cNvSpPr/>
          <p:nvPr/>
        </p:nvSpPr>
        <p:spPr>
          <a:xfrm>
            <a:off x="457200" y="105156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Arial"/>
              <a:buNone/>
            </a:pPr>
            <a:r>
              <a:rPr lang="en-US" sz="1600">
                <a:solidFill>
                  <a:srgbClr val="1E293B"/>
                </a:solidFill>
                <a:latin typeface="Arial"/>
                <a:ea typeface="Arial"/>
                <a:cs typeface="Arial"/>
                <a:sym typeface="Arial"/>
              </a:rPr>
              <a:t>Your Floor Leader is reading the room so you can stay locked in with the Client.</a:t>
            </a:r>
            <a:endParaRPr sz="1600">
              <a:solidFill>
                <a:schemeClr val="dk1"/>
              </a:solidFill>
              <a:latin typeface="Calibri"/>
              <a:ea typeface="Calibri"/>
              <a:cs typeface="Calibri"/>
              <a:sym typeface="Calibri"/>
            </a:endParaRPr>
          </a:p>
        </p:txBody>
      </p:sp>
      <p:sp>
        <p:nvSpPr>
          <p:cNvPr id="149" name="Google Shape;149;p5"/>
          <p:cNvSpPr/>
          <p:nvPr/>
        </p:nvSpPr>
        <p:spPr>
          <a:xfrm>
            <a:off x="365760" y="1554480"/>
            <a:ext cx="4114800" cy="3200400"/>
          </a:xfrm>
          <a:prstGeom prst="roundRect">
            <a:avLst>
              <a:gd fmla="val 2857" name="adj"/>
            </a:avLst>
          </a:prstGeom>
          <a:solidFill>
            <a:srgbClr val="ECFD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548640" y="173736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400"/>
              <a:buFont typeface="Arial"/>
              <a:buNone/>
            </a:pPr>
            <a:r>
              <a:rPr b="1" lang="en-US" sz="1400">
                <a:solidFill>
                  <a:srgbClr val="059669"/>
                </a:solidFill>
                <a:latin typeface="Arial"/>
                <a:ea typeface="Arial"/>
                <a:cs typeface="Arial"/>
                <a:sym typeface="Arial"/>
              </a:rPr>
              <a:t>GREEN FLAGS  ·  They protect these</a:t>
            </a:r>
            <a:endParaRPr sz="1400">
              <a:solidFill>
                <a:schemeClr val="dk1"/>
              </a:solidFill>
              <a:latin typeface="Calibri"/>
              <a:ea typeface="Calibri"/>
              <a:cs typeface="Calibri"/>
              <a:sym typeface="Calibri"/>
            </a:endParaRPr>
          </a:p>
        </p:txBody>
      </p:sp>
      <p:sp>
        <p:nvSpPr>
          <p:cNvPr id="151" name="Google Shape;151;p5"/>
          <p:cNvSpPr/>
          <p:nvPr/>
        </p:nvSpPr>
        <p:spPr>
          <a:xfrm>
            <a:off x="594360" y="219456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Smiles, surprise, or visible WOW moments</a:t>
            </a:r>
            <a:endParaRPr sz="1400">
              <a:solidFill>
                <a:schemeClr val="dk1"/>
              </a:solidFill>
              <a:latin typeface="Calibri"/>
              <a:ea typeface="Calibri"/>
              <a:cs typeface="Calibri"/>
              <a:sym typeface="Calibri"/>
            </a:endParaRPr>
          </a:p>
        </p:txBody>
      </p:sp>
      <p:sp>
        <p:nvSpPr>
          <p:cNvPr id="152" name="Google Shape;152;p5"/>
          <p:cNvSpPr/>
          <p:nvPr/>
        </p:nvSpPr>
        <p:spPr>
          <a:xfrm>
            <a:off x="594360" y="265176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Client leaning in and trying multiple steps</a:t>
            </a:r>
            <a:endParaRPr sz="1400">
              <a:solidFill>
                <a:schemeClr val="dk1"/>
              </a:solidFill>
              <a:latin typeface="Calibri"/>
              <a:ea typeface="Calibri"/>
              <a:cs typeface="Calibri"/>
              <a:sym typeface="Calibri"/>
            </a:endParaRPr>
          </a:p>
        </p:txBody>
      </p:sp>
      <p:sp>
        <p:nvSpPr>
          <p:cNvPr id="153" name="Google Shape;153;p5"/>
          <p:cNvSpPr/>
          <p:nvPr/>
        </p:nvSpPr>
        <p:spPr>
          <a:xfrm>
            <a:off x="594360" y="310896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Balance technique landing as an aha</a:t>
            </a:r>
            <a:endParaRPr sz="1400">
              <a:solidFill>
                <a:schemeClr val="dk1"/>
              </a:solidFill>
              <a:latin typeface="Calibri"/>
              <a:ea typeface="Calibri"/>
              <a:cs typeface="Calibri"/>
              <a:sym typeface="Calibri"/>
            </a:endParaRPr>
          </a:p>
        </p:txBody>
      </p:sp>
      <p:sp>
        <p:nvSpPr>
          <p:cNvPr id="154" name="Google Shape;154;p5"/>
          <p:cNvSpPr/>
          <p:nvPr/>
        </p:nvSpPr>
        <p:spPr>
          <a:xfrm>
            <a:off x="594360" y="356616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Client putting supports into their own shoes</a:t>
            </a:r>
            <a:endParaRPr sz="1400">
              <a:solidFill>
                <a:schemeClr val="dk1"/>
              </a:solidFill>
              <a:latin typeface="Calibri"/>
              <a:ea typeface="Calibri"/>
              <a:cs typeface="Calibri"/>
              <a:sym typeface="Calibri"/>
            </a:endParaRPr>
          </a:p>
        </p:txBody>
      </p:sp>
      <p:sp>
        <p:nvSpPr>
          <p:cNvPr id="155" name="Google Shape;155;p5"/>
          <p:cNvSpPr/>
          <p:nvPr/>
        </p:nvSpPr>
        <p:spPr>
          <a:xfrm>
            <a:off x="594360" y="402336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Silence respected on test walks</a:t>
            </a:r>
            <a:endParaRPr sz="1400">
              <a:solidFill>
                <a:schemeClr val="dk1"/>
              </a:solidFill>
              <a:latin typeface="Calibri"/>
              <a:ea typeface="Calibri"/>
              <a:cs typeface="Calibri"/>
              <a:sym typeface="Calibri"/>
            </a:endParaRPr>
          </a:p>
        </p:txBody>
      </p:sp>
      <p:sp>
        <p:nvSpPr>
          <p:cNvPr id="156" name="Google Shape;156;p5"/>
          <p:cNvSpPr/>
          <p:nvPr/>
        </p:nvSpPr>
        <p:spPr>
          <a:xfrm>
            <a:off x="4709160" y="1554480"/>
            <a:ext cx="4114800" cy="3200400"/>
          </a:xfrm>
          <a:prstGeom prst="roundRect">
            <a:avLst>
              <a:gd fmla="val 2857" name="adj"/>
            </a:avLst>
          </a:prstGeom>
          <a:solidFill>
            <a:srgbClr val="FE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4892040" y="173736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400"/>
              <a:buFont typeface="Arial"/>
              <a:buNone/>
            </a:pPr>
            <a:r>
              <a:rPr b="1" lang="en-US" sz="1400">
                <a:solidFill>
                  <a:srgbClr val="DC2626"/>
                </a:solidFill>
                <a:latin typeface="Arial"/>
                <a:ea typeface="Arial"/>
                <a:cs typeface="Arial"/>
                <a:sym typeface="Arial"/>
              </a:rPr>
              <a:t>RED FLAGS  ·  They answer these</a:t>
            </a:r>
            <a:endParaRPr sz="1400">
              <a:solidFill>
                <a:schemeClr val="dk1"/>
              </a:solidFill>
              <a:latin typeface="Calibri"/>
              <a:ea typeface="Calibri"/>
              <a:cs typeface="Calibri"/>
              <a:sym typeface="Calibri"/>
            </a:endParaRPr>
          </a:p>
        </p:txBody>
      </p:sp>
      <p:sp>
        <p:nvSpPr>
          <p:cNvPr id="158" name="Google Shape;158;p5"/>
          <p:cNvSpPr/>
          <p:nvPr/>
        </p:nvSpPr>
        <p:spPr>
          <a:xfrm>
            <a:off x="4937760" y="219456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Too much talking during test walks</a:t>
            </a:r>
            <a:endParaRPr sz="1400">
              <a:solidFill>
                <a:schemeClr val="dk1"/>
              </a:solidFill>
              <a:latin typeface="Calibri"/>
              <a:ea typeface="Calibri"/>
              <a:cs typeface="Calibri"/>
              <a:sym typeface="Calibri"/>
            </a:endParaRPr>
          </a:p>
        </p:txBody>
      </p:sp>
      <p:sp>
        <p:nvSpPr>
          <p:cNvPr id="159" name="Google Shape;159;p5"/>
          <p:cNvSpPr/>
          <p:nvPr/>
        </p:nvSpPr>
        <p:spPr>
          <a:xfrm>
            <a:off x="4937760" y="265176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Neutral language: “fine,” “maybe”</a:t>
            </a:r>
            <a:endParaRPr sz="1400">
              <a:solidFill>
                <a:schemeClr val="dk1"/>
              </a:solidFill>
              <a:latin typeface="Calibri"/>
              <a:ea typeface="Calibri"/>
              <a:cs typeface="Calibri"/>
              <a:sym typeface="Calibri"/>
            </a:endParaRPr>
          </a:p>
        </p:txBody>
      </p:sp>
      <p:sp>
        <p:nvSpPr>
          <p:cNvPr id="160" name="Google Shape;160;p5"/>
          <p:cNvSpPr/>
          <p:nvPr/>
        </p:nvSpPr>
        <p:spPr>
          <a:xfrm>
            <a:off x="4937760" y="310896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Client putting shoes back on early</a:t>
            </a:r>
            <a:endParaRPr sz="1400">
              <a:solidFill>
                <a:schemeClr val="dk1"/>
              </a:solidFill>
              <a:latin typeface="Calibri"/>
              <a:ea typeface="Calibri"/>
              <a:cs typeface="Calibri"/>
              <a:sym typeface="Calibri"/>
            </a:endParaRPr>
          </a:p>
        </p:txBody>
      </p:sp>
      <p:sp>
        <p:nvSpPr>
          <p:cNvPr id="161" name="Google Shape;161;p5"/>
          <p:cNvSpPr/>
          <p:nvPr/>
        </p:nvSpPr>
        <p:spPr>
          <a:xfrm>
            <a:off x="4937760" y="356616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One-word answers or disengagement</a:t>
            </a:r>
            <a:endParaRPr sz="1400">
              <a:solidFill>
                <a:schemeClr val="dk1"/>
              </a:solidFill>
              <a:latin typeface="Calibri"/>
              <a:ea typeface="Calibri"/>
              <a:cs typeface="Calibri"/>
              <a:sym typeface="Calibri"/>
            </a:endParaRPr>
          </a:p>
        </p:txBody>
      </p:sp>
      <p:sp>
        <p:nvSpPr>
          <p:cNvPr id="162" name="Google Shape;162;p5"/>
          <p:cNvSpPr/>
          <p:nvPr/>
        </p:nvSpPr>
        <p:spPr>
          <a:xfrm>
            <a:off x="4937760" y="402336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Specialist oversharing personal stories</a:t>
            </a:r>
            <a:endParaRPr sz="1400">
              <a:solidFill>
                <a:schemeClr val="dk1"/>
              </a:solidFill>
              <a:latin typeface="Calibri"/>
              <a:ea typeface="Calibri"/>
              <a:cs typeface="Calibri"/>
              <a:sym typeface="Calibri"/>
            </a:endParaRPr>
          </a:p>
        </p:txBody>
      </p:sp>
      <p:pic>
        <p:nvPicPr>
          <p:cNvPr id="163" name="Google Shape;163;p5" title="grok-image-6bee5419-570b-4123-8542-27b02a1104ea (1)-Picsart-BackgroundRemover (1).jpg"/>
          <p:cNvPicPr preferRelativeResize="0"/>
          <p:nvPr/>
        </p:nvPicPr>
        <p:blipFill>
          <a:blip r:embed="rId3">
            <a:alphaModFix/>
          </a:blip>
          <a:stretch>
            <a:fillRect/>
          </a:stretch>
        </p:blipFill>
        <p:spPr>
          <a:xfrm>
            <a:off x="-5" y="4583420"/>
            <a:ext cx="840107" cy="560075"/>
          </a:xfrm>
          <a:prstGeom prst="rect">
            <a:avLst/>
          </a:prstGeom>
          <a:noFill/>
          <a:ln>
            <a:noFill/>
          </a:ln>
        </p:spPr>
      </p:pic>
      <p:pic>
        <p:nvPicPr>
          <p:cNvPr id="164" name="Google Shape;164;p5" title="Picture1.png"/>
          <p:cNvPicPr preferRelativeResize="0"/>
          <p:nvPr/>
        </p:nvPicPr>
        <p:blipFill>
          <a:blip r:embed="rId4">
            <a:alphaModFix/>
          </a:blip>
          <a:stretch>
            <a:fillRect/>
          </a:stretch>
        </p:blipFill>
        <p:spPr>
          <a:xfrm>
            <a:off x="8595350" y="4587675"/>
            <a:ext cx="502400" cy="502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6"/>
          <p:cNvSpPr/>
          <p:nvPr/>
        </p:nvSpPr>
        <p:spPr>
          <a:xfrm>
            <a:off x="0" y="0"/>
            <a:ext cx="9144000" cy="82296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457200" y="22860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R — Respond: They Elevate, Never Take Over</a:t>
            </a:r>
            <a:endParaRPr sz="2400">
              <a:solidFill>
                <a:schemeClr val="dk1"/>
              </a:solidFill>
              <a:latin typeface="Calibri"/>
              <a:ea typeface="Calibri"/>
              <a:cs typeface="Calibri"/>
              <a:sym typeface="Calibri"/>
            </a:endParaRPr>
          </a:p>
        </p:txBody>
      </p:sp>
      <p:sp>
        <p:nvSpPr>
          <p:cNvPr id="172" name="Google Shape;172;p6"/>
          <p:cNvSpPr/>
          <p:nvPr/>
        </p:nvSpPr>
        <p:spPr>
          <a:xfrm>
            <a:off x="457200" y="105156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Arial"/>
              <a:buNone/>
            </a:pPr>
            <a:r>
              <a:rPr lang="en-US" sz="1500">
                <a:solidFill>
                  <a:srgbClr val="1E293B"/>
                </a:solidFill>
                <a:latin typeface="Arial"/>
                <a:ea typeface="Arial"/>
                <a:cs typeface="Arial"/>
                <a:sym typeface="Arial"/>
              </a:rPr>
              <a:t>When they step in, it is always through AAH — and the final move is always handing the Client back to you.</a:t>
            </a:r>
            <a:endParaRPr sz="1500">
              <a:solidFill>
                <a:schemeClr val="dk1"/>
              </a:solidFill>
              <a:latin typeface="Calibri"/>
              <a:ea typeface="Calibri"/>
              <a:cs typeface="Calibri"/>
              <a:sym typeface="Calibri"/>
            </a:endParaRPr>
          </a:p>
        </p:txBody>
      </p:sp>
      <p:sp>
        <p:nvSpPr>
          <p:cNvPr id="173" name="Google Shape;173;p6"/>
          <p:cNvSpPr/>
          <p:nvPr/>
        </p:nvSpPr>
        <p:spPr>
          <a:xfrm>
            <a:off x="320040" y="1600200"/>
            <a:ext cx="2788920" cy="3108960"/>
          </a:xfrm>
          <a:prstGeom prst="roundRect">
            <a:avLst>
              <a:gd fmla="val 3279"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1325880" y="1783080"/>
            <a:ext cx="640080" cy="6400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1325880" y="178308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A</a:t>
            </a:r>
            <a:endParaRPr sz="2400">
              <a:solidFill>
                <a:schemeClr val="dk1"/>
              </a:solidFill>
              <a:latin typeface="Calibri"/>
              <a:ea typeface="Calibri"/>
              <a:cs typeface="Calibri"/>
              <a:sym typeface="Calibri"/>
            </a:endParaRPr>
          </a:p>
        </p:txBody>
      </p:sp>
      <p:sp>
        <p:nvSpPr>
          <p:cNvPr id="176" name="Google Shape;176;p6"/>
          <p:cNvSpPr/>
          <p:nvPr/>
        </p:nvSpPr>
        <p:spPr>
          <a:xfrm>
            <a:off x="457200" y="2560320"/>
            <a:ext cx="2514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Acknowledge</a:t>
            </a:r>
            <a:endParaRPr sz="1600">
              <a:solidFill>
                <a:schemeClr val="dk1"/>
              </a:solidFill>
              <a:latin typeface="Calibri"/>
              <a:ea typeface="Calibri"/>
              <a:cs typeface="Calibri"/>
              <a:sym typeface="Calibri"/>
            </a:endParaRPr>
          </a:p>
        </p:txBody>
      </p:sp>
      <p:sp>
        <p:nvSpPr>
          <p:cNvPr id="177" name="Google Shape;177;p6"/>
          <p:cNvSpPr/>
          <p:nvPr/>
        </p:nvSpPr>
        <p:spPr>
          <a:xfrm>
            <a:off x="502920" y="2971800"/>
            <a:ext cx="24231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66E"/>
              </a:buClr>
              <a:buSzPts val="1300"/>
              <a:buFont typeface="Arial"/>
              <a:buNone/>
            </a:pPr>
            <a:r>
              <a:rPr i="1" lang="en-US" sz="1300">
                <a:solidFill>
                  <a:srgbClr val="0F766E"/>
                </a:solidFill>
                <a:latin typeface="Arial"/>
                <a:ea typeface="Arial"/>
                <a:cs typeface="Arial"/>
                <a:sym typeface="Arial"/>
              </a:rPr>
              <a:t>"I want to add to what [Your Name] is showing you."</a:t>
            </a:r>
            <a:endParaRPr sz="1300">
              <a:solidFill>
                <a:schemeClr val="dk1"/>
              </a:solidFill>
              <a:latin typeface="Calibri"/>
              <a:ea typeface="Calibri"/>
              <a:cs typeface="Calibri"/>
              <a:sym typeface="Calibri"/>
            </a:endParaRPr>
          </a:p>
        </p:txBody>
      </p:sp>
      <p:sp>
        <p:nvSpPr>
          <p:cNvPr id="178" name="Google Shape;178;p6"/>
          <p:cNvSpPr/>
          <p:nvPr/>
        </p:nvSpPr>
        <p:spPr>
          <a:xfrm>
            <a:off x="502920" y="3886200"/>
            <a:ext cx="24231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Arial"/>
              <a:buNone/>
            </a:pPr>
            <a:r>
              <a:rPr lang="en-US" sz="1200">
                <a:solidFill>
                  <a:srgbClr val="1E293B"/>
                </a:solidFill>
                <a:latin typeface="Arial"/>
                <a:ea typeface="Arial"/>
                <a:cs typeface="Arial"/>
                <a:sym typeface="Arial"/>
              </a:rPr>
              <a:t>Protects your credibility. The Client sees teamwork, not a rescue.</a:t>
            </a:r>
            <a:endParaRPr sz="1200">
              <a:solidFill>
                <a:schemeClr val="dk1"/>
              </a:solidFill>
              <a:latin typeface="Calibri"/>
              <a:ea typeface="Calibri"/>
              <a:cs typeface="Calibri"/>
              <a:sym typeface="Calibri"/>
            </a:endParaRPr>
          </a:p>
        </p:txBody>
      </p:sp>
      <p:sp>
        <p:nvSpPr>
          <p:cNvPr id="179" name="Google Shape;179;p6"/>
          <p:cNvSpPr/>
          <p:nvPr/>
        </p:nvSpPr>
        <p:spPr>
          <a:xfrm>
            <a:off x="3246120" y="1600200"/>
            <a:ext cx="2788920" cy="3108960"/>
          </a:xfrm>
          <a:prstGeom prst="roundRect">
            <a:avLst>
              <a:gd fmla="val 3279"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4251960" y="1783080"/>
            <a:ext cx="640080" cy="6400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4251960" y="178308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A</a:t>
            </a:r>
            <a:endParaRPr sz="2400">
              <a:solidFill>
                <a:schemeClr val="dk1"/>
              </a:solidFill>
              <a:latin typeface="Calibri"/>
              <a:ea typeface="Calibri"/>
              <a:cs typeface="Calibri"/>
              <a:sym typeface="Calibri"/>
            </a:endParaRPr>
          </a:p>
        </p:txBody>
      </p:sp>
      <p:sp>
        <p:nvSpPr>
          <p:cNvPr id="182" name="Google Shape;182;p6"/>
          <p:cNvSpPr/>
          <p:nvPr/>
        </p:nvSpPr>
        <p:spPr>
          <a:xfrm>
            <a:off x="3383280" y="2560320"/>
            <a:ext cx="2514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Add Value</a:t>
            </a:r>
            <a:endParaRPr sz="1600">
              <a:solidFill>
                <a:schemeClr val="dk1"/>
              </a:solidFill>
              <a:latin typeface="Calibri"/>
              <a:ea typeface="Calibri"/>
              <a:cs typeface="Calibri"/>
              <a:sym typeface="Calibri"/>
            </a:endParaRPr>
          </a:p>
        </p:txBody>
      </p:sp>
      <p:sp>
        <p:nvSpPr>
          <p:cNvPr id="183" name="Google Shape;183;p6"/>
          <p:cNvSpPr/>
          <p:nvPr/>
        </p:nvSpPr>
        <p:spPr>
          <a:xfrm>
            <a:off x="3429000" y="2971800"/>
            <a:ext cx="24231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66E"/>
              </a:buClr>
              <a:buSzPts val="1300"/>
              <a:buFont typeface="Arial"/>
              <a:buNone/>
            </a:pPr>
            <a:r>
              <a:rPr i="1" lang="en-US" sz="1300">
                <a:solidFill>
                  <a:srgbClr val="0F766E"/>
                </a:solidFill>
                <a:latin typeface="Arial"/>
                <a:ea typeface="Arial"/>
                <a:cs typeface="Arial"/>
                <a:sym typeface="Arial"/>
              </a:rPr>
              <a:t>"I can see you are walking straighter, with no limp."</a:t>
            </a:r>
            <a:endParaRPr sz="1300">
              <a:solidFill>
                <a:schemeClr val="dk1"/>
              </a:solidFill>
              <a:latin typeface="Calibri"/>
              <a:ea typeface="Calibri"/>
              <a:cs typeface="Calibri"/>
              <a:sym typeface="Calibri"/>
            </a:endParaRPr>
          </a:p>
        </p:txBody>
      </p:sp>
      <p:sp>
        <p:nvSpPr>
          <p:cNvPr id="184" name="Google Shape;184;p6"/>
          <p:cNvSpPr/>
          <p:nvPr/>
        </p:nvSpPr>
        <p:spPr>
          <a:xfrm>
            <a:off x="3429000" y="3886200"/>
            <a:ext cx="24231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Arial"/>
              <a:buNone/>
            </a:pPr>
            <a:r>
              <a:rPr lang="en-US" sz="1200">
                <a:solidFill>
                  <a:srgbClr val="1E293B"/>
                </a:solidFill>
                <a:latin typeface="Arial"/>
                <a:ea typeface="Arial"/>
                <a:cs typeface="Arial"/>
                <a:sym typeface="Arial"/>
              </a:rPr>
              <a:t>They name the change the Client can feel right now.</a:t>
            </a:r>
            <a:endParaRPr sz="1200">
              <a:solidFill>
                <a:schemeClr val="dk1"/>
              </a:solidFill>
              <a:latin typeface="Calibri"/>
              <a:ea typeface="Calibri"/>
              <a:cs typeface="Calibri"/>
              <a:sym typeface="Calibri"/>
            </a:endParaRPr>
          </a:p>
        </p:txBody>
      </p:sp>
      <p:sp>
        <p:nvSpPr>
          <p:cNvPr id="185" name="Google Shape;185;p6"/>
          <p:cNvSpPr/>
          <p:nvPr/>
        </p:nvSpPr>
        <p:spPr>
          <a:xfrm>
            <a:off x="6172200" y="1600200"/>
            <a:ext cx="2788920" cy="3108960"/>
          </a:xfrm>
          <a:prstGeom prst="roundRect">
            <a:avLst>
              <a:gd fmla="val 3279"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7178040" y="1783080"/>
            <a:ext cx="640080" cy="6400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a:off x="7178040" y="178308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H</a:t>
            </a:r>
            <a:endParaRPr sz="2400">
              <a:solidFill>
                <a:schemeClr val="dk1"/>
              </a:solidFill>
              <a:latin typeface="Calibri"/>
              <a:ea typeface="Calibri"/>
              <a:cs typeface="Calibri"/>
              <a:sym typeface="Calibri"/>
            </a:endParaRPr>
          </a:p>
        </p:txBody>
      </p:sp>
      <p:sp>
        <p:nvSpPr>
          <p:cNvPr id="188" name="Google Shape;188;p6"/>
          <p:cNvSpPr/>
          <p:nvPr/>
        </p:nvSpPr>
        <p:spPr>
          <a:xfrm>
            <a:off x="6309360" y="2560320"/>
            <a:ext cx="2514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Hand It Back</a:t>
            </a:r>
            <a:endParaRPr sz="1600">
              <a:solidFill>
                <a:schemeClr val="dk1"/>
              </a:solidFill>
              <a:latin typeface="Calibri"/>
              <a:ea typeface="Calibri"/>
              <a:cs typeface="Calibri"/>
              <a:sym typeface="Calibri"/>
            </a:endParaRPr>
          </a:p>
        </p:txBody>
      </p:sp>
      <p:sp>
        <p:nvSpPr>
          <p:cNvPr id="189" name="Google Shape;189;p6"/>
          <p:cNvSpPr/>
          <p:nvPr/>
        </p:nvSpPr>
        <p:spPr>
          <a:xfrm>
            <a:off x="6355080" y="2971800"/>
            <a:ext cx="24231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66E"/>
              </a:buClr>
              <a:buSzPts val="1300"/>
              <a:buFont typeface="Arial"/>
              <a:buNone/>
            </a:pPr>
            <a:r>
              <a:rPr i="1" lang="en-US" sz="1300">
                <a:solidFill>
                  <a:srgbClr val="0F766E"/>
                </a:solidFill>
                <a:latin typeface="Arial"/>
                <a:ea typeface="Arial"/>
                <a:cs typeface="Arial"/>
                <a:sym typeface="Arial"/>
              </a:rPr>
              <a:t>"[Your Name] will walk you through the next step."</a:t>
            </a:r>
            <a:endParaRPr sz="1300">
              <a:solidFill>
                <a:schemeClr val="dk1"/>
              </a:solidFill>
              <a:latin typeface="Calibri"/>
              <a:ea typeface="Calibri"/>
              <a:cs typeface="Calibri"/>
              <a:sym typeface="Calibri"/>
            </a:endParaRPr>
          </a:p>
        </p:txBody>
      </p:sp>
      <p:sp>
        <p:nvSpPr>
          <p:cNvPr id="190" name="Google Shape;190;p6"/>
          <p:cNvSpPr/>
          <p:nvPr/>
        </p:nvSpPr>
        <p:spPr>
          <a:xfrm>
            <a:off x="6355080" y="3886200"/>
            <a:ext cx="24231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Arial"/>
              <a:buNone/>
            </a:pPr>
            <a:r>
              <a:rPr lang="en-US" sz="1200">
                <a:solidFill>
                  <a:srgbClr val="1E293B"/>
                </a:solidFill>
                <a:latin typeface="Arial"/>
                <a:ea typeface="Arial"/>
                <a:cs typeface="Arial"/>
                <a:sym typeface="Arial"/>
              </a:rPr>
              <a:t>Control returns to you on purpose. You finish the sale and keep the relationship.</a:t>
            </a:r>
            <a:endParaRPr sz="1200">
              <a:solidFill>
                <a:schemeClr val="dk1"/>
              </a:solidFill>
              <a:latin typeface="Calibri"/>
              <a:ea typeface="Calibri"/>
              <a:cs typeface="Calibri"/>
              <a:sym typeface="Calibri"/>
            </a:endParaRPr>
          </a:p>
        </p:txBody>
      </p:sp>
      <p:pic>
        <p:nvPicPr>
          <p:cNvPr id="191" name="Google Shape;191;p6" title="Picture1.png"/>
          <p:cNvPicPr preferRelativeResize="0"/>
          <p:nvPr/>
        </p:nvPicPr>
        <p:blipFill>
          <a:blip r:embed="rId3">
            <a:alphaModFix/>
          </a:blip>
          <a:stretch>
            <a:fillRect/>
          </a:stretch>
        </p:blipFill>
        <p:spPr>
          <a:xfrm>
            <a:off x="8595350" y="4587675"/>
            <a:ext cx="502400" cy="502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7"/>
          <p:cNvSpPr/>
          <p:nvPr/>
        </p:nvSpPr>
        <p:spPr>
          <a:xfrm>
            <a:off x="0" y="0"/>
            <a:ext cx="9144000" cy="82296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457200" y="22860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E — Elevate: Coaching That Builds You</a:t>
            </a:r>
            <a:endParaRPr sz="2400">
              <a:solidFill>
                <a:schemeClr val="dk1"/>
              </a:solidFill>
              <a:latin typeface="Calibri"/>
              <a:ea typeface="Calibri"/>
              <a:cs typeface="Calibri"/>
              <a:sym typeface="Calibri"/>
            </a:endParaRPr>
          </a:p>
        </p:txBody>
      </p:sp>
      <p:sp>
        <p:nvSpPr>
          <p:cNvPr id="199" name="Google Shape;199;p7"/>
          <p:cNvSpPr/>
          <p:nvPr/>
        </p:nvSpPr>
        <p:spPr>
          <a:xfrm>
            <a:off x="365760" y="1143000"/>
            <a:ext cx="8412480" cy="1097280"/>
          </a:xfrm>
          <a:prstGeom prst="roundRect">
            <a:avLst>
              <a:gd fmla="val 6667" name="adj"/>
            </a:avLst>
          </a:prstGeom>
          <a:solidFill>
            <a:srgbClr val="F0FD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365760" y="1143000"/>
            <a:ext cx="109728" cy="1097280"/>
          </a:xfrm>
          <a:prstGeom prst="rect">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685800" y="132588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In the Moment</a:t>
            </a:r>
            <a:endParaRPr sz="1600">
              <a:solidFill>
                <a:schemeClr val="dk1"/>
              </a:solidFill>
              <a:latin typeface="Calibri"/>
              <a:ea typeface="Calibri"/>
              <a:cs typeface="Calibri"/>
              <a:sym typeface="Calibri"/>
            </a:endParaRPr>
          </a:p>
        </p:txBody>
      </p:sp>
      <p:sp>
        <p:nvSpPr>
          <p:cNvPr id="202" name="Google Shape;202;p7"/>
          <p:cNvSpPr/>
          <p:nvPr/>
        </p:nvSpPr>
        <p:spPr>
          <a:xfrm>
            <a:off x="685800" y="164592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When they model a clean close or amplify a WOW, you are watching live coaching with zero risk to the sale. Learn by seeing it done right.</a:t>
            </a:r>
            <a:endParaRPr sz="1400">
              <a:solidFill>
                <a:schemeClr val="dk1"/>
              </a:solidFill>
              <a:latin typeface="Calibri"/>
              <a:ea typeface="Calibri"/>
              <a:cs typeface="Calibri"/>
              <a:sym typeface="Calibri"/>
            </a:endParaRPr>
          </a:p>
        </p:txBody>
      </p:sp>
      <p:sp>
        <p:nvSpPr>
          <p:cNvPr id="203" name="Google Shape;203;p7"/>
          <p:cNvSpPr/>
          <p:nvPr/>
        </p:nvSpPr>
        <p:spPr>
          <a:xfrm>
            <a:off x="365760" y="2377440"/>
            <a:ext cx="8412480" cy="1097280"/>
          </a:xfrm>
          <a:prstGeom prst="roundRect">
            <a:avLst>
              <a:gd fmla="val 6667"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365760" y="2377440"/>
            <a:ext cx="109728" cy="1097280"/>
          </a:xfrm>
          <a:prstGeom prst="rect">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a:off x="685800" y="25603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In the Backroom</a:t>
            </a:r>
            <a:endParaRPr sz="1600">
              <a:solidFill>
                <a:schemeClr val="dk1"/>
              </a:solidFill>
              <a:latin typeface="Calibri"/>
              <a:ea typeface="Calibri"/>
              <a:cs typeface="Calibri"/>
              <a:sym typeface="Calibri"/>
            </a:endParaRPr>
          </a:p>
        </p:txBody>
      </p:sp>
      <p:sp>
        <p:nvSpPr>
          <p:cNvPr id="206" name="Google Shape;206;p7"/>
          <p:cNvSpPr/>
          <p:nvPr/>
        </p:nvSpPr>
        <p:spPr>
          <a:xfrm>
            <a:off x="685800" y="288036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Right after a demo, while it is still fresh. They lead with what went well, then name one opportunity — not five. Short, specific, useful.</a:t>
            </a:r>
            <a:endParaRPr sz="1400">
              <a:solidFill>
                <a:schemeClr val="dk1"/>
              </a:solidFill>
              <a:latin typeface="Calibri"/>
              <a:ea typeface="Calibri"/>
              <a:cs typeface="Calibri"/>
              <a:sym typeface="Calibri"/>
            </a:endParaRPr>
          </a:p>
        </p:txBody>
      </p:sp>
      <p:sp>
        <p:nvSpPr>
          <p:cNvPr id="207" name="Google Shape;207;p7"/>
          <p:cNvSpPr/>
          <p:nvPr/>
        </p:nvSpPr>
        <p:spPr>
          <a:xfrm>
            <a:off x="365760" y="3611880"/>
            <a:ext cx="8412480" cy="1097280"/>
          </a:xfrm>
          <a:prstGeom prst="roundRect">
            <a:avLst>
              <a:gd fmla="val 6667" name="adj"/>
            </a:avLst>
          </a:prstGeom>
          <a:solidFill>
            <a:srgbClr val="F0FD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a:off x="365760" y="3611880"/>
            <a:ext cx="109728" cy="1097280"/>
          </a:xfrm>
          <a:prstGeom prst="rect">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685800" y="379476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Arial"/>
              <a:buNone/>
            </a:pPr>
            <a:r>
              <a:rPr b="1" lang="en-US" sz="1600">
                <a:solidFill>
                  <a:srgbClr val="0F172A"/>
                </a:solidFill>
                <a:latin typeface="Arial"/>
                <a:ea typeface="Arial"/>
                <a:cs typeface="Arial"/>
                <a:sym typeface="Arial"/>
              </a:rPr>
              <a:t>In the Weekly 1:1</a:t>
            </a:r>
            <a:endParaRPr sz="1600">
              <a:solidFill>
                <a:schemeClr val="dk1"/>
              </a:solidFill>
              <a:latin typeface="Calibri"/>
              <a:ea typeface="Calibri"/>
              <a:cs typeface="Calibri"/>
              <a:sym typeface="Calibri"/>
            </a:endParaRPr>
          </a:p>
        </p:txBody>
      </p:sp>
      <p:sp>
        <p:nvSpPr>
          <p:cNvPr id="210" name="Google Shape;210;p7"/>
          <p:cNvSpPr/>
          <p:nvPr/>
        </p:nvSpPr>
        <p:spPr>
          <a:xfrm>
            <a:off x="685800" y="411480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Patterns across many demos become the coaching theme. A single short walk is a moment. Rushing every walk is a development conversation.</a:t>
            </a:r>
            <a:endParaRPr sz="1400">
              <a:solidFill>
                <a:schemeClr val="dk1"/>
              </a:solidFill>
              <a:latin typeface="Calibri"/>
              <a:ea typeface="Calibri"/>
              <a:cs typeface="Calibri"/>
              <a:sym typeface="Calibri"/>
            </a:endParaRPr>
          </a:p>
        </p:txBody>
      </p:sp>
      <p:pic>
        <p:nvPicPr>
          <p:cNvPr id="211" name="Google Shape;211;p7" title="grok-image-6bee5419-570b-4123-8542-27b02a1104ea (1)-Picsart-BackgroundRemover (1).jpg"/>
          <p:cNvPicPr preferRelativeResize="0"/>
          <p:nvPr/>
        </p:nvPicPr>
        <p:blipFill>
          <a:blip r:embed="rId3">
            <a:alphaModFix/>
          </a:blip>
          <a:stretch>
            <a:fillRect/>
          </a:stretch>
        </p:blipFill>
        <p:spPr>
          <a:xfrm>
            <a:off x="-5" y="4583420"/>
            <a:ext cx="840107" cy="560075"/>
          </a:xfrm>
          <a:prstGeom prst="rect">
            <a:avLst/>
          </a:prstGeom>
          <a:noFill/>
          <a:ln>
            <a:noFill/>
          </a:ln>
        </p:spPr>
      </p:pic>
      <p:pic>
        <p:nvPicPr>
          <p:cNvPr id="212" name="Google Shape;212;p7" title="Picture1.png"/>
          <p:cNvPicPr preferRelativeResize="0"/>
          <p:nvPr/>
        </p:nvPicPr>
        <p:blipFill>
          <a:blip r:embed="rId4">
            <a:alphaModFix/>
          </a:blip>
          <a:stretch>
            <a:fillRect/>
          </a:stretch>
        </p:blipFill>
        <p:spPr>
          <a:xfrm>
            <a:off x="8595350" y="4587675"/>
            <a:ext cx="502400" cy="502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8"/>
          <p:cNvSpPr/>
          <p:nvPr/>
        </p:nvSpPr>
        <p:spPr>
          <a:xfrm>
            <a:off x="0" y="0"/>
            <a:ext cx="9144000" cy="82296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457200" y="22860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What You Can Expect Every Shift</a:t>
            </a:r>
            <a:endParaRPr sz="2400">
              <a:solidFill>
                <a:schemeClr val="dk1"/>
              </a:solidFill>
              <a:latin typeface="Calibri"/>
              <a:ea typeface="Calibri"/>
              <a:cs typeface="Calibri"/>
              <a:sym typeface="Calibri"/>
            </a:endParaRPr>
          </a:p>
        </p:txBody>
      </p:sp>
      <p:sp>
        <p:nvSpPr>
          <p:cNvPr id="220" name="Google Shape;220;p8"/>
          <p:cNvSpPr/>
          <p:nvPr/>
        </p:nvSpPr>
        <p:spPr>
          <a:xfrm>
            <a:off x="320040" y="1051560"/>
            <a:ext cx="502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800"/>
              <a:buFont typeface="Arial"/>
              <a:buNone/>
            </a:pPr>
            <a:r>
              <a:rPr b="1" lang="en-US" sz="1800">
                <a:solidFill>
                  <a:srgbClr val="0F766E"/>
                </a:solidFill>
                <a:latin typeface="Arial"/>
                <a:ea typeface="Arial"/>
                <a:cs typeface="Arial"/>
                <a:sym typeface="Arial"/>
              </a:rPr>
              <a:t>01</a:t>
            </a:r>
            <a:endParaRPr sz="1800">
              <a:solidFill>
                <a:schemeClr val="dk1"/>
              </a:solidFill>
              <a:latin typeface="Calibri"/>
              <a:ea typeface="Calibri"/>
              <a:cs typeface="Calibri"/>
              <a:sym typeface="Calibri"/>
            </a:endParaRPr>
          </a:p>
        </p:txBody>
      </p:sp>
      <p:sp>
        <p:nvSpPr>
          <p:cNvPr id="221" name="Google Shape;221;p8"/>
          <p:cNvSpPr/>
          <p:nvPr/>
        </p:nvSpPr>
        <p:spPr>
          <a:xfrm>
            <a:off x="868680" y="105156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A named Floor Leader</a:t>
            </a:r>
            <a:endParaRPr sz="1500">
              <a:solidFill>
                <a:schemeClr val="dk1"/>
              </a:solidFill>
              <a:latin typeface="Calibri"/>
              <a:ea typeface="Calibri"/>
              <a:cs typeface="Calibri"/>
              <a:sym typeface="Calibri"/>
            </a:endParaRPr>
          </a:p>
        </p:txBody>
      </p:sp>
      <p:sp>
        <p:nvSpPr>
          <p:cNvPr id="222" name="Google Shape;222;p8"/>
          <p:cNvSpPr/>
          <p:nvPr/>
        </p:nvSpPr>
        <p:spPr>
          <a:xfrm>
            <a:off x="868680" y="1417320"/>
            <a:ext cx="3657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Assigned out loud in the opening huddle and written on the board. You always know who owns the floor.</a:t>
            </a:r>
            <a:endParaRPr sz="1300">
              <a:solidFill>
                <a:schemeClr val="dk1"/>
              </a:solidFill>
              <a:latin typeface="Calibri"/>
              <a:ea typeface="Calibri"/>
              <a:cs typeface="Calibri"/>
              <a:sym typeface="Calibri"/>
            </a:endParaRPr>
          </a:p>
        </p:txBody>
      </p:sp>
      <p:sp>
        <p:nvSpPr>
          <p:cNvPr id="223" name="Google Shape;223;p8"/>
          <p:cNvSpPr/>
          <p:nvPr/>
        </p:nvSpPr>
        <p:spPr>
          <a:xfrm>
            <a:off x="4754880" y="1051560"/>
            <a:ext cx="502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800"/>
              <a:buFont typeface="Arial"/>
              <a:buNone/>
            </a:pPr>
            <a:r>
              <a:rPr b="1" lang="en-US" sz="1800">
                <a:solidFill>
                  <a:srgbClr val="0F766E"/>
                </a:solidFill>
                <a:latin typeface="Arial"/>
                <a:ea typeface="Arial"/>
                <a:cs typeface="Arial"/>
                <a:sym typeface="Arial"/>
              </a:rPr>
              <a:t>02</a:t>
            </a:r>
            <a:endParaRPr sz="1800">
              <a:solidFill>
                <a:schemeClr val="dk1"/>
              </a:solidFill>
              <a:latin typeface="Calibri"/>
              <a:ea typeface="Calibri"/>
              <a:cs typeface="Calibri"/>
              <a:sym typeface="Calibri"/>
            </a:endParaRPr>
          </a:p>
        </p:txBody>
      </p:sp>
      <p:sp>
        <p:nvSpPr>
          <p:cNvPr id="224" name="Google Shape;224;p8"/>
          <p:cNvSpPr/>
          <p:nvPr/>
        </p:nvSpPr>
        <p:spPr>
          <a:xfrm>
            <a:off x="5303520" y="105156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Double greetings for every Client</a:t>
            </a:r>
            <a:endParaRPr sz="1500">
              <a:solidFill>
                <a:schemeClr val="dk1"/>
              </a:solidFill>
              <a:latin typeface="Calibri"/>
              <a:ea typeface="Calibri"/>
              <a:cs typeface="Calibri"/>
              <a:sym typeface="Calibri"/>
            </a:endParaRPr>
          </a:p>
        </p:txBody>
      </p:sp>
      <p:sp>
        <p:nvSpPr>
          <p:cNvPr id="225" name="Google Shape;225;p8"/>
          <p:cNvSpPr/>
          <p:nvPr/>
        </p:nvSpPr>
        <p:spPr>
          <a:xfrm>
            <a:off x="5303520" y="1417320"/>
            <a:ext cx="3657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The Floor Leader greets Clients at least twice so they feel the whole store is glad they came.</a:t>
            </a:r>
            <a:endParaRPr sz="1300">
              <a:solidFill>
                <a:schemeClr val="dk1"/>
              </a:solidFill>
              <a:latin typeface="Calibri"/>
              <a:ea typeface="Calibri"/>
              <a:cs typeface="Calibri"/>
              <a:sym typeface="Calibri"/>
            </a:endParaRPr>
          </a:p>
        </p:txBody>
      </p:sp>
      <p:sp>
        <p:nvSpPr>
          <p:cNvPr id="226" name="Google Shape;226;p8"/>
          <p:cNvSpPr/>
          <p:nvPr/>
        </p:nvSpPr>
        <p:spPr>
          <a:xfrm>
            <a:off x="320040" y="2331720"/>
            <a:ext cx="502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800"/>
              <a:buFont typeface="Arial"/>
              <a:buNone/>
            </a:pPr>
            <a:r>
              <a:rPr b="1" lang="en-US" sz="1800">
                <a:solidFill>
                  <a:srgbClr val="0F766E"/>
                </a:solidFill>
                <a:latin typeface="Arial"/>
                <a:ea typeface="Arial"/>
                <a:cs typeface="Arial"/>
                <a:sym typeface="Arial"/>
              </a:rPr>
              <a:t>03</a:t>
            </a:r>
            <a:endParaRPr sz="1800">
              <a:solidFill>
                <a:schemeClr val="dk1"/>
              </a:solidFill>
              <a:latin typeface="Calibri"/>
              <a:ea typeface="Calibri"/>
              <a:cs typeface="Calibri"/>
              <a:sym typeface="Calibri"/>
            </a:endParaRPr>
          </a:p>
        </p:txBody>
      </p:sp>
      <p:sp>
        <p:nvSpPr>
          <p:cNvPr id="227" name="Google Shape;227;p8"/>
          <p:cNvSpPr/>
          <p:nvPr/>
        </p:nvSpPr>
        <p:spPr>
          <a:xfrm>
            <a:off x="868680" y="233172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Active observation of every demo</a:t>
            </a:r>
            <a:endParaRPr sz="1500">
              <a:solidFill>
                <a:schemeClr val="dk1"/>
              </a:solidFill>
              <a:latin typeface="Calibri"/>
              <a:ea typeface="Calibri"/>
              <a:cs typeface="Calibri"/>
              <a:sym typeface="Calibri"/>
            </a:endParaRPr>
          </a:p>
        </p:txBody>
      </p:sp>
      <p:sp>
        <p:nvSpPr>
          <p:cNvPr id="228" name="Google Shape;228;p8"/>
          <p:cNvSpPr/>
          <p:nvPr/>
        </p:nvSpPr>
        <p:spPr>
          <a:xfrm>
            <a:off x="868680" y="2697480"/>
            <a:ext cx="3657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They watch for green and red flags without stopping a working demo.</a:t>
            </a:r>
            <a:endParaRPr sz="1300">
              <a:solidFill>
                <a:schemeClr val="dk1"/>
              </a:solidFill>
              <a:latin typeface="Calibri"/>
              <a:ea typeface="Calibri"/>
              <a:cs typeface="Calibri"/>
              <a:sym typeface="Calibri"/>
            </a:endParaRPr>
          </a:p>
        </p:txBody>
      </p:sp>
      <p:sp>
        <p:nvSpPr>
          <p:cNvPr id="229" name="Google Shape;229;p8"/>
          <p:cNvSpPr/>
          <p:nvPr/>
        </p:nvSpPr>
        <p:spPr>
          <a:xfrm>
            <a:off x="4754880" y="2331720"/>
            <a:ext cx="502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800"/>
              <a:buFont typeface="Arial"/>
              <a:buNone/>
            </a:pPr>
            <a:r>
              <a:rPr b="1" lang="en-US" sz="1800">
                <a:solidFill>
                  <a:srgbClr val="0F766E"/>
                </a:solidFill>
                <a:latin typeface="Arial"/>
                <a:ea typeface="Arial"/>
                <a:cs typeface="Arial"/>
                <a:sym typeface="Arial"/>
              </a:rPr>
              <a:t>04</a:t>
            </a:r>
            <a:endParaRPr sz="1800">
              <a:solidFill>
                <a:schemeClr val="dk1"/>
              </a:solidFill>
              <a:latin typeface="Calibri"/>
              <a:ea typeface="Calibri"/>
              <a:cs typeface="Calibri"/>
              <a:sym typeface="Calibri"/>
            </a:endParaRPr>
          </a:p>
        </p:txBody>
      </p:sp>
      <p:sp>
        <p:nvSpPr>
          <p:cNvPr id="230" name="Google Shape;230;p8"/>
          <p:cNvSpPr/>
          <p:nvPr/>
        </p:nvSpPr>
        <p:spPr>
          <a:xfrm>
            <a:off x="5303520" y="233172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Clean step-ins with AAH</a:t>
            </a:r>
            <a:endParaRPr sz="1500">
              <a:solidFill>
                <a:schemeClr val="dk1"/>
              </a:solidFill>
              <a:latin typeface="Calibri"/>
              <a:ea typeface="Calibri"/>
              <a:cs typeface="Calibri"/>
              <a:sym typeface="Calibri"/>
            </a:endParaRPr>
          </a:p>
        </p:txBody>
      </p:sp>
      <p:sp>
        <p:nvSpPr>
          <p:cNvPr id="231" name="Google Shape;231;p8"/>
          <p:cNvSpPr/>
          <p:nvPr/>
        </p:nvSpPr>
        <p:spPr>
          <a:xfrm>
            <a:off x="5303520" y="2697480"/>
            <a:ext cx="3657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When they enter, they acknowledge you, add value, and hand it back. You keep ownership of the Client.</a:t>
            </a:r>
            <a:endParaRPr sz="1300">
              <a:solidFill>
                <a:schemeClr val="dk1"/>
              </a:solidFill>
              <a:latin typeface="Calibri"/>
              <a:ea typeface="Calibri"/>
              <a:cs typeface="Calibri"/>
              <a:sym typeface="Calibri"/>
            </a:endParaRPr>
          </a:p>
        </p:txBody>
      </p:sp>
      <p:sp>
        <p:nvSpPr>
          <p:cNvPr id="232" name="Google Shape;232;p8"/>
          <p:cNvSpPr/>
          <p:nvPr/>
        </p:nvSpPr>
        <p:spPr>
          <a:xfrm>
            <a:off x="320040" y="3611880"/>
            <a:ext cx="502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800"/>
              <a:buFont typeface="Arial"/>
              <a:buNone/>
            </a:pPr>
            <a:r>
              <a:rPr b="1" lang="en-US" sz="1800">
                <a:solidFill>
                  <a:srgbClr val="0F766E"/>
                </a:solidFill>
                <a:latin typeface="Arial"/>
                <a:ea typeface="Arial"/>
                <a:cs typeface="Arial"/>
                <a:sym typeface="Arial"/>
              </a:rPr>
              <a:t>05</a:t>
            </a:r>
            <a:endParaRPr sz="1800">
              <a:solidFill>
                <a:schemeClr val="dk1"/>
              </a:solidFill>
              <a:latin typeface="Calibri"/>
              <a:ea typeface="Calibri"/>
              <a:cs typeface="Calibri"/>
              <a:sym typeface="Calibri"/>
            </a:endParaRPr>
          </a:p>
        </p:txBody>
      </p:sp>
      <p:sp>
        <p:nvSpPr>
          <p:cNvPr id="233" name="Google Shape;233;p8"/>
          <p:cNvSpPr/>
          <p:nvPr/>
        </p:nvSpPr>
        <p:spPr>
          <a:xfrm>
            <a:off x="868680" y="36118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Backroom coaching on demand</a:t>
            </a:r>
            <a:endParaRPr sz="1500">
              <a:solidFill>
                <a:schemeClr val="dk1"/>
              </a:solidFill>
              <a:latin typeface="Calibri"/>
              <a:ea typeface="Calibri"/>
              <a:cs typeface="Calibri"/>
              <a:sym typeface="Calibri"/>
            </a:endParaRPr>
          </a:p>
        </p:txBody>
      </p:sp>
      <p:sp>
        <p:nvSpPr>
          <p:cNvPr id="234" name="Google Shape;234;p8"/>
          <p:cNvSpPr/>
          <p:nvPr/>
        </p:nvSpPr>
        <p:spPr>
          <a:xfrm>
            <a:off x="868680" y="3977640"/>
            <a:ext cx="3657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You can step into the backroom for quick plan help, energy reset, or product pull support.</a:t>
            </a:r>
            <a:endParaRPr sz="1300">
              <a:solidFill>
                <a:schemeClr val="dk1"/>
              </a:solidFill>
              <a:latin typeface="Calibri"/>
              <a:ea typeface="Calibri"/>
              <a:cs typeface="Calibri"/>
              <a:sym typeface="Calibri"/>
            </a:endParaRPr>
          </a:p>
        </p:txBody>
      </p:sp>
      <p:sp>
        <p:nvSpPr>
          <p:cNvPr id="235" name="Google Shape;235;p8"/>
          <p:cNvSpPr/>
          <p:nvPr/>
        </p:nvSpPr>
        <p:spPr>
          <a:xfrm>
            <a:off x="4754880" y="3611880"/>
            <a:ext cx="502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800"/>
              <a:buFont typeface="Arial"/>
              <a:buNone/>
            </a:pPr>
            <a:r>
              <a:rPr b="1" lang="en-US" sz="1800">
                <a:solidFill>
                  <a:srgbClr val="0F766E"/>
                </a:solidFill>
                <a:latin typeface="Arial"/>
                <a:ea typeface="Arial"/>
                <a:cs typeface="Arial"/>
                <a:sym typeface="Arial"/>
              </a:rPr>
              <a:t>06</a:t>
            </a:r>
            <a:endParaRPr sz="1800">
              <a:solidFill>
                <a:schemeClr val="dk1"/>
              </a:solidFill>
              <a:latin typeface="Calibri"/>
              <a:ea typeface="Calibri"/>
              <a:cs typeface="Calibri"/>
              <a:sym typeface="Calibri"/>
            </a:endParaRPr>
          </a:p>
        </p:txBody>
      </p:sp>
      <p:sp>
        <p:nvSpPr>
          <p:cNvPr id="236" name="Google Shape;236;p8"/>
          <p:cNvSpPr/>
          <p:nvPr/>
        </p:nvSpPr>
        <p:spPr>
          <a:xfrm>
            <a:off x="5303520" y="36118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Fresh debriefs after demos</a:t>
            </a:r>
            <a:endParaRPr sz="1500">
              <a:solidFill>
                <a:schemeClr val="dk1"/>
              </a:solidFill>
              <a:latin typeface="Calibri"/>
              <a:ea typeface="Calibri"/>
              <a:cs typeface="Calibri"/>
              <a:sym typeface="Calibri"/>
            </a:endParaRPr>
          </a:p>
        </p:txBody>
      </p:sp>
      <p:sp>
        <p:nvSpPr>
          <p:cNvPr id="237" name="Google Shape;237;p8"/>
          <p:cNvSpPr/>
          <p:nvPr/>
        </p:nvSpPr>
        <p:spPr>
          <a:xfrm>
            <a:off x="5303520" y="3977640"/>
            <a:ext cx="3657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Wins first, then one clear opportunity. Coaching while the moment is still warm.</a:t>
            </a:r>
            <a:endParaRPr sz="1300">
              <a:solidFill>
                <a:schemeClr val="dk1"/>
              </a:solidFill>
              <a:latin typeface="Calibri"/>
              <a:ea typeface="Calibri"/>
              <a:cs typeface="Calibri"/>
              <a:sym typeface="Calibri"/>
            </a:endParaRPr>
          </a:p>
        </p:txBody>
      </p:sp>
      <p:pic>
        <p:nvPicPr>
          <p:cNvPr id="238" name="Google Shape;238;p8" title="grok-image-6bee5419-570b-4123-8542-27b02a1104ea (1)-Picsart-BackgroundRemover (1).jpg"/>
          <p:cNvPicPr preferRelativeResize="0"/>
          <p:nvPr/>
        </p:nvPicPr>
        <p:blipFill>
          <a:blip r:embed="rId3">
            <a:alphaModFix/>
          </a:blip>
          <a:stretch>
            <a:fillRect/>
          </a:stretch>
        </p:blipFill>
        <p:spPr>
          <a:xfrm>
            <a:off x="-5" y="4583420"/>
            <a:ext cx="840107" cy="560075"/>
          </a:xfrm>
          <a:prstGeom prst="rect">
            <a:avLst/>
          </a:prstGeom>
          <a:noFill/>
          <a:ln>
            <a:noFill/>
          </a:ln>
        </p:spPr>
      </p:pic>
      <p:pic>
        <p:nvPicPr>
          <p:cNvPr id="239" name="Google Shape;239;p8" title="Picture1.png"/>
          <p:cNvPicPr preferRelativeResize="0"/>
          <p:nvPr/>
        </p:nvPicPr>
        <p:blipFill>
          <a:blip r:embed="rId4">
            <a:alphaModFix/>
          </a:blip>
          <a:stretch>
            <a:fillRect/>
          </a:stretch>
        </p:blipFill>
        <p:spPr>
          <a:xfrm>
            <a:off x="8595350" y="4587675"/>
            <a:ext cx="502400" cy="502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9"/>
          <p:cNvSpPr/>
          <p:nvPr/>
        </p:nvSpPr>
        <p:spPr>
          <a:xfrm>
            <a:off x="0" y="0"/>
            <a:ext cx="9144000" cy="82296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457200" y="22860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How to Use Your Floor Leader Well</a:t>
            </a:r>
            <a:endParaRPr sz="2400">
              <a:solidFill>
                <a:schemeClr val="dk1"/>
              </a:solidFill>
              <a:latin typeface="Calibri"/>
              <a:ea typeface="Calibri"/>
              <a:cs typeface="Calibri"/>
              <a:sym typeface="Calibri"/>
            </a:endParaRPr>
          </a:p>
        </p:txBody>
      </p:sp>
      <p:sp>
        <p:nvSpPr>
          <p:cNvPr id="247" name="Google Shape;247;p9"/>
          <p:cNvSpPr/>
          <p:nvPr/>
        </p:nvSpPr>
        <p:spPr>
          <a:xfrm>
            <a:off x="320040" y="1097280"/>
            <a:ext cx="2788920" cy="3657600"/>
          </a:xfrm>
          <a:prstGeom prst="roundRect">
            <a:avLst>
              <a:gd fmla="val 3279"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9"/>
          <p:cNvSpPr/>
          <p:nvPr/>
        </p:nvSpPr>
        <p:spPr>
          <a:xfrm>
            <a:off x="320040" y="1097280"/>
            <a:ext cx="2788920" cy="502920"/>
          </a:xfrm>
          <a:prstGeom prst="rect">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p:nvPr/>
        </p:nvSpPr>
        <p:spPr>
          <a:xfrm>
            <a:off x="411480" y="1188720"/>
            <a:ext cx="2606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Before You Go Back Out</a:t>
            </a:r>
            <a:endParaRPr sz="1400">
              <a:solidFill>
                <a:schemeClr val="dk1"/>
              </a:solidFill>
              <a:latin typeface="Calibri"/>
              <a:ea typeface="Calibri"/>
              <a:cs typeface="Calibri"/>
              <a:sym typeface="Calibri"/>
            </a:endParaRPr>
          </a:p>
        </p:txBody>
      </p:sp>
      <p:sp>
        <p:nvSpPr>
          <p:cNvPr id="250" name="Google Shape;250;p9"/>
          <p:cNvSpPr/>
          <p:nvPr/>
        </p:nvSpPr>
        <p:spPr>
          <a:xfrm>
            <a:off x="502920" y="1828800"/>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Share the Client type quickly</a:t>
            </a:r>
            <a:endParaRPr sz="1400">
              <a:solidFill>
                <a:schemeClr val="dk1"/>
              </a:solidFill>
              <a:latin typeface="Calibri"/>
              <a:ea typeface="Calibri"/>
              <a:cs typeface="Calibri"/>
              <a:sym typeface="Calibri"/>
            </a:endParaRPr>
          </a:p>
        </p:txBody>
      </p:sp>
      <p:sp>
        <p:nvSpPr>
          <p:cNvPr id="251" name="Google Shape;251;p9"/>
          <p:cNvSpPr/>
          <p:nvPr/>
        </p:nvSpPr>
        <p:spPr>
          <a:xfrm>
            <a:off x="502920" y="2468880"/>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Ask for the plan questions they use</a:t>
            </a:r>
            <a:endParaRPr sz="1400">
              <a:solidFill>
                <a:schemeClr val="dk1"/>
              </a:solidFill>
              <a:latin typeface="Calibri"/>
              <a:ea typeface="Calibri"/>
              <a:cs typeface="Calibri"/>
              <a:sym typeface="Calibri"/>
            </a:endParaRPr>
          </a:p>
        </p:txBody>
      </p:sp>
      <p:sp>
        <p:nvSpPr>
          <p:cNvPr id="252" name="Google Shape;252;p9"/>
          <p:cNvSpPr/>
          <p:nvPr/>
        </p:nvSpPr>
        <p:spPr>
          <a:xfrm>
            <a:off x="502920" y="3108960"/>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Let them read your energy and steady you</a:t>
            </a:r>
            <a:endParaRPr sz="1400">
              <a:solidFill>
                <a:schemeClr val="dk1"/>
              </a:solidFill>
              <a:latin typeface="Calibri"/>
              <a:ea typeface="Calibri"/>
              <a:cs typeface="Calibri"/>
              <a:sym typeface="Calibri"/>
            </a:endParaRPr>
          </a:p>
        </p:txBody>
      </p:sp>
      <p:sp>
        <p:nvSpPr>
          <p:cNvPr id="253" name="Google Shape;253;p9"/>
          <p:cNvSpPr/>
          <p:nvPr/>
        </p:nvSpPr>
        <p:spPr>
          <a:xfrm>
            <a:off x="502920" y="3749040"/>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Leave with a clear next move</a:t>
            </a:r>
            <a:endParaRPr sz="1400">
              <a:solidFill>
                <a:schemeClr val="dk1"/>
              </a:solidFill>
              <a:latin typeface="Calibri"/>
              <a:ea typeface="Calibri"/>
              <a:cs typeface="Calibri"/>
              <a:sym typeface="Calibri"/>
            </a:endParaRPr>
          </a:p>
        </p:txBody>
      </p:sp>
      <p:sp>
        <p:nvSpPr>
          <p:cNvPr id="254" name="Google Shape;254;p9"/>
          <p:cNvSpPr/>
          <p:nvPr/>
        </p:nvSpPr>
        <p:spPr>
          <a:xfrm>
            <a:off x="3246120" y="1097280"/>
            <a:ext cx="2788920" cy="3657600"/>
          </a:xfrm>
          <a:prstGeom prst="roundRect">
            <a:avLst>
              <a:gd fmla="val 3279"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p:nvPr/>
        </p:nvSpPr>
        <p:spPr>
          <a:xfrm>
            <a:off x="3246120" y="1097280"/>
            <a:ext cx="2788920" cy="502920"/>
          </a:xfrm>
          <a:prstGeom prst="rect">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
          <p:cNvSpPr/>
          <p:nvPr/>
        </p:nvSpPr>
        <p:spPr>
          <a:xfrm>
            <a:off x="3337560" y="1188720"/>
            <a:ext cx="2606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While You Are on the Floor</a:t>
            </a:r>
            <a:endParaRPr sz="1400">
              <a:solidFill>
                <a:schemeClr val="dk1"/>
              </a:solidFill>
              <a:latin typeface="Calibri"/>
              <a:ea typeface="Calibri"/>
              <a:cs typeface="Calibri"/>
              <a:sym typeface="Calibri"/>
            </a:endParaRPr>
          </a:p>
        </p:txBody>
      </p:sp>
      <p:sp>
        <p:nvSpPr>
          <p:cNvPr id="257" name="Google Shape;257;p9"/>
          <p:cNvSpPr/>
          <p:nvPr/>
        </p:nvSpPr>
        <p:spPr>
          <a:xfrm>
            <a:off x="3429000" y="1828800"/>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Trust them to watch for red flags</a:t>
            </a:r>
            <a:endParaRPr sz="1400">
              <a:solidFill>
                <a:schemeClr val="dk1"/>
              </a:solidFill>
              <a:latin typeface="Calibri"/>
              <a:ea typeface="Calibri"/>
              <a:cs typeface="Calibri"/>
              <a:sym typeface="Calibri"/>
            </a:endParaRPr>
          </a:p>
        </p:txBody>
      </p:sp>
      <p:sp>
        <p:nvSpPr>
          <p:cNvPr id="258" name="Google Shape;258;p9"/>
          <p:cNvSpPr/>
          <p:nvPr/>
        </p:nvSpPr>
        <p:spPr>
          <a:xfrm>
            <a:off x="3429000" y="2468880"/>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Stay present with your Client</a:t>
            </a:r>
            <a:endParaRPr sz="1400">
              <a:solidFill>
                <a:schemeClr val="dk1"/>
              </a:solidFill>
              <a:latin typeface="Calibri"/>
              <a:ea typeface="Calibri"/>
              <a:cs typeface="Calibri"/>
              <a:sym typeface="Calibri"/>
            </a:endParaRPr>
          </a:p>
        </p:txBody>
      </p:sp>
      <p:sp>
        <p:nvSpPr>
          <p:cNvPr id="259" name="Google Shape;259;p9"/>
          <p:cNvSpPr/>
          <p:nvPr/>
        </p:nvSpPr>
        <p:spPr>
          <a:xfrm>
            <a:off x="3429000" y="3108960"/>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Accept a clean AAH step-in as help</a:t>
            </a:r>
            <a:endParaRPr sz="1400">
              <a:solidFill>
                <a:schemeClr val="dk1"/>
              </a:solidFill>
              <a:latin typeface="Calibri"/>
              <a:ea typeface="Calibri"/>
              <a:cs typeface="Calibri"/>
              <a:sym typeface="Calibri"/>
            </a:endParaRPr>
          </a:p>
        </p:txBody>
      </p:sp>
      <p:sp>
        <p:nvSpPr>
          <p:cNvPr id="260" name="Google Shape;260;p9"/>
          <p:cNvSpPr/>
          <p:nvPr/>
        </p:nvSpPr>
        <p:spPr>
          <a:xfrm>
            <a:off x="3429000" y="3749040"/>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Finish the sale after they hand back</a:t>
            </a:r>
            <a:endParaRPr sz="1400">
              <a:solidFill>
                <a:schemeClr val="dk1"/>
              </a:solidFill>
              <a:latin typeface="Calibri"/>
              <a:ea typeface="Calibri"/>
              <a:cs typeface="Calibri"/>
              <a:sym typeface="Calibri"/>
            </a:endParaRPr>
          </a:p>
        </p:txBody>
      </p:sp>
      <p:sp>
        <p:nvSpPr>
          <p:cNvPr id="261" name="Google Shape;261;p9"/>
          <p:cNvSpPr/>
          <p:nvPr/>
        </p:nvSpPr>
        <p:spPr>
          <a:xfrm>
            <a:off x="6172200" y="1097280"/>
            <a:ext cx="2788920" cy="3657600"/>
          </a:xfrm>
          <a:prstGeom prst="roundRect">
            <a:avLst>
              <a:gd fmla="val 3279"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6172200" y="1097280"/>
            <a:ext cx="2788920" cy="502920"/>
          </a:xfrm>
          <a:prstGeom prst="rect">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6263640" y="1188720"/>
            <a:ext cx="2606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After the Demo</a:t>
            </a:r>
            <a:endParaRPr sz="1400">
              <a:solidFill>
                <a:schemeClr val="dk1"/>
              </a:solidFill>
              <a:latin typeface="Calibri"/>
              <a:ea typeface="Calibri"/>
              <a:cs typeface="Calibri"/>
              <a:sym typeface="Calibri"/>
            </a:endParaRPr>
          </a:p>
        </p:txBody>
      </p:sp>
      <p:sp>
        <p:nvSpPr>
          <p:cNvPr id="264" name="Google Shape;264;p9"/>
          <p:cNvSpPr/>
          <p:nvPr/>
        </p:nvSpPr>
        <p:spPr>
          <a:xfrm>
            <a:off x="6355080" y="1828800"/>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Be ready for a short debrief</a:t>
            </a:r>
            <a:endParaRPr sz="1400">
              <a:solidFill>
                <a:schemeClr val="dk1"/>
              </a:solidFill>
              <a:latin typeface="Calibri"/>
              <a:ea typeface="Calibri"/>
              <a:cs typeface="Calibri"/>
              <a:sym typeface="Calibri"/>
            </a:endParaRPr>
          </a:p>
        </p:txBody>
      </p:sp>
      <p:sp>
        <p:nvSpPr>
          <p:cNvPr id="265" name="Google Shape;265;p9"/>
          <p:cNvSpPr/>
          <p:nvPr/>
        </p:nvSpPr>
        <p:spPr>
          <a:xfrm>
            <a:off x="6355080" y="2468880"/>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Own the wins they name</a:t>
            </a:r>
            <a:endParaRPr sz="1400">
              <a:solidFill>
                <a:schemeClr val="dk1"/>
              </a:solidFill>
              <a:latin typeface="Calibri"/>
              <a:ea typeface="Calibri"/>
              <a:cs typeface="Calibri"/>
              <a:sym typeface="Calibri"/>
            </a:endParaRPr>
          </a:p>
        </p:txBody>
      </p:sp>
      <p:sp>
        <p:nvSpPr>
          <p:cNvPr id="266" name="Google Shape;266;p9"/>
          <p:cNvSpPr/>
          <p:nvPr/>
        </p:nvSpPr>
        <p:spPr>
          <a:xfrm>
            <a:off x="6355080" y="3108960"/>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Take the one opportunity seriously</a:t>
            </a:r>
            <a:endParaRPr sz="1400">
              <a:solidFill>
                <a:schemeClr val="dk1"/>
              </a:solidFill>
              <a:latin typeface="Calibri"/>
              <a:ea typeface="Calibri"/>
              <a:cs typeface="Calibri"/>
              <a:sym typeface="Calibri"/>
            </a:endParaRPr>
          </a:p>
        </p:txBody>
      </p:sp>
      <p:sp>
        <p:nvSpPr>
          <p:cNvPr id="267" name="Google Shape;267;p9"/>
          <p:cNvSpPr/>
          <p:nvPr/>
        </p:nvSpPr>
        <p:spPr>
          <a:xfrm>
            <a:off x="6355080" y="3749040"/>
            <a:ext cx="2468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  Ask for a quick role-play if helpful</a:t>
            </a:r>
            <a:endParaRPr sz="1400">
              <a:solidFill>
                <a:schemeClr val="dk1"/>
              </a:solidFill>
              <a:latin typeface="Calibri"/>
              <a:ea typeface="Calibri"/>
              <a:cs typeface="Calibri"/>
              <a:sym typeface="Calibri"/>
            </a:endParaRPr>
          </a:p>
        </p:txBody>
      </p:sp>
      <p:pic>
        <p:nvPicPr>
          <p:cNvPr id="268" name="Google Shape;268;p9" title="grok-image-6bee5419-570b-4123-8542-27b02a1104ea (1)-Picsart-BackgroundRemover (1).jpg"/>
          <p:cNvPicPr preferRelativeResize="0"/>
          <p:nvPr/>
        </p:nvPicPr>
        <p:blipFill>
          <a:blip r:embed="rId3">
            <a:alphaModFix/>
          </a:blip>
          <a:stretch>
            <a:fillRect/>
          </a:stretch>
        </p:blipFill>
        <p:spPr>
          <a:xfrm>
            <a:off x="-5" y="4583420"/>
            <a:ext cx="840107" cy="560075"/>
          </a:xfrm>
          <a:prstGeom prst="rect">
            <a:avLst/>
          </a:prstGeom>
          <a:noFill/>
          <a:ln>
            <a:noFill/>
          </a:ln>
        </p:spPr>
      </p:pic>
      <p:pic>
        <p:nvPicPr>
          <p:cNvPr id="269" name="Google Shape;269;p9" title="Picture1.png"/>
          <p:cNvPicPr preferRelativeResize="0"/>
          <p:nvPr/>
        </p:nvPicPr>
        <p:blipFill>
          <a:blip r:embed="rId4">
            <a:alphaModFix/>
          </a:blip>
          <a:stretch>
            <a:fillRect/>
          </a:stretch>
        </p:blipFill>
        <p:spPr>
          <a:xfrm>
            <a:off x="8595350" y="4587675"/>
            <a:ext cx="502400" cy="502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10"/>
          <p:cNvSpPr/>
          <p:nvPr/>
        </p:nvSpPr>
        <p:spPr>
          <a:xfrm>
            <a:off x="0" y="0"/>
            <a:ext cx="9144000" cy="82296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p:nvPr/>
        </p:nvSpPr>
        <p:spPr>
          <a:xfrm>
            <a:off x="457200" y="22860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Key Questions Your Floor Leader Will Ask</a:t>
            </a:r>
            <a:endParaRPr sz="2400">
              <a:solidFill>
                <a:schemeClr val="dk1"/>
              </a:solidFill>
              <a:latin typeface="Calibri"/>
              <a:ea typeface="Calibri"/>
              <a:cs typeface="Calibri"/>
              <a:sym typeface="Calibri"/>
            </a:endParaRPr>
          </a:p>
        </p:txBody>
      </p:sp>
      <p:sp>
        <p:nvSpPr>
          <p:cNvPr id="277" name="Google Shape;277;p10"/>
          <p:cNvSpPr/>
          <p:nvPr/>
        </p:nvSpPr>
        <p:spPr>
          <a:xfrm>
            <a:off x="457200" y="10058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Arial"/>
              <a:buNone/>
            </a:pPr>
            <a:r>
              <a:rPr lang="en-US" sz="1500">
                <a:solidFill>
                  <a:srgbClr val="1E293B"/>
                </a:solidFill>
                <a:latin typeface="Arial"/>
                <a:ea typeface="Arial"/>
                <a:cs typeface="Arial"/>
                <a:sym typeface="Arial"/>
              </a:rPr>
              <a:t>These questions settle nerves and tighten your plan before you walk back out.</a:t>
            </a:r>
            <a:endParaRPr sz="1500">
              <a:solidFill>
                <a:schemeClr val="dk1"/>
              </a:solidFill>
              <a:latin typeface="Calibri"/>
              <a:ea typeface="Calibri"/>
              <a:cs typeface="Calibri"/>
              <a:sym typeface="Calibri"/>
            </a:endParaRPr>
          </a:p>
        </p:txBody>
      </p:sp>
      <p:sp>
        <p:nvSpPr>
          <p:cNvPr id="278" name="Google Shape;278;p10"/>
          <p:cNvSpPr/>
          <p:nvPr/>
        </p:nvSpPr>
        <p:spPr>
          <a:xfrm>
            <a:off x="320040" y="1463040"/>
            <a:ext cx="2788920" cy="3200400"/>
          </a:xfrm>
          <a:prstGeom prst="roundRect">
            <a:avLst>
              <a:gd fmla="val 3279" name="adj"/>
            </a:avLst>
          </a:prstGeom>
          <a:solidFill>
            <a:srgbClr val="F0FD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457200" y="1645920"/>
            <a:ext cx="2514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66E"/>
              </a:buClr>
              <a:buSzPts val="1600"/>
              <a:buFont typeface="Arial"/>
              <a:buNone/>
            </a:pPr>
            <a:r>
              <a:rPr b="1" lang="en-US" sz="1600">
                <a:solidFill>
                  <a:srgbClr val="0F766E"/>
                </a:solidFill>
                <a:latin typeface="Arial"/>
                <a:ea typeface="Arial"/>
                <a:cs typeface="Arial"/>
                <a:sym typeface="Arial"/>
              </a:rPr>
              <a:t>New Client</a:t>
            </a:r>
            <a:endParaRPr sz="1600">
              <a:solidFill>
                <a:schemeClr val="dk1"/>
              </a:solidFill>
              <a:latin typeface="Calibri"/>
              <a:ea typeface="Calibri"/>
              <a:cs typeface="Calibri"/>
              <a:sym typeface="Calibri"/>
            </a:endParaRPr>
          </a:p>
        </p:txBody>
      </p:sp>
      <p:sp>
        <p:nvSpPr>
          <p:cNvPr id="280" name="Google Shape;280;p10"/>
          <p:cNvSpPr/>
          <p:nvPr/>
        </p:nvSpPr>
        <p:spPr>
          <a:xfrm>
            <a:off x="502920" y="224028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1.  What brought them in today?</a:t>
            </a:r>
            <a:endParaRPr sz="1300">
              <a:solidFill>
                <a:schemeClr val="dk1"/>
              </a:solidFill>
              <a:latin typeface="Calibri"/>
              <a:ea typeface="Calibri"/>
              <a:cs typeface="Calibri"/>
              <a:sym typeface="Calibri"/>
            </a:endParaRPr>
          </a:p>
        </p:txBody>
      </p:sp>
      <p:sp>
        <p:nvSpPr>
          <p:cNvPr id="281" name="Google Shape;281;p10"/>
          <p:cNvSpPr/>
          <p:nvPr/>
        </p:nvSpPr>
        <p:spPr>
          <a:xfrm>
            <a:off x="502920" y="274320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2.  Pain level right now?</a:t>
            </a:r>
            <a:endParaRPr sz="1300">
              <a:solidFill>
                <a:schemeClr val="dk1"/>
              </a:solidFill>
              <a:latin typeface="Calibri"/>
              <a:ea typeface="Calibri"/>
              <a:cs typeface="Calibri"/>
              <a:sym typeface="Calibri"/>
            </a:endParaRPr>
          </a:p>
        </p:txBody>
      </p:sp>
      <p:sp>
        <p:nvSpPr>
          <p:cNvPr id="282" name="Google Shape;282;p10"/>
          <p:cNvSpPr/>
          <p:nvPr/>
        </p:nvSpPr>
        <p:spPr>
          <a:xfrm>
            <a:off x="502920" y="324612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3.  What do they want to get back to?</a:t>
            </a:r>
            <a:endParaRPr sz="1300">
              <a:solidFill>
                <a:schemeClr val="dk1"/>
              </a:solidFill>
              <a:latin typeface="Calibri"/>
              <a:ea typeface="Calibri"/>
              <a:cs typeface="Calibri"/>
              <a:sym typeface="Calibri"/>
            </a:endParaRPr>
          </a:p>
        </p:txBody>
      </p:sp>
      <p:sp>
        <p:nvSpPr>
          <p:cNvPr id="283" name="Google Shape;283;p10"/>
          <p:cNvSpPr/>
          <p:nvPr/>
        </p:nvSpPr>
        <p:spPr>
          <a:xfrm>
            <a:off x="502920" y="374904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4.  Which system will you present?</a:t>
            </a:r>
            <a:endParaRPr sz="1300">
              <a:solidFill>
                <a:schemeClr val="dk1"/>
              </a:solidFill>
              <a:latin typeface="Calibri"/>
              <a:ea typeface="Calibri"/>
              <a:cs typeface="Calibri"/>
              <a:sym typeface="Calibri"/>
            </a:endParaRPr>
          </a:p>
        </p:txBody>
      </p:sp>
      <p:sp>
        <p:nvSpPr>
          <p:cNvPr id="284" name="Google Shape;284;p10"/>
          <p:cNvSpPr/>
          <p:nvPr/>
        </p:nvSpPr>
        <p:spPr>
          <a:xfrm>
            <a:off x="3246120" y="1463040"/>
            <a:ext cx="2788920" cy="3200400"/>
          </a:xfrm>
          <a:prstGeom prst="roundRect">
            <a:avLst>
              <a:gd fmla="val 3279" name="adj"/>
            </a:avLst>
          </a:prstGeom>
          <a:solidFill>
            <a:srgbClr val="F0FD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
          <p:cNvSpPr/>
          <p:nvPr/>
        </p:nvSpPr>
        <p:spPr>
          <a:xfrm>
            <a:off x="3383280" y="1645920"/>
            <a:ext cx="2514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66E"/>
              </a:buClr>
              <a:buSzPts val="1600"/>
              <a:buFont typeface="Arial"/>
              <a:buNone/>
            </a:pPr>
            <a:r>
              <a:rPr b="1" lang="en-US" sz="1600">
                <a:solidFill>
                  <a:srgbClr val="0F766E"/>
                </a:solidFill>
                <a:latin typeface="Arial"/>
                <a:ea typeface="Arial"/>
                <a:cs typeface="Arial"/>
                <a:sym typeface="Arial"/>
              </a:rPr>
              <a:t>Return with Issue</a:t>
            </a:r>
            <a:endParaRPr sz="1600">
              <a:solidFill>
                <a:schemeClr val="dk1"/>
              </a:solidFill>
              <a:latin typeface="Calibri"/>
              <a:ea typeface="Calibri"/>
              <a:cs typeface="Calibri"/>
              <a:sym typeface="Calibri"/>
            </a:endParaRPr>
          </a:p>
        </p:txBody>
      </p:sp>
      <p:sp>
        <p:nvSpPr>
          <p:cNvPr id="286" name="Google Shape;286;p10"/>
          <p:cNvSpPr/>
          <p:nvPr/>
        </p:nvSpPr>
        <p:spPr>
          <a:xfrm>
            <a:off x="3429000" y="224028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1.  What stands out about the complaint?</a:t>
            </a:r>
            <a:endParaRPr sz="1300">
              <a:solidFill>
                <a:schemeClr val="dk1"/>
              </a:solidFill>
              <a:latin typeface="Calibri"/>
              <a:ea typeface="Calibri"/>
              <a:cs typeface="Calibri"/>
              <a:sym typeface="Calibri"/>
            </a:endParaRPr>
          </a:p>
        </p:txBody>
      </p:sp>
      <p:sp>
        <p:nvSpPr>
          <p:cNvPr id="287" name="Google Shape;287;p10"/>
          <p:cNvSpPr/>
          <p:nvPr/>
        </p:nvSpPr>
        <p:spPr>
          <a:xfrm>
            <a:off x="3429000" y="274320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2.  Full 3-Step System or missing a step?</a:t>
            </a:r>
            <a:endParaRPr sz="1300">
              <a:solidFill>
                <a:schemeClr val="dk1"/>
              </a:solidFill>
              <a:latin typeface="Calibri"/>
              <a:ea typeface="Calibri"/>
              <a:cs typeface="Calibri"/>
              <a:sym typeface="Calibri"/>
            </a:endParaRPr>
          </a:p>
        </p:txBody>
      </p:sp>
      <p:sp>
        <p:nvSpPr>
          <p:cNvPr id="288" name="Google Shape;288;p10"/>
          <p:cNvSpPr/>
          <p:nvPr/>
        </p:nvSpPr>
        <p:spPr>
          <a:xfrm>
            <a:off x="3429000" y="324612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3.  Where are they in break-in?</a:t>
            </a:r>
            <a:endParaRPr sz="1300">
              <a:solidFill>
                <a:schemeClr val="dk1"/>
              </a:solidFill>
              <a:latin typeface="Calibri"/>
              <a:ea typeface="Calibri"/>
              <a:cs typeface="Calibri"/>
              <a:sym typeface="Calibri"/>
            </a:endParaRPr>
          </a:p>
        </p:txBody>
      </p:sp>
      <p:sp>
        <p:nvSpPr>
          <p:cNvPr id="289" name="Google Shape;289;p10"/>
          <p:cNvSpPr/>
          <p:nvPr/>
        </p:nvSpPr>
        <p:spPr>
          <a:xfrm>
            <a:off x="3429000" y="374904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4.  Shoe condition &amp; cushions?</a:t>
            </a:r>
            <a:endParaRPr sz="1300">
              <a:solidFill>
                <a:schemeClr val="dk1"/>
              </a:solidFill>
              <a:latin typeface="Calibri"/>
              <a:ea typeface="Calibri"/>
              <a:cs typeface="Calibri"/>
              <a:sym typeface="Calibri"/>
            </a:endParaRPr>
          </a:p>
        </p:txBody>
      </p:sp>
      <p:sp>
        <p:nvSpPr>
          <p:cNvPr id="290" name="Google Shape;290;p10"/>
          <p:cNvSpPr/>
          <p:nvPr/>
        </p:nvSpPr>
        <p:spPr>
          <a:xfrm>
            <a:off x="6172200" y="1463040"/>
            <a:ext cx="2788920" cy="3200400"/>
          </a:xfrm>
          <a:prstGeom prst="roundRect">
            <a:avLst>
              <a:gd fmla="val 3279" name="adj"/>
            </a:avLst>
          </a:prstGeom>
          <a:solidFill>
            <a:srgbClr val="F0FD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0"/>
          <p:cNvSpPr/>
          <p:nvPr/>
        </p:nvSpPr>
        <p:spPr>
          <a:xfrm>
            <a:off x="6309360" y="1645920"/>
            <a:ext cx="2514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66E"/>
              </a:buClr>
              <a:buSzPts val="1600"/>
              <a:buFont typeface="Arial"/>
              <a:buNone/>
            </a:pPr>
            <a:r>
              <a:rPr b="1" lang="en-US" sz="1600">
                <a:solidFill>
                  <a:srgbClr val="0F766E"/>
                </a:solidFill>
                <a:latin typeface="Arial"/>
                <a:ea typeface="Arial"/>
                <a:cs typeface="Arial"/>
                <a:sym typeface="Arial"/>
              </a:rPr>
              <a:t>Successful Return</a:t>
            </a:r>
            <a:endParaRPr sz="1600">
              <a:solidFill>
                <a:schemeClr val="dk1"/>
              </a:solidFill>
              <a:latin typeface="Calibri"/>
              <a:ea typeface="Calibri"/>
              <a:cs typeface="Calibri"/>
              <a:sym typeface="Calibri"/>
            </a:endParaRPr>
          </a:p>
        </p:txBody>
      </p:sp>
      <p:sp>
        <p:nvSpPr>
          <p:cNvPr id="292" name="Google Shape;292;p10"/>
          <p:cNvSpPr/>
          <p:nvPr/>
        </p:nvSpPr>
        <p:spPr>
          <a:xfrm>
            <a:off x="6355080" y="224028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1.  When was their last visit?</a:t>
            </a:r>
            <a:endParaRPr sz="1300">
              <a:solidFill>
                <a:schemeClr val="dk1"/>
              </a:solidFill>
              <a:latin typeface="Calibri"/>
              <a:ea typeface="Calibri"/>
              <a:cs typeface="Calibri"/>
              <a:sym typeface="Calibri"/>
            </a:endParaRPr>
          </a:p>
        </p:txBody>
      </p:sp>
      <p:sp>
        <p:nvSpPr>
          <p:cNvPr id="293" name="Google Shape;293;p10"/>
          <p:cNvSpPr/>
          <p:nvPr/>
        </p:nvSpPr>
        <p:spPr>
          <a:xfrm>
            <a:off x="6355080" y="274320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2.  Did they leave a review?</a:t>
            </a:r>
            <a:endParaRPr sz="1300">
              <a:solidFill>
                <a:schemeClr val="dk1"/>
              </a:solidFill>
              <a:latin typeface="Calibri"/>
              <a:ea typeface="Calibri"/>
              <a:cs typeface="Calibri"/>
              <a:sym typeface="Calibri"/>
            </a:endParaRPr>
          </a:p>
        </p:txBody>
      </p:sp>
      <p:sp>
        <p:nvSpPr>
          <p:cNvPr id="294" name="Google Shape;294;p10"/>
          <p:cNvSpPr/>
          <p:nvPr/>
        </p:nvSpPr>
        <p:spPr>
          <a:xfrm>
            <a:off x="6355080" y="324612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3.  How many steps in their system?</a:t>
            </a:r>
            <a:endParaRPr sz="1300">
              <a:solidFill>
                <a:schemeClr val="dk1"/>
              </a:solidFill>
              <a:latin typeface="Calibri"/>
              <a:ea typeface="Calibri"/>
              <a:cs typeface="Calibri"/>
              <a:sym typeface="Calibri"/>
            </a:endParaRPr>
          </a:p>
        </p:txBody>
      </p:sp>
      <p:sp>
        <p:nvSpPr>
          <p:cNvPr id="295" name="Google Shape;295;p10"/>
          <p:cNvSpPr/>
          <p:nvPr/>
        </p:nvSpPr>
        <p:spPr>
          <a:xfrm>
            <a:off x="6355080" y="3749040"/>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4.  Any new activities for lifestyle?</a:t>
            </a:r>
            <a:endParaRPr sz="1300">
              <a:solidFill>
                <a:schemeClr val="dk1"/>
              </a:solidFill>
              <a:latin typeface="Calibri"/>
              <a:ea typeface="Calibri"/>
              <a:cs typeface="Calibri"/>
              <a:sym typeface="Calibri"/>
            </a:endParaRPr>
          </a:p>
        </p:txBody>
      </p:sp>
      <p:pic>
        <p:nvPicPr>
          <p:cNvPr id="296" name="Google Shape;296;p10" title="grok-image-6bee5419-570b-4123-8542-27b02a1104ea (1)-Picsart-BackgroundRemover (1).jpg"/>
          <p:cNvPicPr preferRelativeResize="0"/>
          <p:nvPr/>
        </p:nvPicPr>
        <p:blipFill>
          <a:blip r:embed="rId3">
            <a:alphaModFix/>
          </a:blip>
          <a:stretch>
            <a:fillRect/>
          </a:stretch>
        </p:blipFill>
        <p:spPr>
          <a:xfrm>
            <a:off x="-5" y="4583420"/>
            <a:ext cx="840107" cy="560075"/>
          </a:xfrm>
          <a:prstGeom prst="rect">
            <a:avLst/>
          </a:prstGeom>
          <a:noFill/>
          <a:ln>
            <a:noFill/>
          </a:ln>
        </p:spPr>
      </p:pic>
      <p:pic>
        <p:nvPicPr>
          <p:cNvPr id="297" name="Google Shape;297;p10" title="Picture1.png"/>
          <p:cNvPicPr preferRelativeResize="0"/>
          <p:nvPr/>
        </p:nvPicPr>
        <p:blipFill>
          <a:blip r:embed="rId4">
            <a:alphaModFix/>
          </a:blip>
          <a:stretch>
            <a:fillRect/>
          </a:stretch>
        </p:blipFill>
        <p:spPr>
          <a:xfrm>
            <a:off x="8595350" y="4587675"/>
            <a:ext cx="502400" cy="502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p11"/>
          <p:cNvSpPr/>
          <p:nvPr/>
        </p:nvSpPr>
        <p:spPr>
          <a:xfrm>
            <a:off x="0" y="0"/>
            <a:ext cx="9144000" cy="82296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457200" y="22860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Your Part of the Partnership</a:t>
            </a:r>
            <a:endParaRPr sz="2400">
              <a:solidFill>
                <a:schemeClr val="dk1"/>
              </a:solidFill>
              <a:latin typeface="Calibri"/>
              <a:ea typeface="Calibri"/>
              <a:cs typeface="Calibri"/>
              <a:sym typeface="Calibri"/>
            </a:endParaRPr>
          </a:p>
        </p:txBody>
      </p:sp>
      <p:sp>
        <p:nvSpPr>
          <p:cNvPr id="305" name="Google Shape;305;p11"/>
          <p:cNvSpPr/>
          <p:nvPr/>
        </p:nvSpPr>
        <p:spPr>
          <a:xfrm>
            <a:off x="320040" y="1097280"/>
            <a:ext cx="2788920" cy="1737360"/>
          </a:xfrm>
          <a:prstGeom prst="roundRect">
            <a:avLst>
              <a:gd fmla="val 5263"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502920" y="1325880"/>
            <a:ext cx="411480" cy="4114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502920" y="132588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1</a:t>
            </a:r>
            <a:endParaRPr sz="1600">
              <a:solidFill>
                <a:schemeClr val="dk1"/>
              </a:solidFill>
              <a:latin typeface="Calibri"/>
              <a:ea typeface="Calibri"/>
              <a:cs typeface="Calibri"/>
              <a:sym typeface="Calibri"/>
            </a:endParaRPr>
          </a:p>
        </p:txBody>
      </p:sp>
      <p:sp>
        <p:nvSpPr>
          <p:cNvPr id="308" name="Google Shape;308;p11"/>
          <p:cNvSpPr/>
          <p:nvPr/>
        </p:nvSpPr>
        <p:spPr>
          <a:xfrm>
            <a:off x="1051560" y="1371600"/>
            <a:ext cx="1828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Stay open</a:t>
            </a:r>
            <a:endParaRPr sz="1500">
              <a:solidFill>
                <a:schemeClr val="dk1"/>
              </a:solidFill>
              <a:latin typeface="Calibri"/>
              <a:ea typeface="Calibri"/>
              <a:cs typeface="Calibri"/>
              <a:sym typeface="Calibri"/>
            </a:endParaRPr>
          </a:p>
        </p:txBody>
      </p:sp>
      <p:sp>
        <p:nvSpPr>
          <p:cNvPr id="309" name="Google Shape;309;p11"/>
          <p:cNvSpPr/>
          <p:nvPr/>
        </p:nvSpPr>
        <p:spPr>
          <a:xfrm>
            <a:off x="502920" y="1920240"/>
            <a:ext cx="2423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Coaching is not criticism. Treat every observation as fuel for your next demo.</a:t>
            </a:r>
            <a:endParaRPr sz="1300">
              <a:solidFill>
                <a:schemeClr val="dk1"/>
              </a:solidFill>
              <a:latin typeface="Calibri"/>
              <a:ea typeface="Calibri"/>
              <a:cs typeface="Calibri"/>
              <a:sym typeface="Calibri"/>
            </a:endParaRPr>
          </a:p>
        </p:txBody>
      </p:sp>
      <p:sp>
        <p:nvSpPr>
          <p:cNvPr id="310" name="Google Shape;310;p11"/>
          <p:cNvSpPr/>
          <p:nvPr/>
        </p:nvSpPr>
        <p:spPr>
          <a:xfrm>
            <a:off x="3246120" y="1097280"/>
            <a:ext cx="2788920" cy="1737360"/>
          </a:xfrm>
          <a:prstGeom prst="roundRect">
            <a:avLst>
              <a:gd fmla="val 5263"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p:nvPr/>
        </p:nvSpPr>
        <p:spPr>
          <a:xfrm>
            <a:off x="3429000" y="1325880"/>
            <a:ext cx="411480" cy="4114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3429000" y="132588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2</a:t>
            </a:r>
            <a:endParaRPr sz="1600">
              <a:solidFill>
                <a:schemeClr val="dk1"/>
              </a:solidFill>
              <a:latin typeface="Calibri"/>
              <a:ea typeface="Calibri"/>
              <a:cs typeface="Calibri"/>
              <a:sym typeface="Calibri"/>
            </a:endParaRPr>
          </a:p>
        </p:txBody>
      </p:sp>
      <p:sp>
        <p:nvSpPr>
          <p:cNvPr id="313" name="Google Shape;313;p11"/>
          <p:cNvSpPr/>
          <p:nvPr/>
        </p:nvSpPr>
        <p:spPr>
          <a:xfrm>
            <a:off x="3977640" y="1371600"/>
            <a:ext cx="1828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Signal early</a:t>
            </a:r>
            <a:endParaRPr sz="1500">
              <a:solidFill>
                <a:schemeClr val="dk1"/>
              </a:solidFill>
              <a:latin typeface="Calibri"/>
              <a:ea typeface="Calibri"/>
              <a:cs typeface="Calibri"/>
              <a:sym typeface="Calibri"/>
            </a:endParaRPr>
          </a:p>
        </p:txBody>
      </p:sp>
      <p:sp>
        <p:nvSpPr>
          <p:cNvPr id="314" name="Google Shape;314;p11"/>
          <p:cNvSpPr/>
          <p:nvPr/>
        </p:nvSpPr>
        <p:spPr>
          <a:xfrm>
            <a:off x="3429000" y="1920240"/>
            <a:ext cx="2423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If you feel stuck or the energy is off, a quick look or a step to the backroom is enough. They are watching for the signal.</a:t>
            </a:r>
            <a:endParaRPr sz="1300">
              <a:solidFill>
                <a:schemeClr val="dk1"/>
              </a:solidFill>
              <a:latin typeface="Calibri"/>
              <a:ea typeface="Calibri"/>
              <a:cs typeface="Calibri"/>
              <a:sym typeface="Calibri"/>
            </a:endParaRPr>
          </a:p>
        </p:txBody>
      </p:sp>
      <p:sp>
        <p:nvSpPr>
          <p:cNvPr id="315" name="Google Shape;315;p11"/>
          <p:cNvSpPr/>
          <p:nvPr/>
        </p:nvSpPr>
        <p:spPr>
          <a:xfrm>
            <a:off x="6172200" y="1097280"/>
            <a:ext cx="2788920" cy="1737360"/>
          </a:xfrm>
          <a:prstGeom prst="roundRect">
            <a:avLst>
              <a:gd fmla="val 5263"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
          <p:cNvSpPr/>
          <p:nvPr/>
        </p:nvSpPr>
        <p:spPr>
          <a:xfrm>
            <a:off x="6355080" y="1325880"/>
            <a:ext cx="411480" cy="4114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p:nvPr/>
        </p:nvSpPr>
        <p:spPr>
          <a:xfrm>
            <a:off x="6355080" y="132588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3</a:t>
            </a:r>
            <a:endParaRPr sz="1600">
              <a:solidFill>
                <a:schemeClr val="dk1"/>
              </a:solidFill>
              <a:latin typeface="Calibri"/>
              <a:ea typeface="Calibri"/>
              <a:cs typeface="Calibri"/>
              <a:sym typeface="Calibri"/>
            </a:endParaRPr>
          </a:p>
        </p:txBody>
      </p:sp>
      <p:sp>
        <p:nvSpPr>
          <p:cNvPr id="318" name="Google Shape;318;p11"/>
          <p:cNvSpPr/>
          <p:nvPr/>
        </p:nvSpPr>
        <p:spPr>
          <a:xfrm>
            <a:off x="6903720" y="1371600"/>
            <a:ext cx="1828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Own the hand-back</a:t>
            </a:r>
            <a:endParaRPr sz="1500">
              <a:solidFill>
                <a:schemeClr val="dk1"/>
              </a:solidFill>
              <a:latin typeface="Calibri"/>
              <a:ea typeface="Calibri"/>
              <a:cs typeface="Calibri"/>
              <a:sym typeface="Calibri"/>
            </a:endParaRPr>
          </a:p>
        </p:txBody>
      </p:sp>
      <p:sp>
        <p:nvSpPr>
          <p:cNvPr id="319" name="Google Shape;319;p11"/>
          <p:cNvSpPr/>
          <p:nvPr/>
        </p:nvSpPr>
        <p:spPr>
          <a:xfrm>
            <a:off x="6355080" y="1920240"/>
            <a:ext cx="2423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When they return the Client to you, take the lead immediately and finish strong. The relationship stays yours.</a:t>
            </a:r>
            <a:endParaRPr sz="1300">
              <a:solidFill>
                <a:schemeClr val="dk1"/>
              </a:solidFill>
              <a:latin typeface="Calibri"/>
              <a:ea typeface="Calibri"/>
              <a:cs typeface="Calibri"/>
              <a:sym typeface="Calibri"/>
            </a:endParaRPr>
          </a:p>
        </p:txBody>
      </p:sp>
      <p:sp>
        <p:nvSpPr>
          <p:cNvPr id="320" name="Google Shape;320;p11"/>
          <p:cNvSpPr/>
          <p:nvPr/>
        </p:nvSpPr>
        <p:spPr>
          <a:xfrm>
            <a:off x="320040" y="3017520"/>
            <a:ext cx="2788920" cy="1737360"/>
          </a:xfrm>
          <a:prstGeom prst="roundRect">
            <a:avLst>
              <a:gd fmla="val 5263"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1"/>
          <p:cNvSpPr/>
          <p:nvPr/>
        </p:nvSpPr>
        <p:spPr>
          <a:xfrm>
            <a:off x="502920" y="3246120"/>
            <a:ext cx="411480" cy="4114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1"/>
          <p:cNvSpPr/>
          <p:nvPr/>
        </p:nvSpPr>
        <p:spPr>
          <a:xfrm>
            <a:off x="502920" y="32461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4</a:t>
            </a:r>
            <a:endParaRPr sz="1600">
              <a:solidFill>
                <a:schemeClr val="dk1"/>
              </a:solidFill>
              <a:latin typeface="Calibri"/>
              <a:ea typeface="Calibri"/>
              <a:cs typeface="Calibri"/>
              <a:sym typeface="Calibri"/>
            </a:endParaRPr>
          </a:p>
        </p:txBody>
      </p:sp>
      <p:sp>
        <p:nvSpPr>
          <p:cNvPr id="323" name="Google Shape;323;p11"/>
          <p:cNvSpPr/>
          <p:nvPr/>
        </p:nvSpPr>
        <p:spPr>
          <a:xfrm>
            <a:off x="1051560" y="3291840"/>
            <a:ext cx="1828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Protect the culture</a:t>
            </a:r>
            <a:endParaRPr sz="1500">
              <a:solidFill>
                <a:schemeClr val="dk1"/>
              </a:solidFill>
              <a:latin typeface="Calibri"/>
              <a:ea typeface="Calibri"/>
              <a:cs typeface="Calibri"/>
              <a:sym typeface="Calibri"/>
            </a:endParaRPr>
          </a:p>
        </p:txBody>
      </p:sp>
      <p:sp>
        <p:nvSpPr>
          <p:cNvPr id="324" name="Google Shape;324;p11"/>
          <p:cNvSpPr/>
          <p:nvPr/>
        </p:nvSpPr>
        <p:spPr>
          <a:xfrm>
            <a:off x="502920" y="3840480"/>
            <a:ext cx="2423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Never talk down a Client or a teammate in front of the floor. The Floor Leader sets the tone — help keep it high.</a:t>
            </a:r>
            <a:endParaRPr sz="1300">
              <a:solidFill>
                <a:schemeClr val="dk1"/>
              </a:solidFill>
              <a:latin typeface="Calibri"/>
              <a:ea typeface="Calibri"/>
              <a:cs typeface="Calibri"/>
              <a:sym typeface="Calibri"/>
            </a:endParaRPr>
          </a:p>
        </p:txBody>
      </p:sp>
      <p:sp>
        <p:nvSpPr>
          <p:cNvPr id="325" name="Google Shape;325;p11"/>
          <p:cNvSpPr/>
          <p:nvPr/>
        </p:nvSpPr>
        <p:spPr>
          <a:xfrm>
            <a:off x="3246120" y="3017520"/>
            <a:ext cx="2788920" cy="1737360"/>
          </a:xfrm>
          <a:prstGeom prst="roundRect">
            <a:avLst>
              <a:gd fmla="val 5263"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p:nvPr/>
        </p:nvSpPr>
        <p:spPr>
          <a:xfrm>
            <a:off x="3429000" y="3246120"/>
            <a:ext cx="411480" cy="4114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1"/>
          <p:cNvSpPr/>
          <p:nvPr/>
        </p:nvSpPr>
        <p:spPr>
          <a:xfrm>
            <a:off x="3429000" y="32461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5</a:t>
            </a:r>
            <a:endParaRPr sz="1600">
              <a:solidFill>
                <a:schemeClr val="dk1"/>
              </a:solidFill>
              <a:latin typeface="Calibri"/>
              <a:ea typeface="Calibri"/>
              <a:cs typeface="Calibri"/>
              <a:sym typeface="Calibri"/>
            </a:endParaRPr>
          </a:p>
        </p:txBody>
      </p:sp>
      <p:sp>
        <p:nvSpPr>
          <p:cNvPr id="328" name="Google Shape;328;p11"/>
          <p:cNvSpPr/>
          <p:nvPr/>
        </p:nvSpPr>
        <p:spPr>
          <a:xfrm>
            <a:off x="3977640" y="3291840"/>
            <a:ext cx="1828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Celebrate the wins</a:t>
            </a:r>
            <a:endParaRPr sz="1500">
              <a:solidFill>
                <a:schemeClr val="dk1"/>
              </a:solidFill>
              <a:latin typeface="Calibri"/>
              <a:ea typeface="Calibri"/>
              <a:cs typeface="Calibri"/>
              <a:sym typeface="Calibri"/>
            </a:endParaRPr>
          </a:p>
        </p:txBody>
      </p:sp>
      <p:sp>
        <p:nvSpPr>
          <p:cNvPr id="329" name="Google Shape;329;p11"/>
          <p:cNvSpPr/>
          <p:nvPr/>
        </p:nvSpPr>
        <p:spPr>
          <a:xfrm>
            <a:off x="3429000" y="3840480"/>
            <a:ext cx="2423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When a WOW lands or a tough close succeeds, share the energy. High floors stay high because people feed each other.</a:t>
            </a:r>
            <a:endParaRPr sz="1300">
              <a:solidFill>
                <a:schemeClr val="dk1"/>
              </a:solidFill>
              <a:latin typeface="Calibri"/>
              <a:ea typeface="Calibri"/>
              <a:cs typeface="Calibri"/>
              <a:sym typeface="Calibri"/>
            </a:endParaRPr>
          </a:p>
        </p:txBody>
      </p:sp>
      <p:sp>
        <p:nvSpPr>
          <p:cNvPr id="330" name="Google Shape;330;p11"/>
          <p:cNvSpPr/>
          <p:nvPr/>
        </p:nvSpPr>
        <p:spPr>
          <a:xfrm>
            <a:off x="6172200" y="3017520"/>
            <a:ext cx="2788920" cy="1737360"/>
          </a:xfrm>
          <a:prstGeom prst="roundRect">
            <a:avLst>
              <a:gd fmla="val 5263"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p:nvPr/>
        </p:nvSpPr>
        <p:spPr>
          <a:xfrm>
            <a:off x="6355080" y="3246120"/>
            <a:ext cx="411480" cy="4114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1"/>
          <p:cNvSpPr/>
          <p:nvPr/>
        </p:nvSpPr>
        <p:spPr>
          <a:xfrm>
            <a:off x="6355080" y="32461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6</a:t>
            </a:r>
            <a:endParaRPr sz="1600">
              <a:solidFill>
                <a:schemeClr val="dk1"/>
              </a:solidFill>
              <a:latin typeface="Calibri"/>
              <a:ea typeface="Calibri"/>
              <a:cs typeface="Calibri"/>
              <a:sym typeface="Calibri"/>
            </a:endParaRPr>
          </a:p>
        </p:txBody>
      </p:sp>
      <p:sp>
        <p:nvSpPr>
          <p:cNvPr id="333" name="Google Shape;333;p11"/>
          <p:cNvSpPr/>
          <p:nvPr/>
        </p:nvSpPr>
        <p:spPr>
          <a:xfrm>
            <a:off x="6903720" y="3291840"/>
            <a:ext cx="1828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Ask for the 1:1</a:t>
            </a:r>
            <a:endParaRPr sz="1500">
              <a:solidFill>
                <a:schemeClr val="dk1"/>
              </a:solidFill>
              <a:latin typeface="Calibri"/>
              <a:ea typeface="Calibri"/>
              <a:cs typeface="Calibri"/>
              <a:sym typeface="Calibri"/>
            </a:endParaRPr>
          </a:p>
        </p:txBody>
      </p:sp>
      <p:sp>
        <p:nvSpPr>
          <p:cNvPr id="334" name="Google Shape;334;p11"/>
          <p:cNvSpPr/>
          <p:nvPr/>
        </p:nvSpPr>
        <p:spPr>
          <a:xfrm>
            <a:off x="6355080" y="3840480"/>
            <a:ext cx="2423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Bring patterns you notice. The weekly touch-base is most powerful when you arrive with something specific to grow.</a:t>
            </a:r>
            <a:endParaRPr sz="1300">
              <a:solidFill>
                <a:schemeClr val="dk1"/>
              </a:solidFill>
              <a:latin typeface="Calibri"/>
              <a:ea typeface="Calibri"/>
              <a:cs typeface="Calibri"/>
              <a:sym typeface="Calibri"/>
            </a:endParaRPr>
          </a:p>
        </p:txBody>
      </p:sp>
      <p:pic>
        <p:nvPicPr>
          <p:cNvPr id="335" name="Google Shape;335;p11" title="grok-image-6bee5419-570b-4123-8542-27b02a1104ea (1)-Picsart-BackgroundRemover (1).jpg"/>
          <p:cNvPicPr preferRelativeResize="0"/>
          <p:nvPr/>
        </p:nvPicPr>
        <p:blipFill>
          <a:blip r:embed="rId3">
            <a:alphaModFix/>
          </a:blip>
          <a:stretch>
            <a:fillRect/>
          </a:stretch>
        </p:blipFill>
        <p:spPr>
          <a:xfrm>
            <a:off x="-5" y="4583420"/>
            <a:ext cx="840107" cy="560075"/>
          </a:xfrm>
          <a:prstGeom prst="rect">
            <a:avLst/>
          </a:prstGeom>
          <a:noFill/>
          <a:ln>
            <a:noFill/>
          </a:ln>
        </p:spPr>
      </p:pic>
      <p:pic>
        <p:nvPicPr>
          <p:cNvPr id="336" name="Google Shape;336;p11" title="Picture1.png"/>
          <p:cNvPicPr preferRelativeResize="0"/>
          <p:nvPr/>
        </p:nvPicPr>
        <p:blipFill>
          <a:blip r:embed="rId4">
            <a:alphaModFix/>
          </a:blip>
          <a:stretch>
            <a:fillRect/>
          </a:stretch>
        </p:blipFill>
        <p:spPr>
          <a:xfrm>
            <a:off x="8595350" y="4587675"/>
            <a:ext cx="502400" cy="502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sp>
        <p:nvSpPr>
          <p:cNvPr id="342" name="Google Shape;342;p12"/>
          <p:cNvSpPr/>
          <p:nvPr/>
        </p:nvSpPr>
        <p:spPr>
          <a:xfrm>
            <a:off x="0" y="0"/>
            <a:ext cx="9144000" cy="82296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2"/>
          <p:cNvSpPr/>
          <p:nvPr/>
        </p:nvSpPr>
        <p:spPr>
          <a:xfrm>
            <a:off x="457200" y="22860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ial"/>
              <a:buNone/>
            </a:pPr>
            <a:r>
              <a:rPr b="1" lang="en-US" sz="2200">
                <a:solidFill>
                  <a:srgbClr val="FFFFFF"/>
                </a:solidFill>
                <a:latin typeface="Arial"/>
                <a:ea typeface="Arial"/>
                <a:cs typeface="Arial"/>
                <a:sym typeface="Arial"/>
              </a:rPr>
              <a:t>Specialist Quick Reference — Working with CARE</a:t>
            </a:r>
            <a:endParaRPr sz="2200">
              <a:solidFill>
                <a:schemeClr val="dk1"/>
              </a:solidFill>
              <a:latin typeface="Calibri"/>
              <a:ea typeface="Calibri"/>
              <a:cs typeface="Calibri"/>
              <a:sym typeface="Calibri"/>
            </a:endParaRPr>
          </a:p>
        </p:txBody>
      </p:sp>
      <p:sp>
        <p:nvSpPr>
          <p:cNvPr id="344" name="Google Shape;344;p12"/>
          <p:cNvSpPr/>
          <p:nvPr/>
        </p:nvSpPr>
        <p:spPr>
          <a:xfrm>
            <a:off x="320040" y="1051560"/>
            <a:ext cx="4206240" cy="3749040"/>
          </a:xfrm>
          <a:prstGeom prst="roundRect">
            <a:avLst>
              <a:gd fmla="val 2439" name="adj"/>
            </a:avLst>
          </a:prstGeom>
          <a:solidFill>
            <a:srgbClr val="F0FD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2"/>
          <p:cNvSpPr/>
          <p:nvPr/>
        </p:nvSpPr>
        <p:spPr>
          <a:xfrm>
            <a:off x="502920" y="1234440"/>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500"/>
              <a:buFont typeface="Arial"/>
              <a:buNone/>
            </a:pPr>
            <a:r>
              <a:rPr b="1" lang="en-US" sz="1500">
                <a:solidFill>
                  <a:srgbClr val="0F766E"/>
                </a:solidFill>
                <a:latin typeface="Arial"/>
                <a:ea typeface="Arial"/>
                <a:cs typeface="Arial"/>
                <a:sym typeface="Arial"/>
              </a:rPr>
              <a:t>CARE — What It Means for You</a:t>
            </a:r>
            <a:endParaRPr sz="1500">
              <a:solidFill>
                <a:schemeClr val="dk1"/>
              </a:solidFill>
              <a:latin typeface="Calibri"/>
              <a:ea typeface="Calibri"/>
              <a:cs typeface="Calibri"/>
              <a:sym typeface="Calibri"/>
            </a:endParaRPr>
          </a:p>
        </p:txBody>
      </p:sp>
      <p:sp>
        <p:nvSpPr>
          <p:cNvPr id="346" name="Google Shape;346;p12"/>
          <p:cNvSpPr/>
          <p:nvPr/>
        </p:nvSpPr>
        <p:spPr>
          <a:xfrm>
            <a:off x="548640" y="1737360"/>
            <a:ext cx="411480" cy="4114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2"/>
          <p:cNvSpPr/>
          <p:nvPr/>
        </p:nvSpPr>
        <p:spPr>
          <a:xfrm>
            <a:off x="548640" y="173736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C</a:t>
            </a:r>
            <a:endParaRPr sz="1600">
              <a:solidFill>
                <a:schemeClr val="dk1"/>
              </a:solidFill>
              <a:latin typeface="Calibri"/>
              <a:ea typeface="Calibri"/>
              <a:cs typeface="Calibri"/>
              <a:sym typeface="Calibri"/>
            </a:endParaRPr>
          </a:p>
        </p:txBody>
      </p:sp>
      <p:sp>
        <p:nvSpPr>
          <p:cNvPr id="348" name="Google Shape;348;p12"/>
          <p:cNvSpPr/>
          <p:nvPr/>
        </p:nvSpPr>
        <p:spPr>
          <a:xfrm>
            <a:off x="1097280" y="169164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Connect</a:t>
            </a:r>
            <a:endParaRPr sz="1500">
              <a:solidFill>
                <a:schemeClr val="dk1"/>
              </a:solidFill>
              <a:latin typeface="Calibri"/>
              <a:ea typeface="Calibri"/>
              <a:cs typeface="Calibri"/>
              <a:sym typeface="Calibri"/>
            </a:endParaRPr>
          </a:p>
        </p:txBody>
      </p:sp>
      <p:sp>
        <p:nvSpPr>
          <p:cNvPr id="349" name="Google Shape;349;p12"/>
          <p:cNvSpPr/>
          <p:nvPr/>
        </p:nvSpPr>
        <p:spPr>
          <a:xfrm>
            <a:off x="1097280" y="196596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They greet &amp; hand off so you start warm.</a:t>
            </a:r>
            <a:endParaRPr sz="1300">
              <a:solidFill>
                <a:schemeClr val="dk1"/>
              </a:solidFill>
              <a:latin typeface="Calibri"/>
              <a:ea typeface="Calibri"/>
              <a:cs typeface="Calibri"/>
              <a:sym typeface="Calibri"/>
            </a:endParaRPr>
          </a:p>
        </p:txBody>
      </p:sp>
      <p:sp>
        <p:nvSpPr>
          <p:cNvPr id="350" name="Google Shape;350;p12"/>
          <p:cNvSpPr/>
          <p:nvPr/>
        </p:nvSpPr>
        <p:spPr>
          <a:xfrm>
            <a:off x="548640" y="2423160"/>
            <a:ext cx="411480" cy="4114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2"/>
          <p:cNvSpPr/>
          <p:nvPr/>
        </p:nvSpPr>
        <p:spPr>
          <a:xfrm>
            <a:off x="548640" y="242316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A</a:t>
            </a:r>
            <a:endParaRPr sz="1600">
              <a:solidFill>
                <a:schemeClr val="dk1"/>
              </a:solidFill>
              <a:latin typeface="Calibri"/>
              <a:ea typeface="Calibri"/>
              <a:cs typeface="Calibri"/>
              <a:sym typeface="Calibri"/>
            </a:endParaRPr>
          </a:p>
        </p:txBody>
      </p:sp>
      <p:sp>
        <p:nvSpPr>
          <p:cNvPr id="352" name="Google Shape;352;p12"/>
          <p:cNvSpPr/>
          <p:nvPr/>
        </p:nvSpPr>
        <p:spPr>
          <a:xfrm>
            <a:off x="1097280" y="237744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Assess</a:t>
            </a:r>
            <a:endParaRPr sz="1500">
              <a:solidFill>
                <a:schemeClr val="dk1"/>
              </a:solidFill>
              <a:latin typeface="Calibri"/>
              <a:ea typeface="Calibri"/>
              <a:cs typeface="Calibri"/>
              <a:sym typeface="Calibri"/>
            </a:endParaRPr>
          </a:p>
        </p:txBody>
      </p:sp>
      <p:sp>
        <p:nvSpPr>
          <p:cNvPr id="353" name="Google Shape;353;p12"/>
          <p:cNvSpPr/>
          <p:nvPr/>
        </p:nvSpPr>
        <p:spPr>
          <a:xfrm>
            <a:off x="1097280" y="265176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They watch every demo to protect or rescue.</a:t>
            </a:r>
            <a:endParaRPr sz="1300">
              <a:solidFill>
                <a:schemeClr val="dk1"/>
              </a:solidFill>
              <a:latin typeface="Calibri"/>
              <a:ea typeface="Calibri"/>
              <a:cs typeface="Calibri"/>
              <a:sym typeface="Calibri"/>
            </a:endParaRPr>
          </a:p>
        </p:txBody>
      </p:sp>
      <p:sp>
        <p:nvSpPr>
          <p:cNvPr id="354" name="Google Shape;354;p12"/>
          <p:cNvSpPr/>
          <p:nvPr/>
        </p:nvSpPr>
        <p:spPr>
          <a:xfrm>
            <a:off x="548640" y="3108960"/>
            <a:ext cx="411480" cy="4114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2"/>
          <p:cNvSpPr/>
          <p:nvPr/>
        </p:nvSpPr>
        <p:spPr>
          <a:xfrm>
            <a:off x="548640" y="310896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R</a:t>
            </a:r>
            <a:endParaRPr sz="1600">
              <a:solidFill>
                <a:schemeClr val="dk1"/>
              </a:solidFill>
              <a:latin typeface="Calibri"/>
              <a:ea typeface="Calibri"/>
              <a:cs typeface="Calibri"/>
              <a:sym typeface="Calibri"/>
            </a:endParaRPr>
          </a:p>
        </p:txBody>
      </p:sp>
      <p:sp>
        <p:nvSpPr>
          <p:cNvPr id="356" name="Google Shape;356;p12"/>
          <p:cNvSpPr/>
          <p:nvPr/>
        </p:nvSpPr>
        <p:spPr>
          <a:xfrm>
            <a:off x="1097280" y="306324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Respond</a:t>
            </a:r>
            <a:endParaRPr sz="1500">
              <a:solidFill>
                <a:schemeClr val="dk1"/>
              </a:solidFill>
              <a:latin typeface="Calibri"/>
              <a:ea typeface="Calibri"/>
              <a:cs typeface="Calibri"/>
              <a:sym typeface="Calibri"/>
            </a:endParaRPr>
          </a:p>
        </p:txBody>
      </p:sp>
      <p:sp>
        <p:nvSpPr>
          <p:cNvPr id="357" name="Google Shape;357;p12"/>
          <p:cNvSpPr/>
          <p:nvPr/>
        </p:nvSpPr>
        <p:spPr>
          <a:xfrm>
            <a:off x="1097280" y="333756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They step in with AAH, then hand back.</a:t>
            </a:r>
            <a:endParaRPr sz="1300">
              <a:solidFill>
                <a:schemeClr val="dk1"/>
              </a:solidFill>
              <a:latin typeface="Calibri"/>
              <a:ea typeface="Calibri"/>
              <a:cs typeface="Calibri"/>
              <a:sym typeface="Calibri"/>
            </a:endParaRPr>
          </a:p>
        </p:txBody>
      </p:sp>
      <p:sp>
        <p:nvSpPr>
          <p:cNvPr id="358" name="Google Shape;358;p12"/>
          <p:cNvSpPr/>
          <p:nvPr/>
        </p:nvSpPr>
        <p:spPr>
          <a:xfrm>
            <a:off x="548640" y="3794760"/>
            <a:ext cx="411480" cy="4114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2"/>
          <p:cNvSpPr/>
          <p:nvPr/>
        </p:nvSpPr>
        <p:spPr>
          <a:xfrm>
            <a:off x="548640" y="379476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E</a:t>
            </a:r>
            <a:endParaRPr sz="1600">
              <a:solidFill>
                <a:schemeClr val="dk1"/>
              </a:solidFill>
              <a:latin typeface="Calibri"/>
              <a:ea typeface="Calibri"/>
              <a:cs typeface="Calibri"/>
              <a:sym typeface="Calibri"/>
            </a:endParaRPr>
          </a:p>
        </p:txBody>
      </p:sp>
      <p:sp>
        <p:nvSpPr>
          <p:cNvPr id="360" name="Google Shape;360;p12"/>
          <p:cNvSpPr/>
          <p:nvPr/>
        </p:nvSpPr>
        <p:spPr>
          <a:xfrm>
            <a:off x="1097280" y="374904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Elevate</a:t>
            </a:r>
            <a:endParaRPr sz="1500">
              <a:solidFill>
                <a:schemeClr val="dk1"/>
              </a:solidFill>
              <a:latin typeface="Calibri"/>
              <a:ea typeface="Calibri"/>
              <a:cs typeface="Calibri"/>
              <a:sym typeface="Calibri"/>
            </a:endParaRPr>
          </a:p>
        </p:txBody>
      </p:sp>
      <p:sp>
        <p:nvSpPr>
          <p:cNvPr id="361" name="Google Shape;361;p12"/>
          <p:cNvSpPr/>
          <p:nvPr/>
        </p:nvSpPr>
        <p:spPr>
          <a:xfrm>
            <a:off x="1097280" y="402336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They coach in the moment, backroom &amp; 1:1.</a:t>
            </a:r>
            <a:endParaRPr sz="1300">
              <a:solidFill>
                <a:schemeClr val="dk1"/>
              </a:solidFill>
              <a:latin typeface="Calibri"/>
              <a:ea typeface="Calibri"/>
              <a:cs typeface="Calibri"/>
              <a:sym typeface="Calibri"/>
            </a:endParaRPr>
          </a:p>
        </p:txBody>
      </p:sp>
      <p:sp>
        <p:nvSpPr>
          <p:cNvPr id="362" name="Google Shape;362;p12"/>
          <p:cNvSpPr/>
          <p:nvPr/>
        </p:nvSpPr>
        <p:spPr>
          <a:xfrm>
            <a:off x="4709160" y="1051560"/>
            <a:ext cx="4114800" cy="3749040"/>
          </a:xfrm>
          <a:prstGeom prst="roundRect">
            <a:avLst>
              <a:gd fmla="val 2439"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2"/>
          <p:cNvSpPr/>
          <p:nvPr/>
        </p:nvSpPr>
        <p:spPr>
          <a:xfrm>
            <a:off x="4892040" y="1234440"/>
            <a:ext cx="3749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500"/>
              <a:buFont typeface="Arial"/>
              <a:buNone/>
            </a:pPr>
            <a:r>
              <a:rPr b="1" lang="en-US" sz="1500">
                <a:solidFill>
                  <a:srgbClr val="0F766E"/>
                </a:solidFill>
                <a:latin typeface="Arial"/>
                <a:ea typeface="Arial"/>
                <a:cs typeface="Arial"/>
                <a:sym typeface="Arial"/>
              </a:rPr>
              <a:t>AAH — When They Step In</a:t>
            </a:r>
            <a:endParaRPr sz="1500">
              <a:solidFill>
                <a:schemeClr val="dk1"/>
              </a:solidFill>
              <a:latin typeface="Calibri"/>
              <a:ea typeface="Calibri"/>
              <a:cs typeface="Calibri"/>
              <a:sym typeface="Calibri"/>
            </a:endParaRPr>
          </a:p>
        </p:txBody>
      </p:sp>
      <p:sp>
        <p:nvSpPr>
          <p:cNvPr id="364" name="Google Shape;364;p12"/>
          <p:cNvSpPr/>
          <p:nvPr/>
        </p:nvSpPr>
        <p:spPr>
          <a:xfrm>
            <a:off x="4937760" y="1783080"/>
            <a:ext cx="411480" cy="4114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2"/>
          <p:cNvSpPr/>
          <p:nvPr/>
        </p:nvSpPr>
        <p:spPr>
          <a:xfrm>
            <a:off x="4937760" y="178308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A</a:t>
            </a:r>
            <a:endParaRPr sz="1600">
              <a:solidFill>
                <a:schemeClr val="dk1"/>
              </a:solidFill>
              <a:latin typeface="Calibri"/>
              <a:ea typeface="Calibri"/>
              <a:cs typeface="Calibri"/>
              <a:sym typeface="Calibri"/>
            </a:endParaRPr>
          </a:p>
        </p:txBody>
      </p:sp>
      <p:sp>
        <p:nvSpPr>
          <p:cNvPr id="366" name="Google Shape;366;p12"/>
          <p:cNvSpPr/>
          <p:nvPr/>
        </p:nvSpPr>
        <p:spPr>
          <a:xfrm>
            <a:off x="5486400" y="173736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Acknowledge</a:t>
            </a:r>
            <a:endParaRPr sz="1500">
              <a:solidFill>
                <a:schemeClr val="dk1"/>
              </a:solidFill>
              <a:latin typeface="Calibri"/>
              <a:ea typeface="Calibri"/>
              <a:cs typeface="Calibri"/>
              <a:sym typeface="Calibri"/>
            </a:endParaRPr>
          </a:p>
        </p:txBody>
      </p:sp>
      <p:sp>
        <p:nvSpPr>
          <p:cNvPr id="367" name="Google Shape;367;p12"/>
          <p:cNvSpPr/>
          <p:nvPr/>
        </p:nvSpPr>
        <p:spPr>
          <a:xfrm>
            <a:off x="5486400" y="205740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"I want to add to what [Name] is showing you."</a:t>
            </a:r>
            <a:endParaRPr sz="1300">
              <a:solidFill>
                <a:schemeClr val="dk1"/>
              </a:solidFill>
              <a:latin typeface="Calibri"/>
              <a:ea typeface="Calibri"/>
              <a:cs typeface="Calibri"/>
              <a:sym typeface="Calibri"/>
            </a:endParaRPr>
          </a:p>
        </p:txBody>
      </p:sp>
      <p:sp>
        <p:nvSpPr>
          <p:cNvPr id="368" name="Google Shape;368;p12"/>
          <p:cNvSpPr/>
          <p:nvPr/>
        </p:nvSpPr>
        <p:spPr>
          <a:xfrm>
            <a:off x="4937760" y="2697480"/>
            <a:ext cx="411480" cy="4114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2"/>
          <p:cNvSpPr/>
          <p:nvPr/>
        </p:nvSpPr>
        <p:spPr>
          <a:xfrm>
            <a:off x="4937760" y="269748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A</a:t>
            </a:r>
            <a:endParaRPr sz="1600">
              <a:solidFill>
                <a:schemeClr val="dk1"/>
              </a:solidFill>
              <a:latin typeface="Calibri"/>
              <a:ea typeface="Calibri"/>
              <a:cs typeface="Calibri"/>
              <a:sym typeface="Calibri"/>
            </a:endParaRPr>
          </a:p>
        </p:txBody>
      </p:sp>
      <p:sp>
        <p:nvSpPr>
          <p:cNvPr id="370" name="Google Shape;370;p12"/>
          <p:cNvSpPr/>
          <p:nvPr/>
        </p:nvSpPr>
        <p:spPr>
          <a:xfrm>
            <a:off x="5486400" y="265176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Add Value</a:t>
            </a:r>
            <a:endParaRPr sz="1500">
              <a:solidFill>
                <a:schemeClr val="dk1"/>
              </a:solidFill>
              <a:latin typeface="Calibri"/>
              <a:ea typeface="Calibri"/>
              <a:cs typeface="Calibri"/>
              <a:sym typeface="Calibri"/>
            </a:endParaRPr>
          </a:p>
        </p:txBody>
      </p:sp>
      <p:sp>
        <p:nvSpPr>
          <p:cNvPr id="371" name="Google Shape;371;p12"/>
          <p:cNvSpPr/>
          <p:nvPr/>
        </p:nvSpPr>
        <p:spPr>
          <a:xfrm>
            <a:off x="5486400" y="297180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They name the change the Client can feel.</a:t>
            </a:r>
            <a:endParaRPr sz="1300">
              <a:solidFill>
                <a:schemeClr val="dk1"/>
              </a:solidFill>
              <a:latin typeface="Calibri"/>
              <a:ea typeface="Calibri"/>
              <a:cs typeface="Calibri"/>
              <a:sym typeface="Calibri"/>
            </a:endParaRPr>
          </a:p>
        </p:txBody>
      </p:sp>
      <p:sp>
        <p:nvSpPr>
          <p:cNvPr id="372" name="Google Shape;372;p12"/>
          <p:cNvSpPr/>
          <p:nvPr/>
        </p:nvSpPr>
        <p:spPr>
          <a:xfrm>
            <a:off x="4937760" y="3611880"/>
            <a:ext cx="411480" cy="411480"/>
          </a:xfrm>
          <a:prstGeom prst="ellipse">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2"/>
          <p:cNvSpPr/>
          <p:nvPr/>
        </p:nvSpPr>
        <p:spPr>
          <a:xfrm>
            <a:off x="4937760" y="361188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H</a:t>
            </a:r>
            <a:endParaRPr sz="1600">
              <a:solidFill>
                <a:schemeClr val="dk1"/>
              </a:solidFill>
              <a:latin typeface="Calibri"/>
              <a:ea typeface="Calibri"/>
              <a:cs typeface="Calibri"/>
              <a:sym typeface="Calibri"/>
            </a:endParaRPr>
          </a:p>
        </p:txBody>
      </p:sp>
      <p:sp>
        <p:nvSpPr>
          <p:cNvPr id="374" name="Google Shape;374;p12"/>
          <p:cNvSpPr/>
          <p:nvPr/>
        </p:nvSpPr>
        <p:spPr>
          <a:xfrm>
            <a:off x="5486400" y="356616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Arial"/>
              <a:buNone/>
            </a:pPr>
            <a:r>
              <a:rPr b="1" lang="en-US" sz="1500">
                <a:solidFill>
                  <a:srgbClr val="0F172A"/>
                </a:solidFill>
                <a:latin typeface="Arial"/>
                <a:ea typeface="Arial"/>
                <a:cs typeface="Arial"/>
                <a:sym typeface="Arial"/>
              </a:rPr>
              <a:t>Hand Back</a:t>
            </a:r>
            <a:endParaRPr sz="1500">
              <a:solidFill>
                <a:schemeClr val="dk1"/>
              </a:solidFill>
              <a:latin typeface="Calibri"/>
              <a:ea typeface="Calibri"/>
              <a:cs typeface="Calibri"/>
              <a:sym typeface="Calibri"/>
            </a:endParaRPr>
          </a:p>
        </p:txBody>
      </p:sp>
      <p:sp>
        <p:nvSpPr>
          <p:cNvPr id="375" name="Google Shape;375;p12"/>
          <p:cNvSpPr/>
          <p:nvPr/>
        </p:nvSpPr>
        <p:spPr>
          <a:xfrm>
            <a:off x="5486400" y="388620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Arial"/>
              <a:buNone/>
            </a:pPr>
            <a:r>
              <a:rPr lang="en-US" sz="1300">
                <a:solidFill>
                  <a:srgbClr val="1E293B"/>
                </a:solidFill>
                <a:latin typeface="Arial"/>
                <a:ea typeface="Arial"/>
                <a:cs typeface="Arial"/>
                <a:sym typeface="Arial"/>
              </a:rPr>
              <a:t>"[Name] will walk you through the next step."</a:t>
            </a:r>
            <a:endParaRPr sz="1300">
              <a:solidFill>
                <a:schemeClr val="dk1"/>
              </a:solidFill>
              <a:latin typeface="Calibri"/>
              <a:ea typeface="Calibri"/>
              <a:cs typeface="Calibri"/>
              <a:sym typeface="Calibri"/>
            </a:endParaRPr>
          </a:p>
        </p:txBody>
      </p:sp>
      <p:pic>
        <p:nvPicPr>
          <p:cNvPr id="376" name="Google Shape;376;p12" title="grok-image-6bee5419-570b-4123-8542-27b02a1104ea (1)-Picsart-BackgroundRemover (1).jpg"/>
          <p:cNvPicPr preferRelativeResize="0"/>
          <p:nvPr/>
        </p:nvPicPr>
        <p:blipFill>
          <a:blip r:embed="rId3">
            <a:alphaModFix/>
          </a:blip>
          <a:stretch>
            <a:fillRect/>
          </a:stretch>
        </p:blipFill>
        <p:spPr>
          <a:xfrm>
            <a:off x="-5" y="4583420"/>
            <a:ext cx="840107" cy="560075"/>
          </a:xfrm>
          <a:prstGeom prst="rect">
            <a:avLst/>
          </a:prstGeom>
          <a:noFill/>
          <a:ln>
            <a:noFill/>
          </a:ln>
        </p:spPr>
      </p:pic>
      <p:pic>
        <p:nvPicPr>
          <p:cNvPr id="377" name="Google Shape;377;p12" title="Picture1.png"/>
          <p:cNvPicPr preferRelativeResize="0"/>
          <p:nvPr/>
        </p:nvPicPr>
        <p:blipFill>
          <a:blip r:embed="rId4">
            <a:alphaModFix/>
          </a:blip>
          <a:stretch>
            <a:fillRect/>
          </a:stretch>
        </p:blipFill>
        <p:spPr>
          <a:xfrm>
            <a:off x="8595350" y="4587675"/>
            <a:ext cx="502400" cy="502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C78D8"/>
        </a:solidFill>
      </p:bgPr>
    </p:bg>
    <p:spTree>
      <p:nvGrpSpPr>
        <p:cNvPr id="382" name="Shape 382"/>
        <p:cNvGrpSpPr/>
        <p:nvPr/>
      </p:nvGrpSpPr>
      <p:grpSpPr>
        <a:xfrm>
          <a:off x="0" y="0"/>
          <a:ext cx="0" cy="0"/>
          <a:chOff x="0" y="0"/>
          <a:chExt cx="0" cy="0"/>
        </a:xfrm>
      </p:grpSpPr>
      <p:sp>
        <p:nvSpPr>
          <p:cNvPr id="383" name="Google Shape;383;p13"/>
          <p:cNvSpPr/>
          <p:nvPr/>
        </p:nvSpPr>
        <p:spPr>
          <a:xfrm>
            <a:off x="502840" y="1425025"/>
            <a:ext cx="80466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Arial"/>
              <a:buNone/>
            </a:pPr>
            <a:r>
              <a:rPr b="1" lang="en-US" sz="3200">
                <a:solidFill>
                  <a:srgbClr val="FFFFFF"/>
                </a:solidFill>
                <a:latin typeface="Arial"/>
                <a:ea typeface="Arial"/>
                <a:cs typeface="Arial"/>
                <a:sym typeface="Arial"/>
              </a:rPr>
              <a:t>You and your Floor Leader</a:t>
            </a:r>
            <a:endParaRPr sz="32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200"/>
              <a:buFont typeface="Arial"/>
              <a:buNone/>
            </a:pPr>
            <a:r>
              <a:rPr b="1" lang="en-US" sz="3200">
                <a:solidFill>
                  <a:srgbClr val="FFFFFF"/>
                </a:solidFill>
                <a:latin typeface="Arial"/>
                <a:ea typeface="Arial"/>
                <a:cs typeface="Arial"/>
                <a:sym typeface="Arial"/>
              </a:rPr>
              <a:t>are a team.</a:t>
            </a:r>
            <a:endParaRPr sz="3200">
              <a:solidFill>
                <a:schemeClr val="dk1"/>
              </a:solidFill>
              <a:latin typeface="Calibri"/>
              <a:ea typeface="Calibri"/>
              <a:cs typeface="Calibri"/>
              <a:sym typeface="Calibri"/>
            </a:endParaRPr>
          </a:p>
        </p:txBody>
      </p:sp>
      <p:sp>
        <p:nvSpPr>
          <p:cNvPr id="384" name="Google Shape;384;p13"/>
          <p:cNvSpPr/>
          <p:nvPr/>
        </p:nvSpPr>
        <p:spPr>
          <a:xfrm>
            <a:off x="548640" y="2834640"/>
            <a:ext cx="80467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800"/>
              <a:buFont typeface="Arial"/>
              <a:buNone/>
            </a:pPr>
            <a:r>
              <a:rPr lang="en-US" sz="1800">
                <a:solidFill>
                  <a:srgbClr val="94A3B8"/>
                </a:solidFill>
                <a:latin typeface="Arial"/>
                <a:ea typeface="Arial"/>
                <a:cs typeface="Arial"/>
                <a:sym typeface="Arial"/>
              </a:rPr>
              <a:t>When they lead with CARE and you stay open, Clients feel it,</a:t>
            </a:r>
            <a:endParaRPr sz="1800">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800"/>
              <a:buFont typeface="Arial"/>
              <a:buNone/>
            </a:pPr>
            <a:r>
              <a:rPr lang="en-US" sz="1800">
                <a:solidFill>
                  <a:srgbClr val="94A3B8"/>
                </a:solidFill>
                <a:latin typeface="Arial"/>
                <a:ea typeface="Arial"/>
                <a:cs typeface="Arial"/>
                <a:sym typeface="Arial"/>
              </a:rPr>
              <a:t>your confidence grows, and Remarkable results follow.</a:t>
            </a:r>
            <a:endParaRPr sz="1800">
              <a:solidFill>
                <a:schemeClr val="dk1"/>
              </a:solidFill>
              <a:latin typeface="Calibri"/>
              <a:ea typeface="Calibri"/>
              <a:cs typeface="Calibri"/>
              <a:sym typeface="Calibri"/>
            </a:endParaRPr>
          </a:p>
        </p:txBody>
      </p:sp>
      <p:sp>
        <p:nvSpPr>
          <p:cNvPr id="385" name="Google Shape;385;p13"/>
          <p:cNvSpPr/>
          <p:nvPr/>
        </p:nvSpPr>
        <p:spPr>
          <a:xfrm>
            <a:off x="548640" y="3840480"/>
            <a:ext cx="8046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600"/>
              <a:buFont typeface="Arial"/>
              <a:buNone/>
            </a:pPr>
            <a:r>
              <a:rPr i="1" lang="en-US" sz="1600">
                <a:solidFill>
                  <a:srgbClr val="14B8A6"/>
                </a:solidFill>
                <a:latin typeface="Arial"/>
                <a:ea typeface="Arial"/>
                <a:cs typeface="Arial"/>
                <a:sym typeface="Arial"/>
              </a:rPr>
              <a:t>Client service equals happy Clients.</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14B8A6"/>
              </a:buClr>
              <a:buSzPts val="1600"/>
              <a:buFont typeface="Arial"/>
              <a:buNone/>
            </a:pPr>
            <a:r>
              <a:rPr i="1" lang="en-US" sz="1600">
                <a:solidFill>
                  <a:srgbClr val="14B8A6"/>
                </a:solidFill>
                <a:latin typeface="Arial"/>
                <a:ea typeface="Arial"/>
                <a:cs typeface="Arial"/>
                <a:sym typeface="Arial"/>
              </a:rPr>
              <a:t>Happy Clients equal high sales.</a:t>
            </a:r>
            <a:endParaRPr sz="1600">
              <a:solidFill>
                <a:schemeClr val="dk1"/>
              </a:solidFill>
              <a:latin typeface="Calibri"/>
              <a:ea typeface="Calibri"/>
              <a:cs typeface="Calibri"/>
              <a:sym typeface="Calibri"/>
            </a:endParaRPr>
          </a:p>
        </p:txBody>
      </p:sp>
      <p:pic>
        <p:nvPicPr>
          <p:cNvPr id="386" name="Google Shape;386;p13" title="grok-image-6bee5419-570b-4123-8542-27b02a1104ea (1)-Picsart-BackgroundRemover (1).jpg"/>
          <p:cNvPicPr preferRelativeResize="0"/>
          <p:nvPr/>
        </p:nvPicPr>
        <p:blipFill>
          <a:blip r:embed="rId3">
            <a:alphaModFix/>
          </a:blip>
          <a:stretch>
            <a:fillRect/>
          </a:stretch>
        </p:blipFill>
        <p:spPr>
          <a:xfrm>
            <a:off x="84995" y="4583420"/>
            <a:ext cx="840107" cy="560075"/>
          </a:xfrm>
          <a:prstGeom prst="rect">
            <a:avLst/>
          </a:prstGeom>
          <a:noFill/>
          <a:ln>
            <a:noFill/>
          </a:ln>
        </p:spPr>
      </p:pic>
      <p:pic>
        <p:nvPicPr>
          <p:cNvPr id="387" name="Google Shape;387;p13" title="Picture1.png"/>
          <p:cNvPicPr preferRelativeResize="0"/>
          <p:nvPr/>
        </p:nvPicPr>
        <p:blipFill>
          <a:blip r:embed="rId4">
            <a:alphaModFix/>
          </a:blip>
          <a:stretch>
            <a:fillRect/>
          </a:stretch>
        </p:blipFill>
        <p:spPr>
          <a:xfrm>
            <a:off x="8595350" y="4587675"/>
            <a:ext cx="502400" cy="502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2026-07-27T15:19:11Z</dcterms:created>
  <dc:creator>Waterman Arch Supports · The Good Feet Store</dc:creator>
</cp:coreProperties>
</file>