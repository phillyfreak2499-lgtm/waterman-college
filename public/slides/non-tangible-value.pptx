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jQDo/NkNAmZTUv+nX3vrppbQqn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55ED373-4679-4BB5-8166-60A64B6A08C9}">
  <a:tblStyle styleId="{655ED373-4679-4BB5-8166-60A64B6A08C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8" name="Google Shape;98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" name="Google Shape;144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" name="Google Shape;167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0" name="Google Shape;180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1" name="Google Shape;221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7" name="Google Shape;247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6" name="Google Shape;266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2" name="Google Shape;292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8" name="Google Shape;318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7" name="Google Shape;347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6" name="Google Shape;376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9" name="Google Shape;389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9" name="Google Shape;409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1" name="Google Shape;441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Relationship Id="rId4" Type="http://schemas.openxmlformats.org/officeDocument/2006/relationships/image" Target="../media/image4.jp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Relationship Id="rId4" Type="http://schemas.openxmlformats.org/officeDocument/2006/relationships/image" Target="../media/image3.jp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g"/><Relationship Id="rId4" Type="http://schemas.openxmlformats.org/officeDocument/2006/relationships/image" Target="../media/image9.jp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workdir/artifacts/nt_media/image1.png" id="13" name="Google Shape;1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11863" y="492151"/>
            <a:ext cx="2231366" cy="223136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"/>
          <p:cNvSpPr/>
          <p:nvPr/>
        </p:nvSpPr>
        <p:spPr>
          <a:xfrm>
            <a:off x="640350" y="2601425"/>
            <a:ext cx="11247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Non-Tangible Value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1371600" y="3383280"/>
            <a:ext cx="94183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client will only move forward if the value outweighs the price in their mind.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This training helps you create non-tangible value that reinforces the tangible value of our supports, shoes, socks, and Med Massager.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472438" y="5658705"/>
            <a:ext cx="11247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Remarkable Experience. Every Client. Every time.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1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0165" y="5658689"/>
            <a:ext cx="1798967" cy="119931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"/>
          <p:cNvSpPr/>
          <p:nvPr/>
        </p:nvSpPr>
        <p:spPr>
          <a:xfrm>
            <a:off x="3924403" y="4903300"/>
            <a:ext cx="4206300" cy="502800"/>
          </a:xfrm>
          <a:prstGeom prst="roundRect">
            <a:avLst>
              <a:gd fmla="val 4909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Specialists  ·  Blue Track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"/>
          <p:cNvSpPr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This Module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457200" y="1097280"/>
            <a:ext cx="11247120" cy="822960"/>
          </a:xfrm>
          <a:prstGeom prst="roundRect">
            <a:avLst>
              <a:gd fmla="val 11111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640080" y="128016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1737360" y="123444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Price vs. Value Refresher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1737360" y="155448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Why clients pay more for the same category of product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57200" y="2057400"/>
            <a:ext cx="11247120" cy="822960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640080" y="224028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1737360" y="219456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What is Non-Tangible Value?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1737360" y="251460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Clear definition and why it multiplies perceived value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57200" y="3017520"/>
            <a:ext cx="11247120" cy="822960"/>
          </a:xfrm>
          <a:prstGeom prst="roundRect">
            <a:avLst>
              <a:gd fmla="val 11111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640080" y="32004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1737360" y="315468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The Controllable Pillars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737360" y="347472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Store, Appearance, Product Handling, Language, Follow-up &amp; more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57200" y="3977640"/>
            <a:ext cx="11247120" cy="822960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640080" y="416052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737360" y="411480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Self-Audit + Role Plays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737360" y="44348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Checklists, practice, and real scenarios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57200" y="4937760"/>
            <a:ext cx="11247120" cy="822960"/>
          </a:xfrm>
          <a:prstGeom prst="roundRect">
            <a:avLst>
              <a:gd fmla="val 11111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640080" y="512064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1737360" y="507492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7-Day Action Challenge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737360" y="539496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Turn insight into daily habits that lift closes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57200" y="6537960"/>
            <a:ext cx="9601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 Remarkable Experience. Every Client. Every time.  |  Waterman COGS · Blue Track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" name="Google Shape;4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090680"/>
            <a:ext cx="1341838" cy="8945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workdir/artifacts/nt_media/image1.png" id="49" name="Google Shape;4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33854" y="6206131"/>
            <a:ext cx="607012" cy="607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Price vs. Value Refresher  ·  Watches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365760" y="1097280"/>
            <a:ext cx="5303520" cy="4754880"/>
          </a:xfrm>
          <a:prstGeom prst="roundRect">
            <a:avLst>
              <a:gd fmla="val 1923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548640" y="128016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WALMART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workdir/artifacts/nt_media/image4.jpg" id="59" name="Google Shape;5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280" y="1737360"/>
            <a:ext cx="384048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3"/>
          <p:cNvSpPr/>
          <p:nvPr/>
        </p:nvSpPr>
        <p:spPr>
          <a:xfrm>
            <a:off x="548640" y="411480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Average Watch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548640" y="448056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$20 – $40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548640" y="502920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Typical everyday options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6492240" y="1097280"/>
            <a:ext cx="5303520" cy="4754880"/>
          </a:xfrm>
          <a:prstGeom prst="roundRect">
            <a:avLst>
              <a:gd fmla="val 1923" name="adj"/>
            </a:avLst>
          </a:prstGeom>
          <a:solidFill>
            <a:srgbClr val="FFF8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6675120" y="128016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ROLEX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workdir/artifacts/nt_media/image5.jpg" id="65" name="Google Shape;6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23760" y="1737360"/>
            <a:ext cx="384048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3"/>
          <p:cNvSpPr/>
          <p:nvPr/>
        </p:nvSpPr>
        <p:spPr>
          <a:xfrm>
            <a:off x="6675120" y="411480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Most Common Steel Models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6675120" y="448056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ED7D31"/>
                </a:solidFill>
                <a:latin typeface="Arial"/>
                <a:ea typeface="Arial"/>
                <a:cs typeface="Arial"/>
                <a:sym typeface="Arial"/>
              </a:rPr>
              <a:t>$</a:t>
            </a:r>
            <a:r>
              <a:rPr b="1" lang="en-US" sz="2600">
                <a:solidFill>
                  <a:srgbClr val="ED7D3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b="1" lang="en-US" sz="2600">
                <a:solidFill>
                  <a:srgbClr val="ED7D31"/>
                </a:solidFill>
                <a:latin typeface="Arial"/>
                <a:ea typeface="Arial"/>
                <a:cs typeface="Arial"/>
                <a:sym typeface="Arial"/>
              </a:rPr>
              <a:t>,000</a:t>
            </a:r>
            <a:r>
              <a:rPr b="1" lang="en-US" sz="2600">
                <a:solidFill>
                  <a:srgbClr val="ED7D31"/>
                </a:solidFill>
                <a:latin typeface="Arial"/>
                <a:ea typeface="Arial"/>
                <a:cs typeface="Arial"/>
                <a:sym typeface="Arial"/>
              </a:rPr>
              <a:t> – $11,000</a:t>
            </a:r>
            <a:r>
              <a:rPr b="1" lang="en-US" sz="2600">
                <a:solidFill>
                  <a:srgbClr val="ED7D3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6675120" y="502920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Datejust · Explorer · Submariner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457200" y="6537960"/>
            <a:ext cx="9601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 Remarkable Experience. Every Client. Every time.  |  Waterman COGS · Blue Track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" name="Google Shape;71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6090680"/>
            <a:ext cx="1341838" cy="8945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workdir/artifacts/nt_media/image1.png" id="72" name="Google Shape;72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33854" y="6206131"/>
            <a:ext cx="607012" cy="607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Price vs. Value Refresher  ·  Handbags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365760" y="1097280"/>
            <a:ext cx="5303520" cy="4754880"/>
          </a:xfrm>
          <a:prstGeom prst="roundRect">
            <a:avLst>
              <a:gd fmla="val 1923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548640" y="128016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WALMART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workdir/artifacts/nt_media/image6.jpg" id="82" name="Google Shape;8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280" y="1737360"/>
            <a:ext cx="384048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4"/>
          <p:cNvSpPr/>
          <p:nvPr/>
        </p:nvSpPr>
        <p:spPr>
          <a:xfrm>
            <a:off x="548640" y="411480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Average Everyday Purse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548640" y="448056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$15 – $35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548640" y="502920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Many options under $25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6492240" y="1097280"/>
            <a:ext cx="5303520" cy="4754880"/>
          </a:xfrm>
          <a:prstGeom prst="roundRect">
            <a:avLst>
              <a:gd fmla="val 1923" name="adj"/>
            </a:avLst>
          </a:prstGeom>
          <a:solidFill>
            <a:srgbClr val="FFF8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6675120" y="128016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LOUIS VUITTON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workdir/artifacts/nt_media/image7.jpg" id="88" name="Google Shape;8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23760" y="1737360"/>
            <a:ext cx="384048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4"/>
          <p:cNvSpPr/>
          <p:nvPr/>
        </p:nvSpPr>
        <p:spPr>
          <a:xfrm>
            <a:off x="6675120" y="411480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Typical Women's Handbag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6675120" y="448056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ED7D31"/>
                </a:solidFill>
                <a:latin typeface="Arial"/>
                <a:ea typeface="Arial"/>
                <a:cs typeface="Arial"/>
                <a:sym typeface="Arial"/>
              </a:rPr>
              <a:t>$2,000 – $3,000+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6675120" y="502920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Most popular styles in this range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457200" y="6537960"/>
            <a:ext cx="9601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 Remarkable Experience. Every Client. Every time.  |  Waterman COGS · Blue Track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" name="Google Shape;94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6090680"/>
            <a:ext cx="1341838" cy="8945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workdir/artifacts/nt_media/image1.png" id="95" name="Google Shape;95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33854" y="6206131"/>
            <a:ext cx="607012" cy="607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Price vs. Value Refresher  ·  Arch Supports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365760" y="1097280"/>
            <a:ext cx="5303520" cy="4754880"/>
          </a:xfrm>
          <a:prstGeom prst="roundRect">
            <a:avLst>
              <a:gd fmla="val 1923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548640" y="128016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WALMART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548640" y="411480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Basic to Mid-Range Arch Supports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548640" y="448056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$10 – $20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548640" y="502920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Insoles, sleeves, or straps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6492240" y="1051560"/>
            <a:ext cx="5303520" cy="4754880"/>
          </a:xfrm>
          <a:prstGeom prst="roundRect">
            <a:avLst>
              <a:gd fmla="val 1923" name="adj"/>
            </a:avLst>
          </a:prstGeom>
          <a:solidFill>
            <a:srgbClr val="E8F5E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6675120" y="128016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THE GOOD FEET STORE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workdir/artifacts/nt_media/image9.jpg" id="110" name="Google Shape;11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280" y="1737360"/>
            <a:ext cx="384048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5"/>
          <p:cNvSpPr/>
          <p:nvPr/>
        </p:nvSpPr>
        <p:spPr>
          <a:xfrm>
            <a:off x="6675120" y="411480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Custom Arch Supports / Full System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6675120" y="4434840"/>
            <a:ext cx="4937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0AD47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70AD47"/>
                </a:solidFill>
                <a:latin typeface="Arial"/>
                <a:ea typeface="Arial"/>
                <a:cs typeface="Arial"/>
                <a:sym typeface="Arial"/>
              </a:rPr>
              <a:t>$525 / support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0AD47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70AD47"/>
                </a:solidFill>
                <a:latin typeface="Arial"/>
                <a:ea typeface="Arial"/>
                <a:cs typeface="Arial"/>
                <a:sym typeface="Arial"/>
              </a:rPr>
              <a:t>$2,000+ full system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457200" y="6537960"/>
            <a:ext cx="9601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 Remarkable Experience. Every Client. Every time.  |  Waterman COGS · Blue Track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workdir/artifacts/nt_media/image8.jpg" id="115" name="Google Shape;11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54240" y="1805940"/>
            <a:ext cx="384048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6090680"/>
            <a:ext cx="1341838" cy="8945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workdir/artifacts/nt_media/image1.png" id="117" name="Google Shape;117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33854" y="6206131"/>
            <a:ext cx="607012" cy="607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Why Does This Information Matter?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Ask yourself these questions: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457200" y="1554480"/>
            <a:ext cx="11247120" cy="868680"/>
          </a:xfrm>
          <a:prstGeom prst="roundRect">
            <a:avLst>
              <a:gd fmla="val 8421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640080" y="1783080"/>
            <a:ext cx="548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1371600" y="173736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What do the insides of a Walmart vs. a Rolex boutique, Louis Vuitton store, or The Good Feet Store look like?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457200" y="2560320"/>
            <a:ext cx="11247120" cy="868680"/>
          </a:xfrm>
          <a:prstGeom prst="roundRect">
            <a:avLst>
              <a:gd fmla="val 8421" name="adj"/>
            </a:avLst>
          </a:prstGeom>
          <a:solidFill>
            <a:srgbClr val="E8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640080" y="2788920"/>
            <a:ext cx="548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1371600" y="274320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How do the staff members dress, stand, speak, and act in each environment?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457200" y="3566160"/>
            <a:ext cx="11247120" cy="868680"/>
          </a:xfrm>
          <a:prstGeom prst="roundRect">
            <a:avLst>
              <a:gd fmla="val 8421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640080" y="3794760"/>
            <a:ext cx="548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1371600" y="374904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If you walked into one store vs. the other without saying or hearing a single word, would you expect a higher price and higher-quality item?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457200" y="4572000"/>
            <a:ext cx="11247120" cy="868680"/>
          </a:xfrm>
          <a:prstGeom prst="roundRect">
            <a:avLst>
              <a:gd fmla="val 8421" name="adj"/>
            </a:avLst>
          </a:prstGeom>
          <a:solidFill>
            <a:srgbClr val="E8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640080" y="4800600"/>
            <a:ext cx="548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1371600" y="475488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What creates the permission for a client to invest $2,000+ instead of $20?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457200" y="6537960"/>
            <a:ext cx="9601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 Remarkable Experience. Every Client. Every time.  |  Waterman COGS · Blue Track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090680"/>
            <a:ext cx="1341838" cy="8945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workdir/artifacts/nt_media/image1.png" id="141" name="Google Shape;14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33854" y="6206131"/>
            <a:ext cx="607012" cy="607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is Non-Tangible Value?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457200" y="1097280"/>
            <a:ext cx="11247120" cy="2011680"/>
          </a:xfrm>
          <a:prstGeom prst="roundRect">
            <a:avLst>
              <a:gd fmla="val 4545" name="adj"/>
            </a:avLst>
          </a:prstGeom>
          <a:solidFill>
            <a:srgbClr val="E8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Definition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731520" y="1737360"/>
            <a:ext cx="106984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Everything the client sees, feels, experiences, and remembers that is NOT the physical product itself — yet dramatically increases (or destroys) the perceived value of that product.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457200" y="3383280"/>
            <a:ext cx="3657600" cy="2286000"/>
          </a:xfrm>
          <a:prstGeom prst="roundRect">
            <a:avLst>
              <a:gd fmla="val 4000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640080" y="36576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Reinforces the Tangible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640080" y="4206240"/>
            <a:ext cx="3291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Makes our supports, shoes, socks, and Med Massager feel worth every dollar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4297680" y="3383280"/>
            <a:ext cx="3657600" cy="2286000"/>
          </a:xfrm>
          <a:prstGeom prst="roundRect">
            <a:avLst>
              <a:gd fmla="val 4000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4480560" y="36576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100% Controllable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4480560" y="4206240"/>
            <a:ext cx="3291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We own it every single day — no budget or inventory required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8138160" y="3383280"/>
            <a:ext cx="3657600" cy="2286000"/>
          </a:xfrm>
          <a:prstGeom prst="roundRect">
            <a:avLst>
              <a:gd fmla="val 4000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8321040" y="36576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The Multiplier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8321040" y="4206240"/>
            <a:ext cx="3291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It is how we deliver “A Remarkable Experience. Every Client. Every time.”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457200" y="6537960"/>
            <a:ext cx="9601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 Remarkable Experience. Every Client. Every time.  |  Waterman COGS · Blue Track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090680"/>
            <a:ext cx="1341838" cy="8945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workdir/artifacts/nt_media/image1.png" id="164" name="Google Shape;16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33854" y="6206131"/>
            <a:ext cx="607012" cy="607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Why Non-Tangible Value Matters for the Numbers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Arial"/>
              <a:buNone/>
            </a:pPr>
            <a:r>
              <a:rPr i="1" lang="en-US" sz="15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Non-tangible excellence is free leverage on every metric that matters.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3" name="Google Shape;173;p8"/>
          <p:cNvGraphicFramePr/>
          <p:nvPr/>
        </p:nvGraphicFramePr>
        <p:xfrm>
          <a:off x="27432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{655ED373-4679-4BB5-8166-60A64B6A08C9}</a:tableStyleId>
              </a:tblPr>
              <a:tblGrid>
                <a:gridCol w="2926075"/>
                <a:gridCol w="2560325"/>
                <a:gridCol w="3200400"/>
                <a:gridCol w="2926075"/>
              </a:tblGrid>
              <a:tr h="685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Non-Tangible Element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Primary Metric Impact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Risk if Missed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Opportunity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5B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Cart / Product Handling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Close rate, AOV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Looks cheap → price objection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+10-15% close potential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Specialist Appearance &amp; Presence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Demo rate, trust, close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Undermines $2k value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Immediate perception shift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Store Environment (first 10s)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Traffic-to-demo conversion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Sets “Walmart” expectation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Protects entire pipeline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Follow-up Quality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Retention, referrals, reviews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Lost lifetime value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Compounding growth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Language &amp; Ownership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Close rate, objection handling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Weak confidence = discount pressure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Higher full-system closes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4" name="Google Shape;174;p8"/>
          <p:cNvSpPr/>
          <p:nvPr/>
        </p:nvSpPr>
        <p:spPr>
          <a:xfrm>
            <a:off x="457200" y="6537960"/>
            <a:ext cx="9601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 Remarkable Experience. Every Client. Every time.  |  Waterman COGS · Blue Track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090680"/>
            <a:ext cx="1341838" cy="8945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workdir/artifacts/nt_media/image1.png" id="177" name="Google Shape;17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33854" y="6206131"/>
            <a:ext cx="607012" cy="607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"/>
          <p:cNvSpPr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Controllable Non-Tangible Pillars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365760" y="1097280"/>
            <a:ext cx="3749040" cy="2194560"/>
          </a:xfrm>
          <a:prstGeom prst="roundRect">
            <a:avLst>
              <a:gd fmla="val 41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548640" y="1325880"/>
            <a:ext cx="548640" cy="54864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548640" y="141732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1234440" y="137160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Cart &amp; Product Handling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594360" y="219456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Highest leverage on perceived value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4297680" y="1097280"/>
            <a:ext cx="3749040" cy="2194560"/>
          </a:xfrm>
          <a:prstGeom prst="roundRect">
            <a:avLst>
              <a:gd fmla="val 41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"/>
          <p:cNvSpPr/>
          <p:nvPr/>
        </p:nvSpPr>
        <p:spPr>
          <a:xfrm>
            <a:off x="4480560" y="1325880"/>
            <a:ext cx="548640" cy="54864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4480560" y="141732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5166360" y="137160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Specialist Appearance &amp; Presence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4526280" y="219456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First 30-60 seconds decide premium vs cheap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8229600" y="1097280"/>
            <a:ext cx="3749040" cy="2194560"/>
          </a:xfrm>
          <a:prstGeom prst="roundRect">
            <a:avLst>
              <a:gd fmla="val 41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8412480" y="1325880"/>
            <a:ext cx="548640" cy="54864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"/>
          <p:cNvSpPr/>
          <p:nvPr/>
        </p:nvSpPr>
        <p:spPr>
          <a:xfrm>
            <a:off x="8412480" y="141732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9098280" y="137160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Store Environment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8458200" y="219456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Sets price expectation before you speak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365760" y="3566160"/>
            <a:ext cx="3749040" cy="2194560"/>
          </a:xfrm>
          <a:prstGeom prst="roundRect">
            <a:avLst>
              <a:gd fmla="val 41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"/>
          <p:cNvSpPr/>
          <p:nvPr/>
        </p:nvSpPr>
        <p:spPr>
          <a:xfrm>
            <a:off x="548640" y="3794760"/>
            <a:ext cx="548640" cy="54864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548640" y="388620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1234440" y="384048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Assessment, Test Walk &amp; Flow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594360" y="466344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Smooth = consultative &amp; expert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4297680" y="3566160"/>
            <a:ext cx="3749040" cy="2194560"/>
          </a:xfrm>
          <a:prstGeom prst="roundRect">
            <a:avLst>
              <a:gd fmla="val 41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4480560" y="3794760"/>
            <a:ext cx="548640" cy="54864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4480560" y="388620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5166360" y="384048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Language &amp; Ownership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4526280" y="466344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Confidence protects the price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8229600" y="3566160"/>
            <a:ext cx="3749040" cy="2194560"/>
          </a:xfrm>
          <a:prstGeom prst="roundRect">
            <a:avLst>
              <a:gd fmla="val 41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8412480" y="3794760"/>
            <a:ext cx="548640" cy="54864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8412480" y="388620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9098280" y="384048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Follow-Up Quality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8458200" y="466344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Turns sale into relationship + referrals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457200" y="6537960"/>
            <a:ext cx="9601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 Remarkable Experience. Every Client. Every time.  |  Waterman COGS · Blue Track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" name="Google Shape;21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090680"/>
            <a:ext cx="1341838" cy="8945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workdir/artifacts/nt_media/image1.png" id="218" name="Google Shape;21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33854" y="6206131"/>
            <a:ext cx="607012" cy="607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"/>
          <p:cNvSpPr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 Cart &amp; Product Handling  ·  Treat It Like a Rolex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457200" y="91440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i="1" lang="en-US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Why it matters for closes: Careless handling instantly makes a $525 support feel like a $20 insole. Deliberate, respectful presentation multiplies perceived value.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365760" y="1645920"/>
            <a:ext cx="5486400" cy="4114800"/>
          </a:xfrm>
          <a:prstGeom prst="roundRect">
            <a:avLst>
              <a:gd fmla="val 2222" name="adj"/>
            </a:avLst>
          </a:prstGeom>
          <a:solidFill>
            <a:srgbClr val="E8F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"/>
          <p:cNvSpPr/>
          <p:nvPr/>
        </p:nvSpPr>
        <p:spPr>
          <a:xfrm>
            <a:off x="548640" y="182880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AD47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70AD47"/>
                </a:solidFill>
                <a:latin typeface="Arial"/>
                <a:ea typeface="Arial"/>
                <a:cs typeface="Arial"/>
                <a:sym typeface="Arial"/>
              </a:rPr>
              <a:t>DO THIS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640080" y="237744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✓  Keep cart and fitting station pristine and organized at all times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640080" y="288036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✓  Present every support, shoe, sock, and Med Massager deliberately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640080" y="338328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✓  Clean hands / trays / tablets / Med Massager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640080" y="38862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✓  Stage items with care and visual respect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640080" y="438912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✓  Treat the system like the high-value solution it is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6309360" y="1645920"/>
            <a:ext cx="5486400" cy="4114800"/>
          </a:xfrm>
          <a:prstGeom prst="roundRect">
            <a:avLst>
              <a:gd fmla="val 2222" name="adj"/>
            </a:avLst>
          </a:prstGeom>
          <a:solidFill>
            <a:srgbClr val="FFEB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0"/>
          <p:cNvSpPr/>
          <p:nvPr/>
        </p:nvSpPr>
        <p:spPr>
          <a:xfrm>
            <a:off x="6492240" y="182880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NEVER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6583680" y="237744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✗  Toss or casually drop supports onto the cart or floor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6583680" y="288036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✗  Leave a messy, cluttered, or dirt/dust-covered station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6583680" y="338328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✗  Stack items carelessly or leave packaging open and scattered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6583680" y="38862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✗  Allow the cart to look like a discount bin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6583680" y="438912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✗  Handle products in a way that says “this is ordinary”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457200" y="6537960"/>
            <a:ext cx="9601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 Remarkable Experience. Every Client. Every time.  |  Waterman COGS · Blue Track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3" name="Google Shape;24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090680"/>
            <a:ext cx="1341838" cy="8945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workdir/artifacts/nt_media/image1.png" id="244" name="Google Shape;24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33854" y="6206131"/>
            <a:ext cx="607012" cy="607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1"/>
          <p:cNvSpPr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Cart Presentation: Clean vs. Messy — Real Examples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274320" y="914400"/>
            <a:ext cx="5669280" cy="5303520"/>
          </a:xfrm>
          <a:prstGeom prst="roundRect">
            <a:avLst>
              <a:gd fmla="val 1724" name="adj"/>
            </a:avLst>
          </a:prstGeom>
          <a:solidFill>
            <a:srgbClr val="FFEB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1"/>
          <p:cNvSpPr/>
          <p:nvPr/>
        </p:nvSpPr>
        <p:spPr>
          <a:xfrm>
            <a:off x="457200" y="105156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MESSY CART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workdir/artifacts/messy_cart.jpg" id="254" name="Google Shape;25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08760"/>
            <a:ext cx="5120640" cy="420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1"/>
          <p:cNvSpPr/>
          <p:nvPr/>
        </p:nvSpPr>
        <p:spPr>
          <a:xfrm>
            <a:off x="457200" y="576072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Looks ordinary / discount-bin energy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Kills premium perception instantly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6217920" y="914400"/>
            <a:ext cx="5669280" cy="5303520"/>
          </a:xfrm>
          <a:prstGeom prst="roundRect">
            <a:avLst>
              <a:gd fmla="val 1724" name="adj"/>
            </a:avLst>
          </a:prstGeom>
          <a:solidFill>
            <a:srgbClr val="E8F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"/>
          <p:cNvSpPr/>
          <p:nvPr/>
        </p:nvSpPr>
        <p:spPr>
          <a:xfrm>
            <a:off x="6400800" y="105156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0AD47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70AD47"/>
                </a:solidFill>
                <a:latin typeface="Arial"/>
                <a:ea typeface="Arial"/>
                <a:cs typeface="Arial"/>
                <a:sym typeface="Arial"/>
              </a:rPr>
              <a:t>CLEAN / ROLEX-LEVEL CART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workdir/artifacts/clean_cart.jpg" id="258" name="Google Shape;25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92240" y="1508760"/>
            <a:ext cx="5120640" cy="420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1"/>
          <p:cNvSpPr/>
          <p:nvPr/>
        </p:nvSpPr>
        <p:spPr>
          <a:xfrm>
            <a:off x="6400800" y="576072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0AD47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70AD47"/>
                </a:solidFill>
                <a:latin typeface="Arial"/>
                <a:ea typeface="Arial"/>
                <a:cs typeface="Arial"/>
                <a:sym typeface="Arial"/>
              </a:rPr>
              <a:t>Organized · Deliberate · Premium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0AD47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70AD47"/>
                </a:solidFill>
                <a:latin typeface="Arial"/>
                <a:ea typeface="Arial"/>
                <a:cs typeface="Arial"/>
                <a:sym typeface="Arial"/>
              </a:rPr>
              <a:t>Supports the $2,000+ value story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457200" y="6537960"/>
            <a:ext cx="9601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 Remarkable Experience. Every Client. Every time.  |  Waterman COGS · Blue Track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2" name="Google Shape;262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6090680"/>
            <a:ext cx="1341838" cy="8945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workdir/artifacts/nt_media/image1.png" id="263" name="Google Shape;263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33854" y="6206131"/>
            <a:ext cx="607012" cy="607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2"/>
          <p:cNvSpPr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 Specialist Appearance &amp; Presence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457200" y="91440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i="1" lang="en-US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Why it matters: Clients decide in the first 30–60 seconds whether this feels like a $2,000 solution or a $20 one. Your presence either supports or undermines the price.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365760" y="1645920"/>
            <a:ext cx="5486400" cy="4114800"/>
          </a:xfrm>
          <a:prstGeom prst="roundRect">
            <a:avLst>
              <a:gd fmla="val 2222" name="adj"/>
            </a:avLst>
          </a:prstGeom>
          <a:solidFill>
            <a:srgbClr val="E8F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2"/>
          <p:cNvSpPr/>
          <p:nvPr/>
        </p:nvSpPr>
        <p:spPr>
          <a:xfrm>
            <a:off x="548640" y="182880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AD47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70AD47"/>
                </a:solidFill>
                <a:latin typeface="Arial"/>
                <a:ea typeface="Arial"/>
                <a:cs typeface="Arial"/>
                <a:sym typeface="Arial"/>
              </a:rPr>
              <a:t>DO THIS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2"/>
          <p:cNvSpPr/>
          <p:nvPr/>
        </p:nvSpPr>
        <p:spPr>
          <a:xfrm>
            <a:off x="640080" y="237744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✓  Sharp, clean, every single shift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2"/>
          <p:cNvSpPr/>
          <p:nvPr/>
        </p:nvSpPr>
        <p:spPr>
          <a:xfrm>
            <a:off x="640080" y="288036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✓  Strong posture, open body language, genuine energy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2"/>
          <p:cNvSpPr/>
          <p:nvPr/>
        </p:nvSpPr>
        <p:spPr>
          <a:xfrm>
            <a:off x="640080" y="338328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✓  Professional yet warm language and tone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2"/>
          <p:cNvSpPr/>
          <p:nvPr/>
        </p:nvSpPr>
        <p:spPr>
          <a:xfrm>
            <a:off x="640080" y="38862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✓  Confident, consultative presence, never rushed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2"/>
          <p:cNvSpPr/>
          <p:nvPr/>
        </p:nvSpPr>
        <p:spPr>
          <a:xfrm>
            <a:off x="640080" y="438912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✓  Grooming and overall presentation that matches a premium brand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/>
          <p:nvPr/>
        </p:nvSpPr>
        <p:spPr>
          <a:xfrm>
            <a:off x="6309360" y="1645920"/>
            <a:ext cx="5486400" cy="4114800"/>
          </a:xfrm>
          <a:prstGeom prst="roundRect">
            <a:avLst>
              <a:gd fmla="val 2222" name="adj"/>
            </a:avLst>
          </a:prstGeom>
          <a:solidFill>
            <a:srgbClr val="FFEB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2"/>
          <p:cNvSpPr/>
          <p:nvPr/>
        </p:nvSpPr>
        <p:spPr>
          <a:xfrm>
            <a:off x="6492240" y="182880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NEVER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2"/>
          <p:cNvSpPr/>
          <p:nvPr/>
        </p:nvSpPr>
        <p:spPr>
          <a:xfrm>
            <a:off x="6583680" y="237744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✗  Wrinkled, incomplete, or casual appearance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2"/>
          <p:cNvSpPr/>
          <p:nvPr/>
        </p:nvSpPr>
        <p:spPr>
          <a:xfrm>
            <a:off x="6583680" y="288036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✗  Low energy, slumped posture, or distracted vibe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2"/>
          <p:cNvSpPr/>
          <p:nvPr/>
        </p:nvSpPr>
        <p:spPr>
          <a:xfrm>
            <a:off x="6583680" y="338328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✗  Transactional or uncertain language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2"/>
          <p:cNvSpPr/>
          <p:nvPr/>
        </p:nvSpPr>
        <p:spPr>
          <a:xfrm>
            <a:off x="6583680" y="38862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✗  Looking at the phone or multitasking during the experience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2"/>
          <p:cNvSpPr/>
          <p:nvPr/>
        </p:nvSpPr>
        <p:spPr>
          <a:xfrm>
            <a:off x="6583680" y="438912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✗  Anything that says “this is just another job”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2"/>
          <p:cNvSpPr/>
          <p:nvPr/>
        </p:nvSpPr>
        <p:spPr>
          <a:xfrm>
            <a:off x="457200" y="6537960"/>
            <a:ext cx="9601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 Remarkable Experience. Every Client. Every time.  |  Waterman COGS · Blue Track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8" name="Google Shape;28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090680"/>
            <a:ext cx="1341838" cy="8945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workdir/artifacts/nt_media/image1.png" id="289" name="Google Shape;28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33854" y="6206131"/>
            <a:ext cx="607012" cy="607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3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3"/>
          <p:cNvSpPr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 Store Environment  ·  The First 10 Seconds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3"/>
          <p:cNvSpPr/>
          <p:nvPr/>
        </p:nvSpPr>
        <p:spPr>
          <a:xfrm>
            <a:off x="457200" y="91440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i="1" lang="en-US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Why it matters: The environment sets the price expectation before a single word is spoken. A “Walmart-level” first impression makes the $2,000+ system feel mismatched.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365760" y="1645920"/>
            <a:ext cx="5486400" cy="4114800"/>
          </a:xfrm>
          <a:prstGeom prst="roundRect">
            <a:avLst>
              <a:gd fmla="val 2222" name="adj"/>
            </a:avLst>
          </a:prstGeom>
          <a:solidFill>
            <a:srgbClr val="E8F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3"/>
          <p:cNvSpPr/>
          <p:nvPr/>
        </p:nvSpPr>
        <p:spPr>
          <a:xfrm>
            <a:off x="548640" y="182880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AD47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70AD47"/>
                </a:solidFill>
                <a:latin typeface="Arial"/>
                <a:ea typeface="Arial"/>
                <a:cs typeface="Arial"/>
                <a:sym typeface="Arial"/>
              </a:rPr>
              <a:t>DO THIS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3"/>
          <p:cNvSpPr/>
          <p:nvPr/>
        </p:nvSpPr>
        <p:spPr>
          <a:xfrm>
            <a:off x="640080" y="237744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✓  Spotless floors, mirrors, glass, and fitting area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3"/>
          <p:cNvSpPr/>
          <p:nvPr/>
        </p:nvSpPr>
        <p:spPr>
          <a:xfrm>
            <a:off x="640080" y="288036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✓  Clean bathrooms and entryway — every client notices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3"/>
          <p:cNvSpPr/>
          <p:nvPr/>
        </p:nvSpPr>
        <p:spPr>
          <a:xfrm>
            <a:off x="640080" y="338328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✓  Organized visual merchandising and lighting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3"/>
          <p:cNvSpPr/>
          <p:nvPr/>
        </p:nvSpPr>
        <p:spPr>
          <a:xfrm>
            <a:off x="640080" y="38862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✓  Calm, premium atmosphere (music, scent if used, volume)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3"/>
          <p:cNvSpPr/>
          <p:nvPr/>
        </p:nvSpPr>
        <p:spPr>
          <a:xfrm>
            <a:off x="640080" y="438912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✓  Fitting chairs and stations ready and inviting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3"/>
          <p:cNvSpPr/>
          <p:nvPr/>
        </p:nvSpPr>
        <p:spPr>
          <a:xfrm>
            <a:off x="6309360" y="1645920"/>
            <a:ext cx="5486400" cy="4114800"/>
          </a:xfrm>
          <a:prstGeom prst="roundRect">
            <a:avLst>
              <a:gd fmla="val 2222" name="adj"/>
            </a:avLst>
          </a:prstGeom>
          <a:solidFill>
            <a:srgbClr val="FFEB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3"/>
          <p:cNvSpPr/>
          <p:nvPr/>
        </p:nvSpPr>
        <p:spPr>
          <a:xfrm>
            <a:off x="6492240" y="182880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NEVER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3"/>
          <p:cNvSpPr/>
          <p:nvPr/>
        </p:nvSpPr>
        <p:spPr>
          <a:xfrm>
            <a:off x="6583680" y="237744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✗  Clutter, dust, or dirty surfaces anywhere a client sees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3"/>
          <p:cNvSpPr/>
          <p:nvPr/>
        </p:nvSpPr>
        <p:spPr>
          <a:xfrm>
            <a:off x="6583680" y="288036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✗  Messy fitting area or overflowing trash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3"/>
          <p:cNvSpPr/>
          <p:nvPr/>
        </p:nvSpPr>
        <p:spPr>
          <a:xfrm>
            <a:off x="6583680" y="338328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✗  Dim, harsh, or poorly maintained lighting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3"/>
          <p:cNvSpPr/>
          <p:nvPr/>
        </p:nvSpPr>
        <p:spPr>
          <a:xfrm>
            <a:off x="6583680" y="38862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✗  Anything that sets a discount or “ordinary” expectation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3"/>
          <p:cNvSpPr/>
          <p:nvPr/>
        </p:nvSpPr>
        <p:spPr>
          <a:xfrm>
            <a:off x="6583680" y="438912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✗  Letting high-traffic days become an excuse for lower standards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3"/>
          <p:cNvSpPr/>
          <p:nvPr/>
        </p:nvSpPr>
        <p:spPr>
          <a:xfrm>
            <a:off x="457200" y="6537960"/>
            <a:ext cx="9601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 Remarkable Experience. Every Client. Every time.  |  Waterman COGS · Blue Track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4" name="Google Shape;31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090680"/>
            <a:ext cx="1341838" cy="8945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workdir/artifacts/nt_media/image1.png" id="315" name="Google Shape;31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33854" y="6206131"/>
            <a:ext cx="607012" cy="607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4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4"/>
          <p:cNvSpPr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4–6. Flow, Language &amp; Follow-Up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320040" y="1005840"/>
            <a:ext cx="3794760" cy="4846320"/>
          </a:xfrm>
          <a:prstGeom prst="roundRect">
            <a:avLst>
              <a:gd fmla="val 2410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4"/>
          <p:cNvSpPr/>
          <p:nvPr/>
        </p:nvSpPr>
        <p:spPr>
          <a:xfrm>
            <a:off x="457200" y="1188720"/>
            <a:ext cx="3520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4. Assessment &amp; Flow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4"/>
          <p:cNvSpPr/>
          <p:nvPr/>
        </p:nvSpPr>
        <p:spPr>
          <a:xfrm>
            <a:off x="502920" y="1828800"/>
            <a:ext cx="3429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 Care &amp; respect during footprint / pressure mapping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4"/>
          <p:cNvSpPr/>
          <p:nvPr/>
        </p:nvSpPr>
        <p:spPr>
          <a:xfrm>
            <a:off x="502920" y="2651760"/>
            <a:ext cx="3429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 Patient, expert coaching on the test walk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4"/>
          <p:cNvSpPr/>
          <p:nvPr/>
        </p:nvSpPr>
        <p:spPr>
          <a:xfrm>
            <a:off x="502920" y="3474720"/>
            <a:ext cx="3429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 Smooth transitions: greeting → assessment → demo → close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4"/>
          <p:cNvSpPr/>
          <p:nvPr/>
        </p:nvSpPr>
        <p:spPr>
          <a:xfrm>
            <a:off x="502920" y="4297680"/>
            <a:ext cx="3429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 Never rush or make it feel retail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4"/>
          <p:cNvSpPr/>
          <p:nvPr/>
        </p:nvSpPr>
        <p:spPr>
          <a:xfrm>
            <a:off x="4251960" y="1005840"/>
            <a:ext cx="3794760" cy="4846320"/>
          </a:xfrm>
          <a:prstGeom prst="roundRect">
            <a:avLst>
              <a:gd fmla="val 2410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4"/>
          <p:cNvSpPr/>
          <p:nvPr/>
        </p:nvSpPr>
        <p:spPr>
          <a:xfrm>
            <a:off x="4389120" y="1188720"/>
            <a:ext cx="3520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5. Language &amp; Ownership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4"/>
          <p:cNvSpPr/>
          <p:nvPr/>
        </p:nvSpPr>
        <p:spPr>
          <a:xfrm>
            <a:off x="4434840" y="1828800"/>
            <a:ext cx="3429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 Confident ownership language about the system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4"/>
          <p:cNvSpPr/>
          <p:nvPr/>
        </p:nvSpPr>
        <p:spPr>
          <a:xfrm>
            <a:off x="4434840" y="2651760"/>
            <a:ext cx="3429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 Speak as the expert who owns the outcome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4"/>
          <p:cNvSpPr/>
          <p:nvPr/>
        </p:nvSpPr>
        <p:spPr>
          <a:xfrm>
            <a:off x="4434840" y="3474720"/>
            <a:ext cx="3429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 Protect the value of the Lifetime Guarantee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4"/>
          <p:cNvSpPr/>
          <p:nvPr/>
        </p:nvSpPr>
        <p:spPr>
          <a:xfrm>
            <a:off x="4434840" y="4297680"/>
            <a:ext cx="3429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 Never use discounting or uncertain language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4"/>
          <p:cNvSpPr/>
          <p:nvPr/>
        </p:nvSpPr>
        <p:spPr>
          <a:xfrm>
            <a:off x="8183880" y="1005840"/>
            <a:ext cx="3794760" cy="4846320"/>
          </a:xfrm>
          <a:prstGeom prst="roundRect">
            <a:avLst>
              <a:gd fmla="val 2410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4"/>
          <p:cNvSpPr/>
          <p:nvPr/>
        </p:nvSpPr>
        <p:spPr>
          <a:xfrm>
            <a:off x="8321040" y="1188720"/>
            <a:ext cx="3520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6. Follow-Up Quality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4"/>
          <p:cNvSpPr/>
          <p:nvPr/>
        </p:nvSpPr>
        <p:spPr>
          <a:xfrm>
            <a:off x="8366760" y="1828800"/>
            <a:ext cx="3429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 Personal, timely check-ins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4"/>
          <p:cNvSpPr/>
          <p:nvPr/>
        </p:nvSpPr>
        <p:spPr>
          <a:xfrm>
            <a:off x="8366760" y="2651760"/>
            <a:ext cx="3429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 Feel caring, not scripted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4"/>
          <p:cNvSpPr/>
          <p:nvPr/>
        </p:nvSpPr>
        <p:spPr>
          <a:xfrm>
            <a:off x="8366760" y="3474720"/>
            <a:ext cx="3429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 Reinforce the relationship and guarantee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4"/>
          <p:cNvSpPr/>
          <p:nvPr/>
        </p:nvSpPr>
        <p:spPr>
          <a:xfrm>
            <a:off x="8366760" y="4297680"/>
            <a:ext cx="3429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 Turns one sale into referrals and retention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4"/>
          <p:cNvSpPr/>
          <p:nvPr/>
        </p:nvSpPr>
        <p:spPr>
          <a:xfrm>
            <a:off x="457200" y="6537960"/>
            <a:ext cx="9601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 Remarkable Experience. Every Client. Every time.  |  Waterman COGS · Blue Track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4"/>
          <p:cNvSpPr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3" name="Google Shape;34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090680"/>
            <a:ext cx="1341838" cy="8945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workdir/artifacts/nt_media/image1.png" id="344" name="Google Shape;34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33854" y="6206131"/>
            <a:ext cx="607012" cy="607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5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5"/>
          <p:cNvSpPr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Additional Good Feet-Specific Non-Tangibles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5"/>
          <p:cNvSpPr/>
          <p:nvPr/>
        </p:nvSpPr>
        <p:spPr>
          <a:xfrm>
            <a:off x="365760" y="1097280"/>
            <a:ext cx="3749040" cy="2286000"/>
          </a:xfrm>
          <a:prstGeom prst="roundRect">
            <a:avLst>
              <a:gd fmla="val 4000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5"/>
          <p:cNvSpPr/>
          <p:nvPr/>
        </p:nvSpPr>
        <p:spPr>
          <a:xfrm>
            <a:off x="548640" y="1325880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Packaging &amp; Take-Home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5"/>
          <p:cNvSpPr/>
          <p:nvPr/>
        </p:nvSpPr>
        <p:spPr>
          <a:xfrm>
            <a:off x="548640" y="1874520"/>
            <a:ext cx="33832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Beautiful, organized packaging of the full system. Neat materials. A premium hand-off that feels special.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5"/>
          <p:cNvSpPr/>
          <p:nvPr/>
        </p:nvSpPr>
        <p:spPr>
          <a:xfrm>
            <a:off x="4297680" y="1097280"/>
            <a:ext cx="3749040" cy="2286000"/>
          </a:xfrm>
          <a:prstGeom prst="roundRect">
            <a:avLst>
              <a:gd fmla="val 4000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5"/>
          <p:cNvSpPr/>
          <p:nvPr/>
        </p:nvSpPr>
        <p:spPr>
          <a:xfrm>
            <a:off x="4480560" y="1325880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Privacy &amp; Respect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5"/>
          <p:cNvSpPr/>
          <p:nvPr/>
        </p:nvSpPr>
        <p:spPr>
          <a:xfrm>
            <a:off x="4480560" y="1874520"/>
            <a:ext cx="33832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Protect client privacy during fitting and assessment. Never make the process feel clinical or exposed.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5"/>
          <p:cNvSpPr/>
          <p:nvPr/>
        </p:nvSpPr>
        <p:spPr>
          <a:xfrm>
            <a:off x="8229600" y="1097280"/>
            <a:ext cx="3749040" cy="2286000"/>
          </a:xfrm>
          <a:prstGeom prst="roundRect">
            <a:avLst>
              <a:gd fmla="val 4000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5"/>
          <p:cNvSpPr/>
          <p:nvPr/>
        </p:nvSpPr>
        <p:spPr>
          <a:xfrm>
            <a:off x="8412480" y="1325880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Team Atmosphere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5"/>
          <p:cNvSpPr/>
          <p:nvPr/>
        </p:nvSpPr>
        <p:spPr>
          <a:xfrm>
            <a:off x="8412480" y="1874520"/>
            <a:ext cx="33832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Zero tolerance for negativity. Supportive, seamless handoffs. The whole store team acts as one premium brand.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5"/>
          <p:cNvSpPr/>
          <p:nvPr/>
        </p:nvSpPr>
        <p:spPr>
          <a:xfrm>
            <a:off x="365760" y="3566160"/>
            <a:ext cx="3749040" cy="2286000"/>
          </a:xfrm>
          <a:prstGeom prst="roundRect">
            <a:avLst>
              <a:gd fmla="val 4000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5"/>
          <p:cNvSpPr/>
          <p:nvPr/>
        </p:nvSpPr>
        <p:spPr>
          <a:xfrm>
            <a:off x="548640" y="3794760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Post-Sale Touches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5"/>
          <p:cNvSpPr/>
          <p:nvPr/>
        </p:nvSpPr>
        <p:spPr>
          <a:xfrm>
            <a:off x="548640" y="4343400"/>
            <a:ext cx="33832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Thank-you notes, thoughtful check-ins, and small gestures that reinforce we care beyond the sale.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5"/>
          <p:cNvSpPr/>
          <p:nvPr/>
        </p:nvSpPr>
        <p:spPr>
          <a:xfrm>
            <a:off x="4297680" y="3566160"/>
            <a:ext cx="3749040" cy="2286000"/>
          </a:xfrm>
          <a:prstGeom prst="roundRect">
            <a:avLst>
              <a:gd fmla="val 4000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5"/>
          <p:cNvSpPr/>
          <p:nvPr/>
        </p:nvSpPr>
        <p:spPr>
          <a:xfrm>
            <a:off x="4480560" y="3794760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Guarantee Ownership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5"/>
          <p:cNvSpPr/>
          <p:nvPr/>
        </p:nvSpPr>
        <p:spPr>
          <a:xfrm>
            <a:off x="4480560" y="4343400"/>
            <a:ext cx="33832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How we talk about and live the Satisfaction Guarantee — with full ownership and confidence.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5"/>
          <p:cNvSpPr/>
          <p:nvPr/>
        </p:nvSpPr>
        <p:spPr>
          <a:xfrm>
            <a:off x="8229600" y="3566160"/>
            <a:ext cx="3749040" cy="2286000"/>
          </a:xfrm>
          <a:prstGeom prst="roundRect">
            <a:avLst>
              <a:gd fmla="val 4000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5"/>
          <p:cNvSpPr/>
          <p:nvPr/>
        </p:nvSpPr>
        <p:spPr>
          <a:xfrm>
            <a:off x="8412480" y="3794760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High-Traffic &amp; Transition Days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5"/>
          <p:cNvSpPr/>
          <p:nvPr/>
        </p:nvSpPr>
        <p:spPr>
          <a:xfrm>
            <a:off x="8412480" y="4343400"/>
            <a:ext cx="33832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Standards do not drop on busy days or during lower staffed days. These are the highest-risk windows.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5"/>
          <p:cNvSpPr/>
          <p:nvPr/>
        </p:nvSpPr>
        <p:spPr>
          <a:xfrm>
            <a:off x="457200" y="6537960"/>
            <a:ext cx="9601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 Remarkable Experience. Every Client. Every time.  |  Waterman COGS · Blue Track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5"/>
          <p:cNvSpPr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2" name="Google Shape;37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090680"/>
            <a:ext cx="1341838" cy="8945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workdir/artifacts/nt_media/image1.png" id="373" name="Google Shape;37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33854" y="6206131"/>
            <a:ext cx="607012" cy="607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6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6"/>
          <p:cNvSpPr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Specialist Self-Audit &amp; Manager Scorecard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6"/>
          <p:cNvSpPr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i="1" lang="en-US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Rate 1–5 daily or weekly. Managers: pair the average score with that week’s close rate / AOV / ranking.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2" name="Google Shape;382;p16"/>
          <p:cNvGraphicFramePr/>
          <p:nvPr/>
        </p:nvGraphicFramePr>
        <p:xfrm>
          <a:off x="36576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{655ED373-4679-4BB5-8166-60A64B6A08C9}</a:tableStyleId>
              </a:tblPr>
              <a:tblGrid>
                <a:gridCol w="3200400"/>
                <a:gridCol w="5943600"/>
                <a:gridCol w="2286000"/>
              </a:tblGrid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Element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What “5” Looks Like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My Score (1-5)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5B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Cart &amp; Product Handling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Pristine, deliberate, Rolex-level presentation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/>
                        <a:t>_______________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Personal Appearance &amp; Energy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Sharp uniform, posture, presence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</a:rPr>
                        <a:t>_______________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Store Environment Contribution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Floors, stations, bathrooms, overall feel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</a:rPr>
                        <a:t>_______________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Assessment / Demo Flow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Patient, expert, smooth transitions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</a:rPr>
                        <a:t>_______________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Language Confidence &amp; Ownership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 discounting language, full ownership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</a:rPr>
                        <a:t>_______________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Follow-Up Quality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Timely, personal, caring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</a:rPr>
                        <a:t>_______________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Overall “Rolex Test”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Would a walk-in expect $2,000+ or $20?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</a:rPr>
                        <a:t>_______________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83" name="Google Shape;383;p16"/>
          <p:cNvSpPr/>
          <p:nvPr/>
        </p:nvSpPr>
        <p:spPr>
          <a:xfrm>
            <a:off x="457200" y="6537960"/>
            <a:ext cx="9601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 Remarkable Experience. Every Client. Every time.  |  Waterman COGS · Blue Track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6"/>
          <p:cNvSpPr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5" name="Google Shape;38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090680"/>
            <a:ext cx="1341838" cy="8945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workdir/artifacts/nt_media/image1.png" id="386" name="Google Shape;38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33854" y="6206131"/>
            <a:ext cx="607012" cy="607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7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7"/>
          <p:cNvSpPr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Role-Play Scenarios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7"/>
          <p:cNvSpPr/>
          <p:nvPr/>
        </p:nvSpPr>
        <p:spPr>
          <a:xfrm>
            <a:off x="365760" y="1051560"/>
            <a:ext cx="11430000" cy="1554480"/>
          </a:xfrm>
          <a:prstGeom prst="roundRect">
            <a:avLst>
              <a:gd fmla="val 5882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7"/>
          <p:cNvSpPr/>
          <p:nvPr/>
        </p:nvSpPr>
        <p:spPr>
          <a:xfrm>
            <a:off x="640080" y="12344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Scenario 1: Cart &amp; Handling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7"/>
          <p:cNvSpPr/>
          <p:nvPr/>
        </p:nvSpPr>
        <p:spPr>
          <a:xfrm>
            <a:off x="640080" y="169164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One specialist presents with a messy cart and casual handling. Another presents the same supports with pristine, Rolex-level care. Debrief: How did the client’s reaction to price change?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7"/>
          <p:cNvSpPr/>
          <p:nvPr/>
        </p:nvSpPr>
        <p:spPr>
          <a:xfrm>
            <a:off x="365760" y="2743200"/>
            <a:ext cx="11430000" cy="1554480"/>
          </a:xfrm>
          <a:prstGeom prst="roundRect">
            <a:avLst>
              <a:gd fmla="val 5882" name="adj"/>
            </a:avLst>
          </a:prstGeom>
          <a:solidFill>
            <a:srgbClr val="E8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7"/>
          <p:cNvSpPr/>
          <p:nvPr/>
        </p:nvSpPr>
        <p:spPr>
          <a:xfrm>
            <a:off x="640080" y="29260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Scenario 2: Presence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7"/>
          <p:cNvSpPr/>
          <p:nvPr/>
        </p:nvSpPr>
        <p:spPr>
          <a:xfrm>
            <a:off x="640080" y="338328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Low-energy, distracted greeting and presence vs. sharp, confident, warm presence. Observe the client’s engagement and trust level.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7"/>
          <p:cNvSpPr/>
          <p:nvPr/>
        </p:nvSpPr>
        <p:spPr>
          <a:xfrm>
            <a:off x="365760" y="4434840"/>
            <a:ext cx="11430000" cy="1554480"/>
          </a:xfrm>
          <a:prstGeom prst="roundRect">
            <a:avLst>
              <a:gd fmla="val 5882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7"/>
          <p:cNvSpPr/>
          <p:nvPr/>
        </p:nvSpPr>
        <p:spPr>
          <a:xfrm>
            <a:off x="640080" y="461772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Scenario 3: Price Objection + Non-Tangibles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7"/>
          <p:cNvSpPr/>
          <p:nvPr/>
        </p:nvSpPr>
        <p:spPr>
          <a:xfrm>
            <a:off x="640080" y="507492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Client says “That’s a lot of money.” Specialist leans on the experience just delivered (environment, handling, expertise, follow-up commitment) to reinforce value without discounting.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7"/>
          <p:cNvSpPr/>
          <p:nvPr/>
        </p:nvSpPr>
        <p:spPr>
          <a:xfrm>
            <a:off x="457200" y="6537960"/>
            <a:ext cx="9601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 Remarkable Experience. Every Client. Every time.  |  Waterman COGS · Blue Track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7"/>
          <p:cNvSpPr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5" name="Google Shape;40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090680"/>
            <a:ext cx="1341838" cy="8945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workdir/artifacts/nt_media/image1.png" id="406" name="Google Shape;40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33854" y="6206131"/>
            <a:ext cx="607012" cy="607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8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8"/>
          <p:cNvSpPr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7-Day Action Challenge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8"/>
          <p:cNvSpPr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i="1" lang="en-US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Pick your top 1–2 gaps. Make them habits this week. Share wins in the next huddle for shout-outs.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8"/>
          <p:cNvSpPr/>
          <p:nvPr/>
        </p:nvSpPr>
        <p:spPr>
          <a:xfrm>
            <a:off x="365760" y="1371600"/>
            <a:ext cx="11430000" cy="1005840"/>
          </a:xfrm>
          <a:prstGeom prst="roundRect">
            <a:avLst>
              <a:gd fmla="val 7273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8"/>
          <p:cNvSpPr/>
          <p:nvPr/>
        </p:nvSpPr>
        <p:spPr>
          <a:xfrm>
            <a:off x="502920" y="1600200"/>
            <a:ext cx="1645920" cy="548640"/>
          </a:xfrm>
          <a:prstGeom prst="roundRect">
            <a:avLst>
              <a:gd fmla="val 13333" name="adj"/>
            </a:avLst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8"/>
          <p:cNvSpPr/>
          <p:nvPr/>
        </p:nvSpPr>
        <p:spPr>
          <a:xfrm>
            <a:off x="502920" y="169164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Day 1–2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8"/>
          <p:cNvSpPr/>
          <p:nvPr/>
        </p:nvSpPr>
        <p:spPr>
          <a:xfrm>
            <a:off x="2377440" y="1508760"/>
            <a:ext cx="8961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Cart Standards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8"/>
          <p:cNvSpPr/>
          <p:nvPr/>
        </p:nvSpPr>
        <p:spPr>
          <a:xfrm>
            <a:off x="2377440" y="1874520"/>
            <a:ext cx="8961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Reset every cart and station to pristine. Practice deliberate product handling on every demo.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8"/>
          <p:cNvSpPr/>
          <p:nvPr/>
        </p:nvSpPr>
        <p:spPr>
          <a:xfrm>
            <a:off x="365760" y="2514600"/>
            <a:ext cx="11430000" cy="1005840"/>
          </a:xfrm>
          <a:prstGeom prst="roundRect">
            <a:avLst>
              <a:gd fmla="val 7273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8"/>
          <p:cNvSpPr/>
          <p:nvPr/>
        </p:nvSpPr>
        <p:spPr>
          <a:xfrm>
            <a:off x="502920" y="2743200"/>
            <a:ext cx="1645920" cy="548640"/>
          </a:xfrm>
          <a:prstGeom prst="roundRect">
            <a:avLst>
              <a:gd fmla="val 13333" name="adj"/>
            </a:avLst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8"/>
          <p:cNvSpPr/>
          <p:nvPr/>
        </p:nvSpPr>
        <p:spPr>
          <a:xfrm>
            <a:off x="502920" y="283464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Day 3–4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8"/>
          <p:cNvSpPr/>
          <p:nvPr/>
        </p:nvSpPr>
        <p:spPr>
          <a:xfrm>
            <a:off x="2377440" y="2651760"/>
            <a:ext cx="8961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Appearance &amp; Presence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8"/>
          <p:cNvSpPr/>
          <p:nvPr/>
        </p:nvSpPr>
        <p:spPr>
          <a:xfrm>
            <a:off x="2377440" y="3017520"/>
            <a:ext cx="8961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Self-check + peer feedback. Own energy, posture, and language for every client.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8"/>
          <p:cNvSpPr/>
          <p:nvPr/>
        </p:nvSpPr>
        <p:spPr>
          <a:xfrm>
            <a:off x="365760" y="3657600"/>
            <a:ext cx="11430000" cy="1005840"/>
          </a:xfrm>
          <a:prstGeom prst="roundRect">
            <a:avLst>
              <a:gd fmla="val 7273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8"/>
          <p:cNvSpPr/>
          <p:nvPr/>
        </p:nvSpPr>
        <p:spPr>
          <a:xfrm>
            <a:off x="502920" y="3886200"/>
            <a:ext cx="1645920" cy="548640"/>
          </a:xfrm>
          <a:prstGeom prst="roundRect">
            <a:avLst>
              <a:gd fmla="val 13333" name="adj"/>
            </a:avLst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8"/>
          <p:cNvSpPr/>
          <p:nvPr/>
        </p:nvSpPr>
        <p:spPr>
          <a:xfrm>
            <a:off x="502920" y="397764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Day 5–6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8"/>
          <p:cNvSpPr/>
          <p:nvPr/>
        </p:nvSpPr>
        <p:spPr>
          <a:xfrm>
            <a:off x="2377440" y="3794760"/>
            <a:ext cx="8961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Flow &amp; Language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8"/>
          <p:cNvSpPr/>
          <p:nvPr/>
        </p:nvSpPr>
        <p:spPr>
          <a:xfrm>
            <a:off x="2377440" y="4160520"/>
            <a:ext cx="8961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Master one smooth transition. Use ownership language on the system and guarantee.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8"/>
          <p:cNvSpPr/>
          <p:nvPr/>
        </p:nvSpPr>
        <p:spPr>
          <a:xfrm>
            <a:off x="365760" y="4800600"/>
            <a:ext cx="11430000" cy="1005840"/>
          </a:xfrm>
          <a:prstGeom prst="roundRect">
            <a:avLst>
              <a:gd fmla="val 7273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8"/>
          <p:cNvSpPr/>
          <p:nvPr/>
        </p:nvSpPr>
        <p:spPr>
          <a:xfrm>
            <a:off x="502920" y="5029200"/>
            <a:ext cx="1645920" cy="548640"/>
          </a:xfrm>
          <a:prstGeom prst="roundRect">
            <a:avLst>
              <a:gd fmla="val 13333" name="adj"/>
            </a:avLst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8"/>
          <p:cNvSpPr/>
          <p:nvPr/>
        </p:nvSpPr>
        <p:spPr>
          <a:xfrm>
            <a:off x="502920" y="512064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Day 7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8"/>
          <p:cNvSpPr/>
          <p:nvPr/>
        </p:nvSpPr>
        <p:spPr>
          <a:xfrm>
            <a:off x="2377440" y="4937760"/>
            <a:ext cx="8961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Follow-Up Excellence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8"/>
          <p:cNvSpPr/>
          <p:nvPr/>
        </p:nvSpPr>
        <p:spPr>
          <a:xfrm>
            <a:off x="2377440" y="5303520"/>
            <a:ext cx="8961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Deliver one perfect personal follow-up call. Report the client’s response and any referral or review.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8"/>
          <p:cNvSpPr/>
          <p:nvPr/>
        </p:nvSpPr>
        <p:spPr>
          <a:xfrm>
            <a:off x="457200" y="6537960"/>
            <a:ext cx="9601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 Remarkable Experience. Every Client. Every time.  |  Waterman COGS · Blue Track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8"/>
          <p:cNvSpPr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7" name="Google Shape;43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090680"/>
            <a:ext cx="1341838" cy="8945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workdir/artifacts/nt_media/image1.png" id="438" name="Google Shape;43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33854" y="6206131"/>
            <a:ext cx="607012" cy="607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9"/>
          <p:cNvSpPr/>
          <p:nvPr/>
        </p:nvSpPr>
        <p:spPr>
          <a:xfrm>
            <a:off x="914400" y="1645920"/>
            <a:ext cx="10332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 already crush the tangible product knowledge and fitting process.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9"/>
          <p:cNvSpPr/>
          <p:nvPr/>
        </p:nvSpPr>
        <p:spPr>
          <a:xfrm>
            <a:off x="914400" y="2468880"/>
            <a:ext cx="10332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Non-tangible value is how we make every client feel the difference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 the value is undeniable and the price conversation becomes easier.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9"/>
          <p:cNvSpPr/>
          <p:nvPr/>
        </p:nvSpPr>
        <p:spPr>
          <a:xfrm>
            <a:off x="914400" y="3840480"/>
            <a:ext cx="10332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Remarkable Experience.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Every Client. Every time.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9"/>
          <p:cNvSpPr/>
          <p:nvPr/>
        </p:nvSpPr>
        <p:spPr>
          <a:xfrm>
            <a:off x="914400" y="521208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i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Let’s own it — together.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9"/>
          <p:cNvSpPr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Waterman COGS  ·  Blue Track  ·  Specialists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0" name="Google Shape;45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090680"/>
            <a:ext cx="1341838" cy="8945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workdir/artifacts/nt_media/image1.png" id="451" name="Google Shape;45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33854" y="6206131"/>
            <a:ext cx="607012" cy="607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2026-07-30T20:03:18Z</dcterms:created>
  <dc:creator>Waterman COGS · Blue Track</dc:creator>
</cp:coreProperties>
</file>