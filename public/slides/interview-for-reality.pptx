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XDT0QbtXfHfMaSApgHX+WkM+f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75B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10765" y="2485255"/>
            <a:ext cx="804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INTERVIEW FOR REALITY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47865" y="3125450"/>
            <a:ext cx="7772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Drawing out the real objections</a:t>
            </a:r>
            <a:r>
              <a:rPr lang="en-US" sz="1800">
                <a:solidFill>
                  <a:srgbClr val="94A3B8"/>
                </a:solidFill>
              </a:rPr>
              <a:t>,</a:t>
            </a: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especially the spouse</a:t>
            </a:r>
            <a:r>
              <a:rPr lang="en-US" sz="1800">
                <a:solidFill>
                  <a:srgbClr val="94A3B8"/>
                </a:solidFill>
              </a:rPr>
              <a:t>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before the supports ever hit the cart.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526528" y="4023388"/>
            <a:ext cx="4206300" cy="502800"/>
          </a:xfrm>
          <a:prstGeom prst="roundRect">
            <a:avLst>
              <a:gd fmla="val 490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75B6"/>
                </a:solidFill>
                <a:latin typeface="Arial"/>
                <a:ea typeface="Arial"/>
                <a:cs typeface="Arial"/>
                <a:sym typeface="Arial"/>
              </a:rPr>
              <a:t>Specialists  ·  Blue Track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-1051512" y="4526205"/>
            <a:ext cx="11247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3944189"/>
            <a:ext cx="1798966" cy="11993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1138" y="148751"/>
            <a:ext cx="2231366" cy="2231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In This Module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02920" y="1051560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280160" y="105156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Cost of Blind Closes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280160" y="1307592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Why missing the real objection early destroys value and closes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02920" y="1709928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80160" y="1709928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Mindset Shift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280160" y="1965960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From ‘friendly chat’ to diagnostic discovery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02920" y="2368296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280160" y="236829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Reality Questions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280160" y="2624328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Specific language that surfaces spouse, money, and decision-makers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02920" y="3026664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280160" y="3026664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Role-Plays + Self-Audit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280160" y="3282696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Practice until it feels natural and caring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02920" y="3685032"/>
            <a:ext cx="640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280160" y="368503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7-Day Reality Challenge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280160" y="3941064"/>
            <a:ext cx="6858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Turn insight into daily habit that lifts closes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47" name="Google Shape;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The Pattern We Keep Seeing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11480" y="1097280"/>
            <a:ext cx="4023360" cy="3200400"/>
          </a:xfrm>
          <a:prstGeom prst="roundRect">
            <a:avLst>
              <a:gd fmla="val 2857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WHAT HAPPENS NOW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40080" y="173736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Interview stays surface-level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Spouse / decision-maker never surfaces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Price or “I need to talk to…” hits at the register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Specialist freezes or steps down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 leaves with incomplete solution or no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709160" y="1097280"/>
            <a:ext cx="4023360" cy="3200400"/>
          </a:xfrm>
          <a:prstGeom prst="roundRect">
            <a:avLst>
              <a:gd fmla="val 2857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WHAT WE OWN INSTEAD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937760" y="1737360"/>
            <a:ext cx="356616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Interview digs for the real barriers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Spouse is invited into the conversation early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Objections surface while value is still being built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Specialist answers with ownership, not escape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Client leaves with a complete, defended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64" name="Google Shape;6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The Mindset Shift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700"/>
              <a:buFont typeface="Arial"/>
              <a:buNone/>
            </a:pPr>
            <a:r>
              <a:rPr b="0" i="1" lang="en-US" sz="17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Avoiding the hard question early is the real confrontation later.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11480" y="1600200"/>
            <a:ext cx="2743200" cy="2651760"/>
          </a:xfrm>
          <a:prstGeom prst="roundRect">
            <a:avLst>
              <a:gd fmla="val 2759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411480" y="1600200"/>
            <a:ext cx="274320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94360" y="18288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OLD THINKING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94360" y="224028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“I don’t want to make them uncomfortable.”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Result: The uncomfortable conversation happens at home — without you — and the sale dies.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291840" y="1600200"/>
            <a:ext cx="2743200" cy="2651760"/>
          </a:xfrm>
          <a:prstGeom prst="roundRect">
            <a:avLst>
              <a:gd fmla="val 2759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3291840" y="1600200"/>
            <a:ext cx="27432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474720" y="18288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NEW THINKING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474720" y="224028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“I protect the Client by bringing reality into the room.”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Result: The Client never has to defend a $2,000 decision alone. You become the guide.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172200" y="1600200"/>
            <a:ext cx="2743200" cy="2651760"/>
          </a:xfrm>
          <a:prstGeom prst="roundRect">
            <a:avLst>
              <a:gd fmla="val 2759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172200" y="1600200"/>
            <a:ext cx="274320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355080" y="18288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OWNERSHIP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355080" y="2240280"/>
            <a:ext cx="2377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“If the spouse is going to decide, the spouse is already in the room. My job is to invite them in early.”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Why Mining Early Protects the Close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457200" y="105156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143000" y="10515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Objections arrive while value is still high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143000" y="134416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When the Client has just felt the difference, the objection is easier to answer with ownership instead of a step-down.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57200" y="187452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143000" y="1874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You control the framing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143000" y="216712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You get to position the conversation as caring and collaborative instead of defensive at the register.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7200" y="26974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143000" y="2697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Spouse never becomes a surprise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143000" y="299008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#1 silent closer of Good Feet sales is “I need to talk to my spouse.” Surface it early or lose it later.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" y="3520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143000" y="35204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Incomplete solutions stop happening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1143000" y="3813048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When the real barrier is known, you can keep the core strong instead of instantly discounting the system.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111" name="Google Shape;1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The Reality Questions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These are not interrogation questions. They are ownership questions. Practice until they feel natural.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57200" y="1417320"/>
            <a:ext cx="8229600" cy="640080"/>
          </a:xfrm>
          <a:prstGeom prst="roundRect">
            <a:avLst>
              <a:gd fmla="val 857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640080" y="149047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Who else feels the impact of this pain day-to-day?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40080" y="1764792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Opens the door to spouse / family without pressure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57200" y="2148840"/>
            <a:ext cx="8229600" cy="640080"/>
          </a:xfrm>
          <a:prstGeom prst="roundRect">
            <a:avLst>
              <a:gd fmla="val 857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40080" y="222199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When you’ve made a decision this important for your body before, how have you and [spouse] usually decided together?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40080" y="2564900"/>
            <a:ext cx="786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Normalizes joint decisions and invites the 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57200" y="2880360"/>
            <a:ext cx="8229600" cy="640080"/>
          </a:xfrm>
          <a:prstGeom prst="roundRect">
            <a:avLst>
              <a:gd fmla="val 857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40080" y="295351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Is this something you want to run by anyone else before we lock in the system that actually solves it?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40080" y="3227832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Direct, respectful, and gives the Client permission to be honest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57200" y="3611880"/>
            <a:ext cx="8229600" cy="640080"/>
          </a:xfrm>
          <a:prstGeom prst="roundRect">
            <a:avLst>
              <a:gd fmla="val 857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40080" y="3685032"/>
            <a:ext cx="7863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What would make this a no-brainer for both of you?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640080" y="3959352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Surfaces the real criteria so you can address them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135" name="Google Shape;1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How to Ask So It Feels Caring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11480" y="1097280"/>
            <a:ext cx="4023360" cy="3200400"/>
          </a:xfrm>
          <a:prstGeom prst="roundRect">
            <a:avLst>
              <a:gd fmla="val 2857" name="adj"/>
            </a:avLst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DO THIS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640080" y="1737360"/>
            <a:ext cx="3566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Ask with genuine curiosity and care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Use their words back to them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Pause and let them answer fully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Acknowledge whatever they say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Treat the answer as useful information, not a threat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Smile and stay warm — this is still a Remarkable experience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709160" y="1097280"/>
            <a:ext cx="4023360" cy="3200400"/>
          </a:xfrm>
          <a:prstGeom prst="roundRect">
            <a:avLst>
              <a:gd fmla="val 2857" name="adj"/>
            </a:avLst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NEVER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937760" y="1737360"/>
            <a:ext cx="3566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Sound like you’re checking a box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Ask as if you’re already braced for “no”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Rush past the answer to get back to the pitch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Make the Client feel interrogated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Apologize for asking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Treat a spouse mention as the end of the sale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152" name="Google Shape;15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Language Bank — Spousal &amp; Decision-Maker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457200" y="10515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SOFT OPEN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2103120" y="105156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“Who else feels the impact of this day-to-day?”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457200" y="169164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2103120" y="169164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“When you’ve decided on something this important for your body, how have you and [spouse] usually done that together?”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23317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DIRECT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2103120" y="233172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“Is this something you want to run by anyone else before we lock in the system that actually solves it?”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29718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CRITERIA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103120" y="297180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“What would make this a complete no-brainer for both of you?”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36118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2103120" y="3611880"/>
            <a:ext cx="6583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“Would it help if we recorded a quick 60-second video of your test walk so they can see the difference you just felt?”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173" name="Google Shape;1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Good Mining vs. Weak Mining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11480" y="1097280"/>
            <a:ext cx="402336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11480" y="117043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WEAK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709160" y="1097280"/>
            <a:ext cx="402336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709160" y="117043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STRONG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11480" y="1600200"/>
            <a:ext cx="40233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48640" y="16916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Skips any decision-maker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4709160" y="1600200"/>
            <a:ext cx="40233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4846320" y="169164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Asks at least one reality question every interview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11480" y="210312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548640" y="21945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Hears “I’ll talk to my spouse” and freezes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709160" y="210312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846320" y="21945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Already knows the spouse is part of the process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11480" y="2606040"/>
            <a:ext cx="40233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/>
          <p:nvPr/>
        </p:nvSpPr>
        <p:spPr>
          <a:xfrm>
            <a:off x="548640" y="26974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Treats the answer as a threat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709160" y="2606040"/>
            <a:ext cx="40233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846320" y="26974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Treats the answer as useful information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11480" y="310896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548640" y="3200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Rushes past the answer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709160" y="310896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846320" y="320040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Pauses, acknowledges, explores criteria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11480" y="3611880"/>
            <a:ext cx="40233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548640" y="3703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Ends up stepping down at the register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709160" y="3611880"/>
            <a:ext cx="402336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846320" y="370332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Keeps the core strong and answers fully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11475" y="4800600"/>
            <a:ext cx="7498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208" name="Google Shape;2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Role-Play Scenarios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640080" y="138988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325880" y="123444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Silent Spouse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325880" y="1536192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Client has a strong spouse objection but will not volunteer it. Specialist must surface it cleanly and keep the conversation warm.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457200" y="2148840"/>
            <a:ext cx="8229600" cy="91440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640080" y="244144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325880" y="22860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The Joint Decision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325880" y="2587752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Client says “We always decide together.” Specialist explores the process and offers tools (video, summary, guarantee language) that help the conversation at home.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fmla="val 8000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640080" y="3493008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325880" y="33375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Price + Spouse Combined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325880" y="3639312"/>
            <a:ext cx="7132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Client raises both investment and “I need to talk to my wife.” Specialist answers the value first, then addresses the decision process without stepping down.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234" name="Google Shape;23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Specialist Self-Audit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Rate yourself 1–5 after every shift. Managers: pair the average with that week’s close rate.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57200" y="1417320"/>
            <a:ext cx="256032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457200" y="1463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3017520" y="1417320"/>
            <a:ext cx="457200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301752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“5” Looks Like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7589520" y="1417320"/>
            <a:ext cx="1097280" cy="3657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7589520" y="14630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Decision-maker question asked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3017520" y="1828800"/>
            <a:ext cx="457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3108960" y="19202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At least one reality question in every interview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7589520" y="1828800"/>
            <a:ext cx="109728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548640" y="23774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Tone of the question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3017520" y="2286000"/>
            <a:ext cx="457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3108960" y="23774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Warm, curious, caring — never interrogative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7589520" y="228600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548640" y="28346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Response to the answer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3017520" y="2743200"/>
            <a:ext cx="457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3108960" y="28346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Acknowledged and explored, never rushed past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7589520" y="2743200"/>
            <a:ext cx="109728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548640" y="32918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Spouse / joint decision handled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3017520" y="3200400"/>
            <a:ext cx="4572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3108960" y="32918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Tools or language offered to support the conversation at home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7589520" y="320040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457200" y="365760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548640" y="374904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Overall ownership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3017520" y="3657600"/>
            <a:ext cx="457200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3108960" y="37490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I protected the Client’s outcome, not just my comfort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7589520" y="3657600"/>
            <a:ext cx="109728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277" name="Google Shape;2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7-Day Reality Challenge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Pick your biggest gap. Make the questions a habit this week. Share wins in the next huddle.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457200" y="1417320"/>
            <a:ext cx="8229600" cy="640080"/>
          </a:xfrm>
          <a:prstGeom prst="roundRect">
            <a:avLst>
              <a:gd fmla="val 857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640080" y="150876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Day 1–2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2286000" y="1490472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Ask One Reality Question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2286000" y="1746504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Every interview. Log what surfaces. Notice how often the spouse or money conversation was waiting.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457200" y="2148840"/>
            <a:ext cx="8229600" cy="640080"/>
          </a:xfrm>
          <a:prstGeom prst="roundRect">
            <a:avLst>
              <a:gd fmla="val 857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640080" y="22402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Day 3–4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2286000" y="2221992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Tone &amp; Pause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2286000" y="2478024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Focus on warmth and silence after the question. Practice acknowledging whatever answer you get.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457200" y="2880360"/>
            <a:ext cx="8229600" cy="640080"/>
          </a:xfrm>
          <a:prstGeom prst="roundRect">
            <a:avLst>
              <a:gd fmla="val 857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640080" y="297180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Day 5–6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2286000" y="2953512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Support the Home Conversation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2286000" y="3209544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When a spouse is mentioned, offer one concrete tool (video, summary, guarantee language).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457200" y="3611880"/>
            <a:ext cx="8229600" cy="640080"/>
          </a:xfrm>
          <a:prstGeom prst="roundRect">
            <a:avLst>
              <a:gd fmla="val 857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640080" y="37033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Day 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2286000" y="3685032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Full Ownership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2286000" y="3941064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Bring one win and one miss to the huddle. Celebrate the win. Own the miss as learning.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305" name="Google Shape;30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Arial"/>
                <a:ea typeface="Arial"/>
                <a:cs typeface="Arial"/>
                <a:sym typeface="Arial"/>
              </a:rPr>
              <a:t>The Bottom Line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457200" y="804672"/>
            <a:ext cx="14630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457200" y="1188720"/>
            <a:ext cx="8229600" cy="2560320"/>
          </a:xfrm>
          <a:prstGeom prst="roundRect">
            <a:avLst>
              <a:gd fmla="val 3571" name="adj"/>
            </a:avLst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822960" y="1463040"/>
            <a:ext cx="74980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We already know how to fit and how to present value.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Interview for Reality is how we stop leaving the hardest conversation for the Client to have alone at home.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When we surface the real objection early, we protect the Client, protect the complete solution, and protect the close.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57200" y="480060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Remarkable Experience. Every Client. Every time.  |  Waterman COGS · Blue Track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8412480" y="480060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318" name="Google Shape;31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4619815"/>
            <a:ext cx="457199" cy="45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75B6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/>
          <p:nvPr/>
        </p:nvSpPr>
        <p:spPr>
          <a:xfrm>
            <a:off x="548640" y="146304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Invite reality into the room early.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Protect the Client.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Own the outcome.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548640" y="32918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 Remarkable Experience.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Every Client. Every time.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548640" y="43891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F6E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9F6E4"/>
                </a:solidFill>
                <a:latin typeface="Arial"/>
                <a:ea typeface="Arial"/>
                <a:cs typeface="Arial"/>
                <a:sym typeface="Arial"/>
              </a:rPr>
              <a:t>Waterman COGS  ·  Blue Track  ·  Specialists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4553350"/>
            <a:ext cx="885224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workdir/artifacts/nt_media/image1.png" id="328" name="Google Shape;32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2350" y="2133021"/>
            <a:ext cx="2583174" cy="2583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2026-08-03T16:10:21Z</dcterms:created>
  <dc:creator>Waterman COGS · Blue Track</dc:creator>
</cp:coreProperties>
</file>